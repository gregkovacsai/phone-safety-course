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2"/>
    <p:sldId id="341" r:id="rId93"/>
    <p:sldId id="342" r:id="rId94"/>
    <p:sldId id="343" r:id="rId95"/>
    <p:sldId id="344" r:id="rId9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notesMaster" Target="notesMasters/notesMaster1.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Q: Someone online says 'You're so mature for your age' and asks you to keep the friendship secret. What do you do?</a:t>
            </a:r>
            <a:br/>
            <a:r>
              <a:t>A: Tell a parent IMMEDIATELY. Classic grooming red flag.</a:t>
            </a:r>
            <a:br/>
          </a:p>
          <a:p>
            <a:r>
              <a:t>Q: What should ALL your social media accounts be set to?</a:t>
            </a:r>
            <a:br/>
            <a:r>
              <a:t>A: ALWAYS private. You control who sees your content.</a:t>
            </a:r>
            <a:b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Q: A text says your Snapchat will be deleted unless you click a link. What do you do?</a:t>
            </a:r>
            <a:br/>
            <a:r>
              <a:t>A: Phishing scam. Real companies don't threaten via random texts.</a:t>
            </a:r>
            <a:br/>
          </a:p>
          <a:p>
            <a:r>
              <a:t>Q: What's the 'Grandma Test'?</a:t>
            </a:r>
            <a:br/>
            <a:r>
              <a:t>A: Before posting, ask: 'Would I show this to Grandma?' If no, don't post.</a:t>
            </a:r>
            <a:br/>
          </a:p>
          <a:p>
            <a:r>
              <a:t>Q: Why can't you stop scrolling TikTok?</a:t>
            </a:r>
            <a:br/>
            <a:r>
              <a:t>A: Apps are engineered like slot machines. TikTok's algorithm is the most powerful.</a:t>
            </a:r>
            <a:b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Q: AI-generated homework answers are:</a:t>
            </a:r>
            <a:br/>
            <a:r>
              <a:t>A: Using AI to DO your work is plagiarism.</a:t>
            </a:r>
            <a:br/>
          </a:p>
          <a:p>
            <a:r>
              <a:t>Q: 'Disappearing' messages on Snapchat:</a:t>
            </a:r>
            <a:br/>
            <a:r>
              <a:t>A: Screenshots are forever.</a:t>
            </a:r>
            <a:br/>
          </a:p>
          <a:p>
            <a:r>
              <a:t>Q: Why are apps like Character.ai dangerous?</a:t>
            </a:r>
            <a:br/>
            <a:r>
              <a:t>A: Weak safety filters, inappropriate content, normalize unhealthy conversations.</a:t>
            </a:r>
            <a:b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Q: You accidentally see explicit content online. What do you do?</a:t>
            </a:r>
            <a:br/>
            <a:r>
              <a:t>A: Close it and tell a parent. NOT your fault. No trouble.</a:t>
            </a:r>
            <a:br/>
          </a:p>
          <a:p>
            <a:r>
              <a:t>Q: Using ChatGPT for school — what should you NOT do?</a:t>
            </a:r>
            <a:br/>
            <a:r>
              <a:t>A: Using AI to DO your work is plagiarism.</a:t>
            </a:r>
            <a:br/>
          </a:p>
          <a:p>
            <a:r>
              <a:t>Q: The #1 rule if anything online makes you uncomfortable:</a:t>
            </a:r>
            <a:br/>
            <a:r>
              <a:t>A: Tell a parent IMMEDIATELY. You will NEVER be in trouble. We are always on your team. 💚</a:t>
            </a:r>
            <a:b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1</a:t>
            </a:r>
          </a:p>
        </p:txBody>
      </p:sp>
      <p:sp>
        <p:nvSpPr>
          <p:cNvPr id="3" name="TextBox 2"/>
          <p:cNvSpPr txBox="1"/>
          <p:nvPr/>
        </p:nvSpPr>
        <p:spPr>
          <a:xfrm>
            <a:off x="914400" y="914400"/>
            <a:ext cx="10362895" cy="914400"/>
          </a:xfrm>
          <a:prstGeom prst="rect">
            <a:avLst/>
          </a:prstGeom>
          <a:noFill/>
        </p:spPr>
        <p:txBody>
          <a:bodyPr wrap="square">
            <a:spAutoFit/>
          </a:bodyPr>
          <a:lstStyle/>
          <a:p>
            <a:pPr algn="ctr">
              <a:defRPr sz="7200" b="0">
                <a:solidFill>
                  <a:srgbClr val="FFFFFF"/>
                </a:solidFill>
                <a:latin typeface="Calibri"/>
              </a:defRPr>
            </a:pPr>
            <a:r>
              <a:t>📱</a:t>
            </a:r>
          </a:p>
        </p:txBody>
      </p:sp>
      <p:sp>
        <p:nvSpPr>
          <p:cNvPr id="4" name="TextBox 3"/>
          <p:cNvSpPr txBox="1"/>
          <p:nvPr/>
        </p:nvSpPr>
        <p:spPr>
          <a:xfrm>
            <a:off x="914400" y="1920240"/>
            <a:ext cx="10362895" cy="914400"/>
          </a:xfrm>
          <a:prstGeom prst="rect">
            <a:avLst/>
          </a:prstGeom>
          <a:noFill/>
        </p:spPr>
        <p:txBody>
          <a:bodyPr wrap="square">
            <a:spAutoFit/>
          </a:bodyPr>
          <a:lstStyle/>
          <a:p>
            <a:pPr algn="ctr">
              <a:defRPr sz="4800" b="1">
                <a:solidFill>
                  <a:srgbClr val="A855F7"/>
                </a:solidFill>
                <a:latin typeface="Calibri"/>
              </a:defRPr>
            </a:pPr>
            <a:r>
              <a:t>Welcome, Elli!</a:t>
            </a:r>
          </a:p>
        </p:txBody>
      </p:sp>
      <p:sp>
        <p:nvSpPr>
          <p:cNvPr id="5" name="TextBox 4"/>
          <p:cNvSpPr txBox="1"/>
          <p:nvPr/>
        </p:nvSpPr>
        <p:spPr>
          <a:xfrm>
            <a:off x="1371600" y="2834640"/>
            <a:ext cx="9448495" cy="1371600"/>
          </a:xfrm>
          <a:prstGeom prst="rect">
            <a:avLst/>
          </a:prstGeom>
          <a:noFill/>
        </p:spPr>
        <p:txBody>
          <a:bodyPr wrap="square">
            <a:spAutoFit/>
          </a:bodyPr>
          <a:lstStyle/>
          <a:p>
            <a:pPr algn="ctr">
              <a:defRPr sz="2600" b="0">
                <a:solidFill>
                  <a:srgbClr val="A7A9BE"/>
                </a:solidFill>
                <a:latin typeface="Calibri"/>
              </a:defRPr>
            </a:pPr>
            <a:r>
              <a:t>Your Personal Guide to Being Smart, Safe &amp; In Control</a:t>
            </a:r>
            <a:br/>
            <a:br/>
            <a:r>
              <a:t>Made just for you, with love from Mom &amp; Dad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2</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First Things First, Elli</a:t>
            </a:r>
          </a:p>
        </p:txBody>
      </p:sp>
      <p:sp>
        <p:nvSpPr>
          <p:cNvPr id="5" name="TextBox 4"/>
          <p:cNvSpPr txBox="1"/>
          <p:nvPr/>
        </p:nvSpPr>
        <p:spPr>
          <a:xfrm>
            <a:off x="1371600" y="1737360"/>
            <a:ext cx="9448495" cy="731520"/>
          </a:xfrm>
          <a:prstGeom prst="rect">
            <a:avLst/>
          </a:prstGeom>
          <a:noFill/>
        </p:spPr>
        <p:txBody>
          <a:bodyPr wrap="square">
            <a:spAutoFit/>
          </a:bodyPr>
          <a:lstStyle/>
          <a:p>
            <a:pPr algn="ctr">
              <a:defRPr sz="2800" b="0">
                <a:solidFill>
                  <a:srgbClr val="A7A9BE"/>
                </a:solidFill>
                <a:latin typeface="Calibri"/>
              </a:defRPr>
            </a:pPr>
            <a:r>
              <a:t>Getting your own phone is a big deal. This course isn't a punishment — it's your preparation.</a:t>
            </a:r>
            <a:br/>
            <a:br/>
            <a:r>
              <a:t>Think of it like getting a driver's license. You wouldn't just hop in a car without learning the rules, right?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3</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We Trust You, Elli</a:t>
            </a:r>
          </a:p>
        </p:txBody>
      </p:sp>
      <p:sp>
        <p:nvSpPr>
          <p:cNvPr id="5" name="TextBox 4"/>
          <p:cNvSpPr txBox="1"/>
          <p:nvPr/>
        </p:nvSpPr>
        <p:spPr>
          <a:xfrm>
            <a:off x="1371600" y="1737360"/>
            <a:ext cx="9448495" cy="731520"/>
          </a:xfrm>
          <a:prstGeom prst="rect">
            <a:avLst/>
          </a:prstGeom>
          <a:noFill/>
        </p:spPr>
        <p:txBody>
          <a:bodyPr wrap="square">
            <a:spAutoFit/>
          </a:bodyPr>
          <a:lstStyle/>
          <a:p>
            <a:pPr algn="ctr">
              <a:defRPr sz="2800" b="0">
                <a:solidFill>
                  <a:srgbClr val="A7A9BE"/>
                </a:solidFill>
                <a:latin typeface="Calibri"/>
              </a:defRPr>
            </a:pPr>
            <a:r>
              <a:t>The fact that you're getting a phone means your parents believe you're ready for more responsibility.</a:t>
            </a:r>
            <a:br/>
            <a:br/>
            <a:r>
              <a:t>This course is about giving you the knowledge and tools to handle it like a boss.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4</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What a Phone Really Means</a:t>
            </a:r>
          </a:p>
        </p:txBody>
      </p:sp>
      <p:sp>
        <p:nvSpPr>
          <p:cNvPr id="5" name="TextBox 4"/>
          <p:cNvSpPr txBox="1"/>
          <p:nvPr/>
        </p:nvSpPr>
        <p:spPr>
          <a:xfrm>
            <a:off x="1371600" y="1737360"/>
            <a:ext cx="9448495" cy="4114800"/>
          </a:xfrm>
          <a:prstGeom prst="rect">
            <a:avLst/>
          </a:prstGeom>
          <a:noFill/>
        </p:spPr>
        <p:txBody>
          <a:bodyPr wrap="square">
            <a:spAutoFit/>
          </a:bodyPr>
          <a:lstStyle/>
          <a:p>
            <a:pPr>
              <a:spcBef>
                <a:spcPts val="200"/>
              </a:spcBef>
              <a:spcAft>
                <a:spcPts val="600"/>
              </a:spcAft>
            </a:pPr>
            <a:r>
              <a:rPr sz="2600">
                <a:solidFill>
                  <a:srgbClr val="FFFFFF"/>
                </a:solidFill>
                <a:latin typeface="Calibri"/>
              </a:rPr>
              <a:t>🌍  Access to the entire world — the good AND the bad</a:t>
            </a:r>
          </a:p>
          <a:p>
            <a:pPr>
              <a:spcBef>
                <a:spcPts val="200"/>
              </a:spcBef>
              <a:spcAft>
                <a:spcPts val="600"/>
              </a:spcAft>
            </a:pPr>
            <a:r>
              <a:rPr sz="2600">
                <a:solidFill>
                  <a:srgbClr val="FFFFFF"/>
                </a:solidFill>
                <a:latin typeface="Calibri"/>
              </a:rPr>
              <a:t>🗣️  A direct line to anyone, anywhere, anytime</a:t>
            </a:r>
          </a:p>
          <a:p>
            <a:pPr>
              <a:spcBef>
                <a:spcPts val="200"/>
              </a:spcBef>
              <a:spcAft>
                <a:spcPts val="600"/>
              </a:spcAft>
            </a:pPr>
            <a:r>
              <a:rPr sz="2600">
                <a:solidFill>
                  <a:srgbClr val="FFFFFF"/>
                </a:solidFill>
                <a:latin typeface="Calibri"/>
              </a:rPr>
              <a:t>📸  A camera that can capture (and share) anything</a:t>
            </a:r>
          </a:p>
          <a:p>
            <a:pPr>
              <a:spcBef>
                <a:spcPts val="200"/>
              </a:spcBef>
              <a:spcAft>
                <a:spcPts val="600"/>
              </a:spcAft>
            </a:pPr>
            <a:r>
              <a:rPr sz="2600">
                <a:solidFill>
                  <a:srgbClr val="FFFFFF"/>
                </a:solidFill>
                <a:latin typeface="Calibri"/>
              </a:rPr>
              <a:t>🧠  A tool that can make your life better — or worse</a:t>
            </a:r>
          </a:p>
          <a:p>
            <a:pPr>
              <a:spcBef>
                <a:spcPts val="200"/>
              </a:spcBef>
              <a:spcAft>
                <a:spcPts val="600"/>
              </a:spcAft>
            </a:pPr>
            <a:r>
              <a:rPr sz="2600">
                <a:solidFill>
                  <a:srgbClr val="FFFFFF"/>
                </a:solidFill>
                <a:latin typeface="Calibri"/>
              </a:rPr>
              <a:t>💡  It all depends on how YOU use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5</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What You'll Learn Today</a:t>
            </a:r>
          </a:p>
        </p:txBody>
      </p:sp>
      <p:sp>
        <p:nvSpPr>
          <p:cNvPr id="5" name="TextBox 4"/>
          <p:cNvSpPr txBox="1"/>
          <p:nvPr/>
        </p:nvSpPr>
        <p:spPr>
          <a:xfrm>
            <a:off x="1371600" y="1737360"/>
            <a:ext cx="9448495" cy="4114800"/>
          </a:xfrm>
          <a:prstGeom prst="rect">
            <a:avLst/>
          </a:prstGeom>
          <a:noFill/>
        </p:spPr>
        <p:txBody>
          <a:bodyPr wrap="square">
            <a:spAutoFit/>
          </a:bodyPr>
          <a:lstStyle/>
          <a:p>
            <a:pPr>
              <a:spcBef>
                <a:spcPts val="200"/>
              </a:spcBef>
              <a:spcAft>
                <a:spcPts val="600"/>
              </a:spcAft>
            </a:pPr>
            <a:r>
              <a:rPr sz="2600">
                <a:solidFill>
                  <a:srgbClr val="FFFFFF"/>
                </a:solidFill>
                <a:latin typeface="Calibri"/>
              </a:rPr>
              <a:t>🔧  Building healthy tech habits</a:t>
            </a:r>
          </a:p>
          <a:p>
            <a:pPr>
              <a:spcBef>
                <a:spcPts val="200"/>
              </a:spcBef>
              <a:spcAft>
                <a:spcPts val="600"/>
              </a:spcAft>
            </a:pPr>
            <a:r>
              <a:rPr sz="2600">
                <a:solidFill>
                  <a:srgbClr val="FFFFFF"/>
                </a:solidFill>
                <a:latin typeface="Calibri"/>
              </a:rPr>
              <a:t>🛡️  Spotting scams and staying safe from predators</a:t>
            </a:r>
          </a:p>
          <a:p>
            <a:pPr>
              <a:spcBef>
                <a:spcPts val="200"/>
              </a:spcBef>
              <a:spcAft>
                <a:spcPts val="600"/>
              </a:spcAft>
            </a:pPr>
            <a:r>
              <a:rPr sz="2600">
                <a:solidFill>
                  <a:srgbClr val="FFFFFF"/>
                </a:solidFill>
                <a:latin typeface="Calibri"/>
              </a:rPr>
              <a:t>🔒  Protecting your personal information</a:t>
            </a:r>
          </a:p>
          <a:p>
            <a:pPr>
              <a:spcBef>
                <a:spcPts val="200"/>
              </a:spcBef>
              <a:spcAft>
                <a:spcPts val="600"/>
              </a:spcAft>
            </a:pPr>
            <a:r>
              <a:rPr sz="2600">
                <a:solidFill>
                  <a:srgbClr val="FFFFFF"/>
                </a:solidFill>
                <a:latin typeface="Calibri"/>
              </a:rPr>
              <a:t>🧠  Protecting your mental health</a:t>
            </a:r>
          </a:p>
          <a:p>
            <a:pPr>
              <a:spcBef>
                <a:spcPts val="200"/>
              </a:spcBef>
              <a:spcAft>
                <a:spcPts val="600"/>
              </a:spcAft>
            </a:pPr>
            <a:r>
              <a:rPr sz="2600">
                <a:solidFill>
                  <a:srgbClr val="FFFFFF"/>
                </a:solidFill>
                <a:latin typeface="Calibri"/>
              </a:rPr>
              <a:t>🤖  Navigating AI smartly</a:t>
            </a:r>
          </a:p>
          <a:p>
            <a:pPr>
              <a:spcBef>
                <a:spcPts val="200"/>
              </a:spcBef>
              <a:spcAft>
                <a:spcPts val="600"/>
              </a:spcAft>
            </a:pPr>
            <a:r>
              <a:rPr sz="2600">
                <a:solidFill>
                  <a:srgbClr val="FFFFFF"/>
                </a:solidFill>
                <a:latin typeface="Calibri"/>
              </a:rPr>
              <a:t>📊  Outsmarting the algorithm</a:t>
            </a:r>
          </a:p>
          <a:p>
            <a:pPr>
              <a:spcBef>
                <a:spcPts val="200"/>
              </a:spcBef>
              <a:spcAft>
                <a:spcPts val="600"/>
              </a:spcAft>
            </a:pPr>
            <a:r>
              <a:rPr sz="2600">
                <a:solidFill>
                  <a:srgbClr val="FFFFFF"/>
                </a:solidFill>
                <a:latin typeface="Calibri"/>
              </a:rPr>
              <a:t>📱  Social media — the real talk</a:t>
            </a:r>
          </a:p>
          <a:p>
            <a:pPr>
              <a:spcBef>
                <a:spcPts val="200"/>
              </a:spcBef>
              <a:spcAft>
                <a:spcPts val="600"/>
              </a:spcAft>
            </a:pPr>
            <a:r>
              <a:rPr sz="2600">
                <a:solidFill>
                  <a:srgbClr val="FFFFFF"/>
                </a:solidFill>
                <a:latin typeface="Calibri"/>
              </a:rPr>
              <a:t>🌟  Using your phone to level up your life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6</a:t>
            </a:r>
          </a:p>
        </p:txBody>
      </p:sp>
      <p:sp>
        <p:nvSpPr>
          <p:cNvPr id="3" name="Rounded Rectangle 2"/>
          <p:cNvSpPr/>
          <p:nvPr/>
        </p:nvSpPr>
        <p:spPr>
          <a:xfrm>
            <a:off x="1371600" y="1371600"/>
            <a:ext cx="9448495" cy="4114800"/>
          </a:xfrm>
          <a:prstGeom prst="roundRect">
            <a:avLst/>
          </a:prstGeom>
          <a:solidFill>
            <a:srgbClr val="1F1A3E"/>
          </a:solidFill>
          <a:ln w="254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45920" y="1554480"/>
            <a:ext cx="8899855" cy="365760"/>
          </a:xfrm>
          <a:prstGeom prst="rect">
            <a:avLst/>
          </a:prstGeom>
          <a:noFill/>
        </p:spPr>
        <p:txBody>
          <a:bodyPr wrap="square">
            <a:spAutoFit/>
          </a:bodyPr>
          <a:lstStyle/>
          <a:p>
            <a:pPr algn="l">
              <a:defRPr sz="1900" b="1">
                <a:solidFill>
                  <a:srgbClr val="A855F7"/>
                </a:solidFill>
                <a:latin typeface="Calibri"/>
              </a:defRPr>
            </a:pPr>
            <a:r>
              <a:t>💬 DISCUSSION PROMPT</a:t>
            </a:r>
          </a:p>
        </p:txBody>
      </p:sp>
      <p:sp>
        <p:nvSpPr>
          <p:cNvPr id="5" name="TextBox 4"/>
          <p:cNvSpPr txBox="1"/>
          <p:nvPr/>
        </p:nvSpPr>
        <p:spPr>
          <a:xfrm>
            <a:off x="1645920" y="1874520"/>
            <a:ext cx="8899855" cy="3474720"/>
          </a:xfrm>
          <a:prstGeom prst="rect">
            <a:avLst/>
          </a:prstGeom>
          <a:noFill/>
        </p:spPr>
        <p:txBody>
          <a:bodyPr wrap="square">
            <a:spAutoFit/>
          </a:bodyPr>
          <a:lstStyle/>
          <a:p>
            <a:pPr algn="l">
              <a:defRPr sz="2800" b="0">
                <a:solidFill>
                  <a:srgbClr val="FFFFFF"/>
                </a:solidFill>
                <a:latin typeface="Calibri"/>
              </a:defRPr>
            </a:pPr>
            <a:r>
              <a:t>Before we start: Elli, what are you MOST excited about having your own phone? What (if anything) makes you nervous about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7</a:t>
            </a:r>
          </a:p>
        </p:txBody>
      </p:sp>
      <p:sp>
        <p:nvSpPr>
          <p:cNvPr id="3" name="TextBox 2"/>
          <p:cNvSpPr txBox="1"/>
          <p:nvPr/>
        </p:nvSpPr>
        <p:spPr>
          <a:xfrm>
            <a:off x="914400" y="914400"/>
            <a:ext cx="10362895" cy="365760"/>
          </a:xfrm>
          <a:prstGeom prst="rect">
            <a:avLst/>
          </a:prstGeom>
          <a:noFill/>
        </p:spPr>
        <p:txBody>
          <a:bodyPr wrap="square">
            <a:spAutoFit/>
          </a:bodyPr>
          <a:lstStyle/>
          <a:p>
            <a:pPr algn="ctr">
              <a:defRPr sz="1400" b="1">
                <a:solidFill>
                  <a:srgbClr val="06B6D4"/>
                </a:solidFill>
                <a:latin typeface="Calibri"/>
              </a:defRPr>
            </a:pPr>
            <a:r>
              <a:t>MODULE 2 — TECH HABITS</a:t>
            </a:r>
          </a:p>
        </p:txBody>
      </p:sp>
      <p:sp>
        <p:nvSpPr>
          <p:cNvPr id="4" name="TextBox 3"/>
          <p:cNvSpPr txBox="1"/>
          <p:nvPr/>
        </p:nvSpPr>
        <p:spPr>
          <a:xfrm>
            <a:off x="914400" y="1371600"/>
            <a:ext cx="10362895" cy="914400"/>
          </a:xfrm>
          <a:prstGeom prst="rect">
            <a:avLst/>
          </a:prstGeom>
          <a:noFill/>
        </p:spPr>
        <p:txBody>
          <a:bodyPr wrap="square">
            <a:spAutoFit/>
          </a:bodyPr>
          <a:lstStyle/>
          <a:p>
            <a:pPr algn="ctr">
              <a:defRPr sz="7200" b="0">
                <a:solidFill>
                  <a:srgbClr val="FFFFFF"/>
                </a:solidFill>
                <a:latin typeface="Calibri"/>
              </a:defRPr>
            </a:pPr>
            <a:r>
              <a:t>⏰</a:t>
            </a:r>
          </a:p>
        </p:txBody>
      </p:sp>
      <p:sp>
        <p:nvSpPr>
          <p:cNvPr id="5" name="TextBox 4"/>
          <p:cNvSpPr txBox="1"/>
          <p:nvPr/>
        </p:nvSpPr>
        <p:spPr>
          <a:xfrm>
            <a:off x="914400" y="2377440"/>
            <a:ext cx="10362895" cy="914400"/>
          </a:xfrm>
          <a:prstGeom prst="rect">
            <a:avLst/>
          </a:prstGeom>
          <a:noFill/>
        </p:spPr>
        <p:txBody>
          <a:bodyPr wrap="square">
            <a:spAutoFit/>
          </a:bodyPr>
          <a:lstStyle/>
          <a:p>
            <a:pPr algn="ctr">
              <a:defRPr sz="4800" b="1">
                <a:solidFill>
                  <a:srgbClr val="A855F7"/>
                </a:solidFill>
                <a:latin typeface="Calibri"/>
              </a:defRPr>
            </a:pPr>
            <a:r>
              <a:t>Building Tech Habits That Stick</a:t>
            </a:r>
          </a:p>
        </p:txBody>
      </p:sp>
      <p:sp>
        <p:nvSpPr>
          <p:cNvPr id="6" name="TextBox 5"/>
          <p:cNvSpPr txBox="1"/>
          <p:nvPr/>
        </p:nvSpPr>
        <p:spPr>
          <a:xfrm>
            <a:off x="1371600" y="3291840"/>
            <a:ext cx="9448495" cy="1371600"/>
          </a:xfrm>
          <a:prstGeom prst="rect">
            <a:avLst/>
          </a:prstGeom>
          <a:noFill/>
        </p:spPr>
        <p:txBody>
          <a:bodyPr wrap="square">
            <a:spAutoFit/>
          </a:bodyPr>
          <a:lstStyle/>
          <a:p>
            <a:pPr algn="ctr">
              <a:defRPr sz="2600" b="0">
                <a:solidFill>
                  <a:srgbClr val="A7A9BE"/>
                </a:solidFill>
                <a:latin typeface="Calibri"/>
              </a:defRPr>
            </a:pPr>
            <a:r>
              <a:t>You control the phone.</a:t>
            </a:r>
            <a:br/>
            <a:r>
              <a:t>The phone does NOT control you.</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8</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Screen Time Awareness</a:t>
            </a:r>
          </a:p>
        </p:txBody>
      </p:sp>
      <p:sp>
        <p:nvSpPr>
          <p:cNvPr id="5" name="TextBox 4"/>
          <p:cNvSpPr txBox="1"/>
          <p:nvPr/>
        </p:nvSpPr>
        <p:spPr>
          <a:xfrm>
            <a:off x="1371600" y="1737360"/>
            <a:ext cx="9448495" cy="731520"/>
          </a:xfrm>
          <a:prstGeom prst="rect">
            <a:avLst/>
          </a:prstGeom>
          <a:noFill/>
        </p:spPr>
        <p:txBody>
          <a:bodyPr wrap="square">
            <a:spAutoFit/>
          </a:bodyPr>
          <a:lstStyle/>
          <a:p>
            <a:pPr algn="ctr">
              <a:defRPr sz="2800" b="0">
                <a:solidFill>
                  <a:srgbClr val="A7A9BE"/>
                </a:solidFill>
                <a:latin typeface="Calibri"/>
              </a:defRPr>
            </a:pPr>
            <a:r>
              <a:t>The average teen spends 7+ hours per day on screens (outside of school).</a:t>
            </a:r>
            <a:br/>
            <a:br/>
            <a:r>
              <a:t>That's almost a full-time job! Being aware of your usage is the first step to staying in control.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9</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Set Your Own Boundaries</a:t>
            </a:r>
          </a:p>
        </p:txBody>
      </p:sp>
      <p:sp>
        <p:nvSpPr>
          <p:cNvPr id="5" name="TextBox 4"/>
          <p:cNvSpPr txBox="1"/>
          <p:nvPr/>
        </p:nvSpPr>
        <p:spPr>
          <a:xfrm>
            <a:off x="1371600" y="1737360"/>
            <a:ext cx="9448495" cy="4114800"/>
          </a:xfrm>
          <a:prstGeom prst="rect">
            <a:avLst/>
          </a:prstGeom>
          <a:noFill/>
        </p:spPr>
        <p:txBody>
          <a:bodyPr wrap="square">
            <a:spAutoFit/>
          </a:bodyPr>
          <a:lstStyle/>
          <a:p>
            <a:pPr>
              <a:spcBef>
                <a:spcPts val="200"/>
              </a:spcBef>
              <a:spcAft>
                <a:spcPts val="600"/>
              </a:spcAft>
            </a:pPr>
            <a:r>
              <a:rPr sz="2600">
                <a:solidFill>
                  <a:srgbClr val="FFFFFF"/>
                </a:solidFill>
                <a:latin typeface="Calibri"/>
              </a:rPr>
              <a:t>📱  Use Screen Time / Digital Wellbeing to track your usage</a:t>
            </a:r>
          </a:p>
          <a:p>
            <a:pPr>
              <a:spcBef>
                <a:spcPts val="200"/>
              </a:spcBef>
              <a:spcAft>
                <a:spcPts val="600"/>
              </a:spcAft>
            </a:pPr>
            <a:r>
              <a:rPr sz="2600">
                <a:solidFill>
                  <a:srgbClr val="FFFFFF"/>
                </a:solidFill>
                <a:latin typeface="Calibri"/>
              </a:rPr>
              <a:t>⏰  Set daily app limits (especially TikTok and YouTube — they're time machines!)</a:t>
            </a:r>
          </a:p>
          <a:p>
            <a:pPr>
              <a:spcBef>
                <a:spcPts val="200"/>
              </a:spcBef>
              <a:spcAft>
                <a:spcPts val="600"/>
              </a:spcAft>
            </a:pPr>
            <a:r>
              <a:rPr sz="2600">
                <a:solidFill>
                  <a:srgbClr val="FFFFFF"/>
                </a:solidFill>
                <a:latin typeface="Calibri"/>
              </a:rPr>
              <a:t>🎯  Ask yourself: "Am I using my phone on purpose, or just because I'm bored?"</a:t>
            </a:r>
          </a:p>
          <a:p>
            <a:pPr>
              <a:spcBef>
                <a:spcPts val="200"/>
              </a:spcBef>
              <a:spcAft>
                <a:spcPts val="600"/>
              </a:spcAft>
            </a:pPr>
            <a:r>
              <a:rPr sz="2600">
                <a:solidFill>
                  <a:srgbClr val="FFFFFF"/>
                </a:solidFill>
                <a:latin typeface="Calibri"/>
              </a:rPr>
              <a:t>📝  Try a "screen time journal" for the first week — you'll be surprised!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10</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Tame Your Notifications</a:t>
            </a:r>
          </a:p>
        </p:txBody>
      </p:sp>
      <p:sp>
        <p:nvSpPr>
          <p:cNvPr id="5" name="TextBox 4"/>
          <p:cNvSpPr txBox="1"/>
          <p:nvPr/>
        </p:nvSpPr>
        <p:spPr>
          <a:xfrm>
            <a:off x="1371600" y="1737360"/>
            <a:ext cx="9448495" cy="731520"/>
          </a:xfrm>
          <a:prstGeom prst="rect">
            <a:avLst/>
          </a:prstGeom>
          <a:noFill/>
        </p:spPr>
        <p:txBody>
          <a:bodyPr wrap="square">
            <a:spAutoFit/>
          </a:bodyPr>
          <a:lstStyle/>
          <a:p>
            <a:pPr algn="ctr">
              <a:defRPr sz="2800" b="0">
                <a:solidFill>
                  <a:srgbClr val="A7A9BE"/>
                </a:solidFill>
                <a:latin typeface="Calibri"/>
              </a:defRPr>
            </a:pPr>
            <a:r>
              <a:t>Every buzz, ding, and banner is designed to pull you back in.</a:t>
            </a:r>
          </a:p>
        </p:txBody>
      </p:sp>
      <p:sp>
        <p:nvSpPr>
          <p:cNvPr id="6" name="TextBox 5"/>
          <p:cNvSpPr txBox="1"/>
          <p:nvPr/>
        </p:nvSpPr>
        <p:spPr>
          <a:xfrm>
            <a:off x="1371600" y="2468880"/>
            <a:ext cx="9448495" cy="4114800"/>
          </a:xfrm>
          <a:prstGeom prst="rect">
            <a:avLst/>
          </a:prstGeom>
          <a:noFill/>
        </p:spPr>
        <p:txBody>
          <a:bodyPr wrap="square">
            <a:spAutoFit/>
          </a:bodyPr>
          <a:lstStyle/>
          <a:p>
            <a:pPr>
              <a:spcBef>
                <a:spcPts val="200"/>
              </a:spcBef>
              <a:spcAft>
                <a:spcPts val="600"/>
              </a:spcAft>
            </a:pPr>
            <a:r>
              <a:rPr sz="2600">
                <a:solidFill>
                  <a:srgbClr val="FFFFFF"/>
                </a:solidFill>
                <a:latin typeface="Calibri"/>
              </a:rPr>
              <a:t>🔇  Turn off notifications for most apps</a:t>
            </a:r>
          </a:p>
          <a:p>
            <a:pPr>
              <a:spcBef>
                <a:spcPts val="200"/>
              </a:spcBef>
              <a:spcAft>
                <a:spcPts val="600"/>
              </a:spcAft>
            </a:pPr>
            <a:r>
              <a:rPr sz="2600">
                <a:solidFill>
                  <a:srgbClr val="FFFFFF"/>
                </a:solidFill>
                <a:latin typeface="Calibri"/>
              </a:rPr>
              <a:t>⭐  Only keep notifications for calls, texts from family, and essentials</a:t>
            </a:r>
          </a:p>
          <a:p>
            <a:pPr>
              <a:spcBef>
                <a:spcPts val="200"/>
              </a:spcBef>
              <a:spcAft>
                <a:spcPts val="600"/>
              </a:spcAft>
            </a:pPr>
            <a:r>
              <a:rPr sz="2600">
                <a:solidFill>
                  <a:srgbClr val="FFFFFF"/>
                </a:solidFill>
                <a:latin typeface="Calibri"/>
              </a:rPr>
              <a:t>🧘  Try "Do Not Disturb" mode during homework and meals</a:t>
            </a:r>
          </a:p>
          <a:p>
            <a:pPr>
              <a:spcBef>
                <a:spcPts val="200"/>
              </a:spcBef>
              <a:spcAft>
                <a:spcPts val="600"/>
              </a:spcAft>
            </a:pPr>
            <a:r>
              <a:rPr sz="2600">
                <a:solidFill>
                  <a:srgbClr val="FFFFFF"/>
                </a:solidFill>
                <a:latin typeface="Calibri"/>
              </a:rPr>
              <a:t>💡  YOU decide when to check your phone — not the app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11</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Sleep Hygiene</a:t>
            </a:r>
          </a:p>
        </p:txBody>
      </p:sp>
      <p:sp>
        <p:nvSpPr>
          <p:cNvPr id="5" name="TextBox 4"/>
          <p:cNvSpPr txBox="1"/>
          <p:nvPr/>
        </p:nvSpPr>
        <p:spPr>
          <a:xfrm>
            <a:off x="1371600" y="1737360"/>
            <a:ext cx="9448495" cy="731520"/>
          </a:xfrm>
          <a:prstGeom prst="rect">
            <a:avLst/>
          </a:prstGeom>
          <a:noFill/>
        </p:spPr>
        <p:txBody>
          <a:bodyPr wrap="square">
            <a:spAutoFit/>
          </a:bodyPr>
          <a:lstStyle/>
          <a:p>
            <a:pPr algn="ctr">
              <a:defRPr sz="2800" b="0">
                <a:solidFill>
                  <a:srgbClr val="A7A9BE"/>
                </a:solidFill>
                <a:latin typeface="Calibri"/>
              </a:defRPr>
            </a:pPr>
            <a:r>
              <a:t>Blue light and late-night scrolling wreck your sleep — and sleep is everything at your age.</a:t>
            </a:r>
          </a:p>
        </p:txBody>
      </p:sp>
      <p:sp>
        <p:nvSpPr>
          <p:cNvPr id="6" name="TextBox 5"/>
          <p:cNvSpPr txBox="1"/>
          <p:nvPr/>
        </p:nvSpPr>
        <p:spPr>
          <a:xfrm>
            <a:off x="1371600" y="2468880"/>
            <a:ext cx="9448495" cy="4114800"/>
          </a:xfrm>
          <a:prstGeom prst="rect">
            <a:avLst/>
          </a:prstGeom>
          <a:noFill/>
        </p:spPr>
        <p:txBody>
          <a:bodyPr wrap="square">
            <a:spAutoFit/>
          </a:bodyPr>
          <a:lstStyle/>
          <a:p>
            <a:pPr>
              <a:spcBef>
                <a:spcPts val="200"/>
              </a:spcBef>
              <a:spcAft>
                <a:spcPts val="600"/>
              </a:spcAft>
            </a:pPr>
            <a:r>
              <a:rPr sz="2600">
                <a:solidFill>
                  <a:srgbClr val="FFFFFF"/>
                </a:solidFill>
                <a:latin typeface="Calibri"/>
              </a:rPr>
              <a:t>🚫  No phone in your bedroom at night</a:t>
            </a:r>
          </a:p>
          <a:p>
            <a:pPr>
              <a:spcBef>
                <a:spcPts val="200"/>
              </a:spcBef>
              <a:spcAft>
                <a:spcPts val="600"/>
              </a:spcAft>
            </a:pPr>
            <a:r>
              <a:rPr sz="2600">
                <a:solidFill>
                  <a:srgbClr val="FFFFFF"/>
                </a:solidFill>
                <a:latin typeface="Calibri"/>
              </a:rPr>
              <a:t>🔌  Phone charges in the kitchen/living room overnight</a:t>
            </a:r>
          </a:p>
          <a:p>
            <a:pPr>
              <a:spcBef>
                <a:spcPts val="200"/>
              </a:spcBef>
              <a:spcAft>
                <a:spcPts val="600"/>
              </a:spcAft>
            </a:pPr>
            <a:r>
              <a:rPr sz="2600">
                <a:solidFill>
                  <a:srgbClr val="FFFFFF"/>
                </a:solidFill>
                <a:latin typeface="Calibri"/>
              </a:rPr>
              <a:t>⏰  Screen curfew: 1 hour before bed</a:t>
            </a:r>
          </a:p>
          <a:p>
            <a:pPr>
              <a:spcBef>
                <a:spcPts val="200"/>
              </a:spcBef>
              <a:spcAft>
                <a:spcPts val="600"/>
              </a:spcAft>
            </a:pPr>
            <a:r>
              <a:rPr sz="2600">
                <a:solidFill>
                  <a:srgbClr val="FFFFFF"/>
                </a:solidFill>
                <a:latin typeface="Calibri"/>
              </a:rPr>
              <a:t>😌  Your brain needs downtime to process the day</a:t>
            </a:r>
          </a:p>
        </p:txBody>
      </p:sp>
      <p:sp>
        <p:nvSpPr>
          <p:cNvPr id="7" name="Rounded Rectangle 6"/>
          <p:cNvSpPr/>
          <p:nvPr/>
        </p:nvSpPr>
        <p:spPr>
          <a:xfrm>
            <a:off x="1371600" y="3858768"/>
            <a:ext cx="9448495" cy="914400"/>
          </a:xfrm>
          <a:prstGeom prst="round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71600" y="3904488"/>
            <a:ext cx="73152" cy="822960"/>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00200" y="3950208"/>
            <a:ext cx="9082735" cy="274320"/>
          </a:xfrm>
          <a:prstGeom prst="rect">
            <a:avLst/>
          </a:prstGeom>
          <a:noFill/>
        </p:spPr>
        <p:txBody>
          <a:bodyPr wrap="square">
            <a:spAutoFit/>
          </a:bodyPr>
          <a:lstStyle/>
          <a:p>
            <a:pPr algn="l">
              <a:defRPr sz="1200" b="1">
                <a:solidFill>
                  <a:srgbClr val="E056A0"/>
                </a:solidFill>
                <a:latin typeface="Calibri"/>
              </a:defRPr>
            </a:pPr>
            <a:r>
              <a:t>REAL TALK</a:t>
            </a:r>
          </a:p>
        </p:txBody>
      </p:sp>
      <p:sp>
        <p:nvSpPr>
          <p:cNvPr id="10" name="TextBox 9"/>
          <p:cNvSpPr txBox="1"/>
          <p:nvPr/>
        </p:nvSpPr>
        <p:spPr>
          <a:xfrm>
            <a:off x="1600200" y="4206240"/>
            <a:ext cx="9082735" cy="457200"/>
          </a:xfrm>
          <a:prstGeom prst="rect">
            <a:avLst/>
          </a:prstGeom>
          <a:noFill/>
        </p:spPr>
        <p:txBody>
          <a:bodyPr wrap="square">
            <a:spAutoFit/>
          </a:bodyPr>
          <a:lstStyle/>
          <a:p>
            <a:pPr algn="l">
              <a:defRPr sz="1800" b="0">
                <a:solidFill>
                  <a:srgbClr val="A7A9BE"/>
                </a:solidFill>
                <a:latin typeface="Calibri"/>
              </a:defRPr>
            </a:pPr>
            <a:r>
              <a:t>Studies show teens who keep phones in their bedroom get 30 minutes LESS sleep per night on average. Over a year, that's 180 hours of lost sleep.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12</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The Phone Stack Game</a:t>
            </a:r>
          </a:p>
        </p:txBody>
      </p:sp>
      <p:sp>
        <p:nvSpPr>
          <p:cNvPr id="5" name="TextBox 4"/>
          <p:cNvSpPr txBox="1"/>
          <p:nvPr/>
        </p:nvSpPr>
        <p:spPr>
          <a:xfrm>
            <a:off x="1371600" y="1737360"/>
            <a:ext cx="9448495" cy="731520"/>
          </a:xfrm>
          <a:prstGeom prst="rect">
            <a:avLst/>
          </a:prstGeom>
          <a:noFill/>
        </p:spPr>
        <p:txBody>
          <a:bodyPr wrap="square">
            <a:spAutoFit/>
          </a:bodyPr>
          <a:lstStyle/>
          <a:p>
            <a:pPr algn="ctr">
              <a:defRPr sz="2800" b="0">
                <a:solidFill>
                  <a:srgbClr val="A7A9BE"/>
                </a:solidFill>
                <a:latin typeface="Calibri"/>
              </a:defRPr>
            </a:pPr>
            <a:r>
              <a:t>When hanging out with friends or family:</a:t>
            </a:r>
          </a:p>
        </p:txBody>
      </p:sp>
      <p:sp>
        <p:nvSpPr>
          <p:cNvPr id="6" name="TextBox 5"/>
          <p:cNvSpPr txBox="1"/>
          <p:nvPr/>
        </p:nvSpPr>
        <p:spPr>
          <a:xfrm>
            <a:off x="1371600" y="2468880"/>
            <a:ext cx="9448495" cy="4114800"/>
          </a:xfrm>
          <a:prstGeom prst="rect">
            <a:avLst/>
          </a:prstGeom>
          <a:noFill/>
        </p:spPr>
        <p:txBody>
          <a:bodyPr wrap="square">
            <a:spAutoFit/>
          </a:bodyPr>
          <a:lstStyle/>
          <a:p>
            <a:pPr>
              <a:spcBef>
                <a:spcPts val="200"/>
              </a:spcBef>
              <a:spcAft>
                <a:spcPts val="600"/>
              </a:spcAft>
            </a:pPr>
            <a:r>
              <a:rPr sz="2600">
                <a:solidFill>
                  <a:srgbClr val="FFFFFF"/>
                </a:solidFill>
                <a:latin typeface="Calibri"/>
              </a:rPr>
              <a:t>📱  Everyone stacks their phones in the middle of the table</a:t>
            </a:r>
          </a:p>
          <a:p>
            <a:pPr>
              <a:spcBef>
                <a:spcPts val="200"/>
              </a:spcBef>
              <a:spcAft>
                <a:spcPts val="600"/>
              </a:spcAft>
            </a:pPr>
            <a:r>
              <a:rPr sz="2600">
                <a:solidFill>
                  <a:srgbClr val="FFFFFF"/>
                </a:solidFill>
                <a:latin typeface="Calibri"/>
              </a:rPr>
              <a:t>🚫  First person to grab their phone loses (pays for dessert, does a dare, etc.)</a:t>
            </a:r>
          </a:p>
          <a:p>
            <a:pPr>
              <a:spcBef>
                <a:spcPts val="200"/>
              </a:spcBef>
              <a:spcAft>
                <a:spcPts val="600"/>
              </a:spcAft>
            </a:pPr>
            <a:r>
              <a:rPr sz="2600">
                <a:solidFill>
                  <a:srgbClr val="FFFFFF"/>
                </a:solidFill>
                <a:latin typeface="Calibri"/>
              </a:rPr>
              <a:t>🤝  It's about being PRESENT with the people in front of you</a:t>
            </a:r>
          </a:p>
        </p:txBody>
      </p:sp>
      <p:sp>
        <p:nvSpPr>
          <p:cNvPr id="7" name="TextBox 6"/>
          <p:cNvSpPr txBox="1"/>
          <p:nvPr/>
        </p:nvSpPr>
        <p:spPr>
          <a:xfrm>
            <a:off x="1371600" y="3511296"/>
            <a:ext cx="9448495" cy="457200"/>
          </a:xfrm>
          <a:prstGeom prst="rect">
            <a:avLst/>
          </a:prstGeom>
          <a:noFill/>
        </p:spPr>
        <p:txBody>
          <a:bodyPr wrap="square">
            <a:spAutoFit/>
          </a:bodyPr>
          <a:lstStyle/>
          <a:p>
            <a:pPr algn="ctr">
              <a:defRPr sz="1800" b="0">
                <a:solidFill>
                  <a:srgbClr val="A855F7"/>
                </a:solidFill>
                <a:latin typeface="Calibri"/>
              </a:defRPr>
            </a:pPr>
            <a:r>
              <a:t>The people in front of you always matter more than the people on your screen.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13</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Phone-Free Zones &amp; Times</a:t>
            </a:r>
          </a:p>
        </p:txBody>
      </p:sp>
      <p:sp>
        <p:nvSpPr>
          <p:cNvPr id="5" name="TextBox 4"/>
          <p:cNvSpPr txBox="1"/>
          <p:nvPr/>
        </p:nvSpPr>
        <p:spPr>
          <a:xfrm>
            <a:off x="1371600" y="1737360"/>
            <a:ext cx="9448495" cy="4114800"/>
          </a:xfrm>
          <a:prstGeom prst="rect">
            <a:avLst/>
          </a:prstGeom>
          <a:noFill/>
        </p:spPr>
        <p:txBody>
          <a:bodyPr wrap="square">
            <a:spAutoFit/>
          </a:bodyPr>
          <a:lstStyle/>
          <a:p>
            <a:pPr>
              <a:spcBef>
                <a:spcPts val="200"/>
              </a:spcBef>
              <a:spcAft>
                <a:spcPts val="600"/>
              </a:spcAft>
            </a:pPr>
            <a:r>
              <a:rPr sz="2600">
                <a:solidFill>
                  <a:srgbClr val="FFFFFF"/>
                </a:solidFill>
                <a:latin typeface="Calibri"/>
              </a:rPr>
              <a:t>🍽️  Meals — always phone-free</a:t>
            </a:r>
          </a:p>
          <a:p>
            <a:pPr>
              <a:spcBef>
                <a:spcPts val="200"/>
              </a:spcBef>
              <a:spcAft>
                <a:spcPts val="600"/>
              </a:spcAft>
            </a:pPr>
            <a:r>
              <a:rPr sz="2600">
                <a:solidFill>
                  <a:srgbClr val="FFFFFF"/>
                </a:solidFill>
                <a:latin typeface="Calibri"/>
              </a:rPr>
              <a:t>📚  Homework time — phone in another room</a:t>
            </a:r>
          </a:p>
          <a:p>
            <a:pPr>
              <a:spcBef>
                <a:spcPts val="200"/>
              </a:spcBef>
              <a:spcAft>
                <a:spcPts val="600"/>
              </a:spcAft>
            </a:pPr>
            <a:r>
              <a:rPr sz="2600">
                <a:solidFill>
                  <a:srgbClr val="FFFFFF"/>
                </a:solidFill>
                <a:latin typeface="Calibri"/>
              </a:rPr>
              <a:t>🛏️  Bedroom at night</a:t>
            </a:r>
          </a:p>
          <a:p>
            <a:pPr>
              <a:spcBef>
                <a:spcPts val="200"/>
              </a:spcBef>
              <a:spcAft>
                <a:spcPts val="600"/>
              </a:spcAft>
            </a:pPr>
            <a:r>
              <a:rPr sz="2600">
                <a:solidFill>
                  <a:srgbClr val="FFFFFF"/>
                </a:solidFill>
                <a:latin typeface="Calibri"/>
              </a:rPr>
              <a:t>⛪  Family events, ceremonies, gatherings</a:t>
            </a:r>
          </a:p>
          <a:p>
            <a:pPr>
              <a:spcBef>
                <a:spcPts val="200"/>
              </a:spcBef>
              <a:spcAft>
                <a:spcPts val="600"/>
              </a:spcAft>
            </a:pPr>
            <a:r>
              <a:rPr sz="2600">
                <a:solidFill>
                  <a:srgbClr val="FFFFFF"/>
                </a:solidFill>
                <a:latin typeface="Calibri"/>
              </a:rPr>
              <a:t>🚗  Car rides (try talking instead!)</a:t>
            </a:r>
          </a:p>
        </p:txBody>
      </p:sp>
      <p:sp>
        <p:nvSpPr>
          <p:cNvPr id="6" name="Rounded Rectangle 5"/>
          <p:cNvSpPr/>
          <p:nvPr/>
        </p:nvSpPr>
        <p:spPr>
          <a:xfrm>
            <a:off x="1371600" y="3474720"/>
            <a:ext cx="9448495" cy="914400"/>
          </a:xfrm>
          <a:prstGeom prst="round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71600" y="3520440"/>
            <a:ext cx="73152" cy="822960"/>
          </a:xfrm>
          <a:prstGeom prst="rect">
            <a:avLst/>
          </a:prstGeom>
          <a:solidFill>
            <a:srgbClr val="2CB6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00200" y="3566160"/>
            <a:ext cx="9082735" cy="274320"/>
          </a:xfrm>
          <a:prstGeom prst="rect">
            <a:avLst/>
          </a:prstGeom>
          <a:noFill/>
        </p:spPr>
        <p:txBody>
          <a:bodyPr wrap="square">
            <a:spAutoFit/>
          </a:bodyPr>
          <a:lstStyle/>
          <a:p>
            <a:pPr algn="l">
              <a:defRPr sz="1200" b="1">
                <a:solidFill>
                  <a:srgbClr val="2CB67D"/>
                </a:solidFill>
                <a:latin typeface="Calibri"/>
              </a:defRPr>
            </a:pPr>
            <a:r>
              <a:t>PRO TIP</a:t>
            </a:r>
          </a:p>
        </p:txBody>
      </p:sp>
      <p:sp>
        <p:nvSpPr>
          <p:cNvPr id="9" name="TextBox 8"/>
          <p:cNvSpPr txBox="1"/>
          <p:nvPr/>
        </p:nvSpPr>
        <p:spPr>
          <a:xfrm>
            <a:off x="1600200" y="3822192"/>
            <a:ext cx="9082735" cy="457200"/>
          </a:xfrm>
          <a:prstGeom prst="rect">
            <a:avLst/>
          </a:prstGeom>
          <a:noFill/>
        </p:spPr>
        <p:txBody>
          <a:bodyPr wrap="square">
            <a:spAutoFit/>
          </a:bodyPr>
          <a:lstStyle/>
          <a:p>
            <a:pPr algn="l">
              <a:defRPr sz="1800" b="0">
                <a:solidFill>
                  <a:srgbClr val="A7A9BE"/>
                </a:solidFill>
                <a:latin typeface="Calibri"/>
              </a:defRPr>
            </a:pPr>
            <a:r>
              <a:t>Making these habits now means they'll feel natural forever. It's way harder to break bad habits than to build good ones from the start.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14</a:t>
            </a:r>
          </a:p>
        </p:txBody>
      </p:sp>
      <p:sp>
        <p:nvSpPr>
          <p:cNvPr id="3" name="Rounded Rectangle 2"/>
          <p:cNvSpPr/>
          <p:nvPr/>
        </p:nvSpPr>
        <p:spPr>
          <a:xfrm>
            <a:off x="1371600" y="1371600"/>
            <a:ext cx="9448495" cy="4114800"/>
          </a:xfrm>
          <a:prstGeom prst="roundRect">
            <a:avLst/>
          </a:prstGeom>
          <a:solidFill>
            <a:srgbClr val="1F1A3E"/>
          </a:solidFill>
          <a:ln w="254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45920" y="1554480"/>
            <a:ext cx="8899855" cy="365760"/>
          </a:xfrm>
          <a:prstGeom prst="rect">
            <a:avLst/>
          </a:prstGeom>
          <a:noFill/>
        </p:spPr>
        <p:txBody>
          <a:bodyPr wrap="square">
            <a:spAutoFit/>
          </a:bodyPr>
          <a:lstStyle/>
          <a:p>
            <a:pPr algn="l">
              <a:defRPr sz="1900" b="1">
                <a:solidFill>
                  <a:srgbClr val="A855F7"/>
                </a:solidFill>
                <a:latin typeface="Calibri"/>
              </a:defRPr>
            </a:pPr>
            <a:r>
              <a:t>💬 DISCUSSION PROMPT</a:t>
            </a:r>
          </a:p>
        </p:txBody>
      </p:sp>
      <p:sp>
        <p:nvSpPr>
          <p:cNvPr id="5" name="TextBox 4"/>
          <p:cNvSpPr txBox="1"/>
          <p:nvPr/>
        </p:nvSpPr>
        <p:spPr>
          <a:xfrm>
            <a:off x="1645920" y="1874520"/>
            <a:ext cx="8899855" cy="3474720"/>
          </a:xfrm>
          <a:prstGeom prst="rect">
            <a:avLst/>
          </a:prstGeom>
          <a:noFill/>
        </p:spPr>
        <p:txBody>
          <a:bodyPr wrap="square">
            <a:spAutoFit/>
          </a:bodyPr>
          <a:lstStyle/>
          <a:p>
            <a:pPr algn="l">
              <a:defRPr sz="2800" b="0">
                <a:solidFill>
                  <a:srgbClr val="FFFFFF"/>
                </a:solidFill>
                <a:latin typeface="Calibri"/>
              </a:defRPr>
            </a:pPr>
            <a:r>
              <a:t>Elli, what phone-free zones and times make sense for your family? Discuss and agree on at least 3 together.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15</a:t>
            </a:r>
          </a:p>
        </p:txBody>
      </p:sp>
      <p:sp>
        <p:nvSpPr>
          <p:cNvPr id="3" name="TextBox 2"/>
          <p:cNvSpPr txBox="1"/>
          <p:nvPr/>
        </p:nvSpPr>
        <p:spPr>
          <a:xfrm>
            <a:off x="914400" y="914400"/>
            <a:ext cx="10362895" cy="365760"/>
          </a:xfrm>
          <a:prstGeom prst="rect">
            <a:avLst/>
          </a:prstGeom>
          <a:noFill/>
        </p:spPr>
        <p:txBody>
          <a:bodyPr wrap="square">
            <a:spAutoFit/>
          </a:bodyPr>
          <a:lstStyle/>
          <a:p>
            <a:pPr algn="ctr">
              <a:defRPr sz="1400" b="1">
                <a:solidFill>
                  <a:srgbClr val="06B6D4"/>
                </a:solidFill>
                <a:latin typeface="Calibri"/>
              </a:defRPr>
            </a:pPr>
            <a:r>
              <a:t>MODULE 3 — SAFETY</a:t>
            </a:r>
          </a:p>
        </p:txBody>
      </p:sp>
      <p:sp>
        <p:nvSpPr>
          <p:cNvPr id="4" name="TextBox 3"/>
          <p:cNvSpPr txBox="1"/>
          <p:nvPr/>
        </p:nvSpPr>
        <p:spPr>
          <a:xfrm>
            <a:off x="914400" y="1371600"/>
            <a:ext cx="10362895" cy="914400"/>
          </a:xfrm>
          <a:prstGeom prst="rect">
            <a:avLst/>
          </a:prstGeom>
          <a:noFill/>
        </p:spPr>
        <p:txBody>
          <a:bodyPr wrap="square">
            <a:spAutoFit/>
          </a:bodyPr>
          <a:lstStyle/>
          <a:p>
            <a:pPr algn="ctr">
              <a:defRPr sz="7200" b="0">
                <a:solidFill>
                  <a:srgbClr val="FFFFFF"/>
                </a:solidFill>
                <a:latin typeface="Calibri"/>
              </a:defRPr>
            </a:pPr>
            <a:r>
              <a:t>🛡️</a:t>
            </a:r>
          </a:p>
        </p:txBody>
      </p:sp>
      <p:sp>
        <p:nvSpPr>
          <p:cNvPr id="5" name="TextBox 4"/>
          <p:cNvSpPr txBox="1"/>
          <p:nvPr/>
        </p:nvSpPr>
        <p:spPr>
          <a:xfrm>
            <a:off x="914400" y="2377440"/>
            <a:ext cx="10362895" cy="914400"/>
          </a:xfrm>
          <a:prstGeom prst="rect">
            <a:avLst/>
          </a:prstGeom>
          <a:noFill/>
        </p:spPr>
        <p:txBody>
          <a:bodyPr wrap="square">
            <a:spAutoFit/>
          </a:bodyPr>
          <a:lstStyle/>
          <a:p>
            <a:pPr algn="ctr">
              <a:defRPr sz="4800" b="1">
                <a:solidFill>
                  <a:srgbClr val="A855F7"/>
                </a:solidFill>
                <a:latin typeface="Calibri"/>
              </a:defRPr>
            </a:pPr>
            <a:r>
              <a:t>Watching Out for Scams &amp; Predators</a:t>
            </a:r>
          </a:p>
        </p:txBody>
      </p:sp>
      <p:sp>
        <p:nvSpPr>
          <p:cNvPr id="6" name="TextBox 5"/>
          <p:cNvSpPr txBox="1"/>
          <p:nvPr/>
        </p:nvSpPr>
        <p:spPr>
          <a:xfrm>
            <a:off x="1371600" y="3291840"/>
            <a:ext cx="9448495" cy="1371600"/>
          </a:xfrm>
          <a:prstGeom prst="rect">
            <a:avLst/>
          </a:prstGeom>
          <a:noFill/>
        </p:spPr>
        <p:txBody>
          <a:bodyPr wrap="square">
            <a:spAutoFit/>
          </a:bodyPr>
          <a:lstStyle/>
          <a:p>
            <a:pPr algn="ctr">
              <a:defRPr sz="2600" b="0">
                <a:solidFill>
                  <a:srgbClr val="A7A9BE"/>
                </a:solidFill>
                <a:latin typeface="Calibri"/>
              </a:defRPr>
            </a:pPr>
            <a:r>
              <a:t>This is the most important module.</a:t>
            </a:r>
            <a:br/>
            <a:r>
              <a:t>Please take it seriously, Elli.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16</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How Scams Work</a:t>
            </a:r>
          </a:p>
        </p:txBody>
      </p:sp>
      <p:sp>
        <p:nvSpPr>
          <p:cNvPr id="5" name="TextBox 4"/>
          <p:cNvSpPr txBox="1"/>
          <p:nvPr/>
        </p:nvSpPr>
        <p:spPr>
          <a:xfrm>
            <a:off x="1371600" y="1737360"/>
            <a:ext cx="9448495" cy="731520"/>
          </a:xfrm>
          <a:prstGeom prst="rect">
            <a:avLst/>
          </a:prstGeom>
          <a:noFill/>
        </p:spPr>
        <p:txBody>
          <a:bodyPr wrap="square">
            <a:spAutoFit/>
          </a:bodyPr>
          <a:lstStyle/>
          <a:p>
            <a:pPr algn="ctr">
              <a:defRPr sz="2800" b="0">
                <a:solidFill>
                  <a:srgbClr val="A7A9BE"/>
                </a:solidFill>
                <a:latin typeface="Calibri"/>
              </a:defRPr>
            </a:pPr>
            <a:r>
              <a:t>Scammers use psychological tricks to get you to act without thinking:</a:t>
            </a:r>
          </a:p>
        </p:txBody>
      </p:sp>
      <p:sp>
        <p:nvSpPr>
          <p:cNvPr id="6" name="TextBox 5"/>
          <p:cNvSpPr txBox="1"/>
          <p:nvPr/>
        </p:nvSpPr>
        <p:spPr>
          <a:xfrm>
            <a:off x="1371600" y="2468880"/>
            <a:ext cx="9448495" cy="4114800"/>
          </a:xfrm>
          <a:prstGeom prst="rect">
            <a:avLst/>
          </a:prstGeom>
          <a:noFill/>
        </p:spPr>
        <p:txBody>
          <a:bodyPr wrap="square">
            <a:spAutoFit/>
          </a:bodyPr>
          <a:lstStyle/>
          <a:p>
            <a:pPr>
              <a:spcBef>
                <a:spcPts val="200"/>
              </a:spcBef>
              <a:spcAft>
                <a:spcPts val="600"/>
              </a:spcAft>
            </a:pPr>
            <a:r>
              <a:rPr sz="2600">
                <a:solidFill>
                  <a:srgbClr val="FFFFFF"/>
                </a:solidFill>
                <a:latin typeface="Calibri"/>
              </a:rPr>
              <a:t>⏰  Urgency — "Act NOW or lose your account!"</a:t>
            </a:r>
          </a:p>
          <a:p>
            <a:pPr>
              <a:spcBef>
                <a:spcPts val="200"/>
              </a:spcBef>
              <a:spcAft>
                <a:spcPts val="600"/>
              </a:spcAft>
            </a:pPr>
            <a:r>
              <a:rPr sz="2600">
                <a:solidFill>
                  <a:srgbClr val="FFFFFF"/>
                </a:solidFill>
                <a:latin typeface="Calibri"/>
              </a:rPr>
              <a:t>🎁  Too good to be true — "You won a free iPhone!"</a:t>
            </a:r>
          </a:p>
          <a:p>
            <a:pPr>
              <a:spcBef>
                <a:spcPts val="200"/>
              </a:spcBef>
              <a:spcAft>
                <a:spcPts val="600"/>
              </a:spcAft>
            </a:pPr>
            <a:r>
              <a:rPr sz="2600">
                <a:solidFill>
                  <a:srgbClr val="FFFFFF"/>
                </a:solidFill>
                <a:latin typeface="Calibri"/>
              </a:rPr>
              <a:t>😨  Fear — "Your account has been hacked!"</a:t>
            </a:r>
          </a:p>
          <a:p>
            <a:pPr>
              <a:spcBef>
                <a:spcPts val="200"/>
              </a:spcBef>
              <a:spcAft>
                <a:spcPts val="600"/>
              </a:spcAft>
            </a:pPr>
            <a:r>
              <a:rPr sz="2600">
                <a:solidFill>
                  <a:srgbClr val="FFFFFF"/>
                </a:solidFill>
                <a:latin typeface="Calibri"/>
              </a:rPr>
              <a:t>❤️  Emotion — "Help this sick puppy!"</a:t>
            </a:r>
          </a:p>
          <a:p>
            <a:pPr>
              <a:spcBef>
                <a:spcPts val="200"/>
              </a:spcBef>
              <a:spcAft>
                <a:spcPts val="600"/>
              </a:spcAft>
            </a:pPr>
            <a:r>
              <a:rPr sz="2600">
                <a:solidFill>
                  <a:srgbClr val="FFFFFF"/>
                </a:solidFill>
                <a:latin typeface="Calibri"/>
              </a:rPr>
              <a:t>🎭  Impersonation — pretending to be a friend, company, or authority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17</a:t>
            </a:r>
          </a:p>
        </p:txBody>
      </p:sp>
      <p:sp>
        <p:nvSpPr>
          <p:cNvPr id="3" name="TextBox 2"/>
          <p:cNvSpPr txBox="1"/>
          <p:nvPr/>
        </p:nvSpPr>
        <p:spPr>
          <a:xfrm>
            <a:off x="731520" y="274320"/>
            <a:ext cx="10728655" cy="548640"/>
          </a:xfrm>
          <a:prstGeom prst="rect">
            <a:avLst/>
          </a:prstGeom>
          <a:noFill/>
        </p:spPr>
        <p:txBody>
          <a:bodyPr wrap="square">
            <a:spAutoFit/>
          </a:bodyPr>
          <a:lstStyle/>
          <a:p>
            <a:pPr algn="ctr">
              <a:defRPr sz="3600" b="1">
                <a:solidFill>
                  <a:srgbClr val="A855F7"/>
                </a:solidFill>
                <a:latin typeface="Calibri"/>
              </a:defRPr>
            </a:pPr>
            <a:r>
              <a:t>🎯 Scams Targeting Teens</a:t>
            </a:r>
          </a:p>
        </p:txBody>
      </p:sp>
      <p:sp>
        <p:nvSpPr>
          <p:cNvPr id="4" name="Rounded Rectangle 3"/>
          <p:cNvSpPr/>
          <p:nvPr/>
        </p:nvSpPr>
        <p:spPr>
          <a:xfrm>
            <a:off x="1097280" y="1005840"/>
            <a:ext cx="9966960" cy="1188720"/>
          </a:xfrm>
          <a:prstGeom prst="round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 y="1051560"/>
            <a:ext cx="73152" cy="109728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25880" y="1097280"/>
            <a:ext cx="9601200" cy="274320"/>
          </a:xfrm>
          <a:prstGeom prst="rect">
            <a:avLst/>
          </a:prstGeom>
          <a:noFill/>
        </p:spPr>
        <p:txBody>
          <a:bodyPr wrap="square">
            <a:spAutoFit/>
          </a:bodyPr>
          <a:lstStyle/>
          <a:p>
            <a:pPr algn="l">
              <a:defRPr sz="1200" b="1">
                <a:solidFill>
                  <a:srgbClr val="FF6B6B"/>
                </a:solidFill>
                <a:latin typeface="Calibri"/>
              </a:defRPr>
            </a:pPr>
            <a:r>
              <a:t>FAKE GIVEAWAY</a:t>
            </a:r>
          </a:p>
        </p:txBody>
      </p:sp>
      <p:sp>
        <p:nvSpPr>
          <p:cNvPr id="7" name="TextBox 6"/>
          <p:cNvSpPr txBox="1"/>
          <p:nvPr/>
        </p:nvSpPr>
        <p:spPr>
          <a:xfrm>
            <a:off x="1325880" y="1353312"/>
            <a:ext cx="9601200" cy="731520"/>
          </a:xfrm>
          <a:prstGeom prst="rect">
            <a:avLst/>
          </a:prstGeom>
          <a:noFill/>
        </p:spPr>
        <p:txBody>
          <a:bodyPr wrap="square">
            <a:spAutoFit/>
          </a:bodyPr>
          <a:lstStyle/>
          <a:p>
            <a:pPr algn="l">
              <a:defRPr sz="1800" b="0">
                <a:solidFill>
                  <a:srgbClr val="A7A9BE"/>
                </a:solidFill>
                <a:latin typeface="Calibri"/>
              </a:defRPr>
            </a:pPr>
            <a:r>
              <a:t>You see a TikTok post: "🎉 FREE iPhone! Just follow, like, share, and enter your email + address!" — This is ALWAYS a scam.</a:t>
            </a:r>
          </a:p>
        </p:txBody>
      </p:sp>
      <p:sp>
        <p:nvSpPr>
          <p:cNvPr id="8" name="Rounded Rectangle 7"/>
          <p:cNvSpPr/>
          <p:nvPr/>
        </p:nvSpPr>
        <p:spPr>
          <a:xfrm>
            <a:off x="1097280" y="2377440"/>
            <a:ext cx="9966960" cy="1188720"/>
          </a:xfrm>
          <a:prstGeom prst="round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2423160"/>
            <a:ext cx="73152" cy="109728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25880" y="2468880"/>
            <a:ext cx="9601200" cy="274320"/>
          </a:xfrm>
          <a:prstGeom prst="rect">
            <a:avLst/>
          </a:prstGeom>
          <a:noFill/>
        </p:spPr>
        <p:txBody>
          <a:bodyPr wrap="square">
            <a:spAutoFit/>
          </a:bodyPr>
          <a:lstStyle/>
          <a:p>
            <a:pPr algn="l">
              <a:defRPr sz="1200" b="1">
                <a:solidFill>
                  <a:srgbClr val="FF6B6B"/>
                </a:solidFill>
                <a:latin typeface="Calibri"/>
              </a:defRPr>
            </a:pPr>
            <a:r>
              <a:t>PHISHING TEXT</a:t>
            </a:r>
          </a:p>
        </p:txBody>
      </p:sp>
      <p:sp>
        <p:nvSpPr>
          <p:cNvPr id="11" name="TextBox 10"/>
          <p:cNvSpPr txBox="1"/>
          <p:nvPr/>
        </p:nvSpPr>
        <p:spPr>
          <a:xfrm>
            <a:off x="1325880" y="2724912"/>
            <a:ext cx="9601200" cy="731520"/>
          </a:xfrm>
          <a:prstGeom prst="rect">
            <a:avLst/>
          </a:prstGeom>
          <a:noFill/>
        </p:spPr>
        <p:txBody>
          <a:bodyPr wrap="square">
            <a:spAutoFit/>
          </a:bodyPr>
          <a:lstStyle/>
          <a:p>
            <a:pPr algn="l">
              <a:defRPr sz="1800" b="0">
                <a:solidFill>
                  <a:srgbClr val="A7A9BE"/>
                </a:solidFill>
                <a:latin typeface="Calibri"/>
              </a:defRPr>
            </a:pPr>
            <a:r>
              <a:t>"Your Snapchat account will be deleted in 24 hours. Click here to verify." — Fake link. Real Snapchat would never text you this.</a:t>
            </a:r>
          </a:p>
        </p:txBody>
      </p:sp>
      <p:sp>
        <p:nvSpPr>
          <p:cNvPr id="12" name="Rounded Rectangle 11"/>
          <p:cNvSpPr/>
          <p:nvPr/>
        </p:nvSpPr>
        <p:spPr>
          <a:xfrm>
            <a:off x="1097280" y="3749039"/>
            <a:ext cx="9966960" cy="1188720"/>
          </a:xfrm>
          <a:prstGeom prst="round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97280" y="3794759"/>
            <a:ext cx="73152" cy="109728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3840479"/>
            <a:ext cx="9601200" cy="274320"/>
          </a:xfrm>
          <a:prstGeom prst="rect">
            <a:avLst/>
          </a:prstGeom>
          <a:noFill/>
        </p:spPr>
        <p:txBody>
          <a:bodyPr wrap="square">
            <a:spAutoFit/>
          </a:bodyPr>
          <a:lstStyle/>
          <a:p>
            <a:pPr algn="l">
              <a:defRPr sz="1200" b="1">
                <a:solidFill>
                  <a:srgbClr val="FF6B6B"/>
                </a:solidFill>
                <a:latin typeface="Calibri"/>
              </a:defRPr>
            </a:pPr>
            <a:r>
              <a:t>CASH APP FLIP</a:t>
            </a:r>
          </a:p>
        </p:txBody>
      </p:sp>
      <p:sp>
        <p:nvSpPr>
          <p:cNvPr id="15" name="TextBox 14"/>
          <p:cNvSpPr txBox="1"/>
          <p:nvPr/>
        </p:nvSpPr>
        <p:spPr>
          <a:xfrm>
            <a:off x="1325880" y="4096511"/>
            <a:ext cx="9601200" cy="731520"/>
          </a:xfrm>
          <a:prstGeom prst="rect">
            <a:avLst/>
          </a:prstGeom>
          <a:noFill/>
        </p:spPr>
        <p:txBody>
          <a:bodyPr wrap="square">
            <a:spAutoFit/>
          </a:bodyPr>
          <a:lstStyle/>
          <a:p>
            <a:pPr algn="l">
              <a:defRPr sz="1800" b="0">
                <a:solidFill>
                  <a:srgbClr val="A7A9BE"/>
                </a:solidFill>
                <a:latin typeface="Calibri"/>
              </a:defRPr>
            </a:pPr>
            <a:r>
              <a:t>"Send me $50 and I'll flip it to $500 with this money hack!" — Nobody can magically multiply money. This is theft.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18</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Online Predators</a:t>
            </a:r>
          </a:p>
        </p:txBody>
      </p:sp>
      <p:sp>
        <p:nvSpPr>
          <p:cNvPr id="5" name="TextBox 4"/>
          <p:cNvSpPr txBox="1"/>
          <p:nvPr/>
        </p:nvSpPr>
        <p:spPr>
          <a:xfrm>
            <a:off x="1371600" y="1737360"/>
            <a:ext cx="9448495" cy="731520"/>
          </a:xfrm>
          <a:prstGeom prst="rect">
            <a:avLst/>
          </a:prstGeom>
          <a:noFill/>
        </p:spPr>
        <p:txBody>
          <a:bodyPr wrap="square">
            <a:spAutoFit/>
          </a:bodyPr>
          <a:lstStyle/>
          <a:p>
            <a:pPr algn="ctr">
              <a:defRPr sz="2800" b="0">
                <a:solidFill>
                  <a:srgbClr val="A7A9BE"/>
                </a:solidFill>
                <a:latin typeface="Calibri"/>
              </a:defRPr>
            </a:pPr>
            <a:r>
              <a:t>Predators are adults who try to build relationships with young people online to exploit them. They are very good at what they do.</a:t>
            </a:r>
            <a:br/>
            <a:br/>
            <a:r>
              <a:t>They don't look like villains. They seem friendly, understanding, and cool.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19</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How Grooming Works</a:t>
            </a:r>
          </a:p>
        </p:txBody>
      </p:sp>
      <p:sp>
        <p:nvSpPr>
          <p:cNvPr id="5" name="TextBox 4"/>
          <p:cNvSpPr txBox="1"/>
          <p:nvPr/>
        </p:nvSpPr>
        <p:spPr>
          <a:xfrm>
            <a:off x="1371600" y="1737360"/>
            <a:ext cx="9448495" cy="731520"/>
          </a:xfrm>
          <a:prstGeom prst="rect">
            <a:avLst/>
          </a:prstGeom>
          <a:noFill/>
        </p:spPr>
        <p:txBody>
          <a:bodyPr wrap="square">
            <a:spAutoFit/>
          </a:bodyPr>
          <a:lstStyle/>
          <a:p>
            <a:pPr algn="ctr">
              <a:defRPr sz="2800" b="0">
                <a:solidFill>
                  <a:srgbClr val="A7A9BE"/>
                </a:solidFill>
                <a:latin typeface="Calibri"/>
              </a:defRPr>
            </a:pPr>
            <a:r>
              <a:t>Grooming is a step-by-step process:</a:t>
            </a:r>
          </a:p>
        </p:txBody>
      </p:sp>
      <p:sp>
        <p:nvSpPr>
          <p:cNvPr id="6" name="TextBox 5"/>
          <p:cNvSpPr txBox="1"/>
          <p:nvPr/>
        </p:nvSpPr>
        <p:spPr>
          <a:xfrm>
            <a:off x="1371600" y="2468880"/>
            <a:ext cx="9448495" cy="4114800"/>
          </a:xfrm>
          <a:prstGeom prst="rect">
            <a:avLst/>
          </a:prstGeom>
          <a:noFill/>
        </p:spPr>
        <p:txBody>
          <a:bodyPr wrap="square">
            <a:spAutoFit/>
          </a:bodyPr>
          <a:lstStyle/>
          <a:p>
            <a:pPr>
              <a:spcBef>
                <a:spcPts val="200"/>
              </a:spcBef>
              <a:spcAft>
                <a:spcPts val="600"/>
              </a:spcAft>
            </a:pPr>
            <a:r>
              <a:rPr sz="2600">
                <a:solidFill>
                  <a:srgbClr val="FFFFFF"/>
                </a:solidFill>
                <a:latin typeface="Calibri"/>
              </a:rPr>
              <a:t>1️⃣  Targeting — They find someone who seems lonely, insecure, or seeking attention</a:t>
            </a:r>
          </a:p>
          <a:p>
            <a:pPr>
              <a:spcBef>
                <a:spcPts val="200"/>
              </a:spcBef>
              <a:spcAft>
                <a:spcPts val="600"/>
              </a:spcAft>
            </a:pPr>
            <a:r>
              <a:rPr sz="2600">
                <a:solidFill>
                  <a:srgbClr val="FFFFFF"/>
                </a:solidFill>
                <a:latin typeface="Calibri"/>
              </a:rPr>
              <a:t>2️⃣  Building trust — "You're so mature for your age" / "I totally get you"</a:t>
            </a:r>
          </a:p>
          <a:p>
            <a:pPr>
              <a:spcBef>
                <a:spcPts val="200"/>
              </a:spcBef>
              <a:spcAft>
                <a:spcPts val="600"/>
              </a:spcAft>
            </a:pPr>
            <a:r>
              <a:rPr sz="2600">
                <a:solidFill>
                  <a:srgbClr val="FFFFFF"/>
                </a:solidFill>
                <a:latin typeface="Calibri"/>
              </a:rPr>
              <a:t>3️⃣  Filling a need — Compliments, gifts, attention, "understanding"</a:t>
            </a:r>
          </a:p>
          <a:p>
            <a:pPr>
              <a:spcBef>
                <a:spcPts val="200"/>
              </a:spcBef>
              <a:spcAft>
                <a:spcPts val="600"/>
              </a:spcAft>
            </a:pPr>
            <a:r>
              <a:rPr sz="2600">
                <a:solidFill>
                  <a:srgbClr val="FFFFFF"/>
                </a:solidFill>
                <a:latin typeface="Calibri"/>
              </a:rPr>
              <a:t>4️⃣  Isolating — "Don't tell your parents, they wouldn't understand"</a:t>
            </a:r>
          </a:p>
          <a:p>
            <a:pPr>
              <a:spcBef>
                <a:spcPts val="200"/>
              </a:spcBef>
              <a:spcAft>
                <a:spcPts val="600"/>
              </a:spcAft>
            </a:pPr>
            <a:r>
              <a:rPr sz="2600">
                <a:solidFill>
                  <a:srgbClr val="FFFFFF"/>
                </a:solidFill>
                <a:latin typeface="Calibri"/>
              </a:rPr>
              <a:t>5️⃣  Desensitizing — Gradually introducing inappropriate topics</a:t>
            </a:r>
          </a:p>
          <a:p>
            <a:pPr>
              <a:spcBef>
                <a:spcPts val="200"/>
              </a:spcBef>
              <a:spcAft>
                <a:spcPts val="600"/>
              </a:spcAft>
            </a:pPr>
            <a:r>
              <a:rPr sz="2600">
                <a:solidFill>
                  <a:srgbClr val="FFFFFF"/>
                </a:solidFill>
                <a:latin typeface="Calibri"/>
              </a:rPr>
              <a:t>6️⃣  Exploiting — Asking for photos, meetups, or favors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20</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Red Flags in Online Conversations</a:t>
            </a:r>
          </a:p>
        </p:txBody>
      </p:sp>
      <p:sp>
        <p:nvSpPr>
          <p:cNvPr id="5" name="TextBox 4"/>
          <p:cNvSpPr txBox="1"/>
          <p:nvPr/>
        </p:nvSpPr>
        <p:spPr>
          <a:xfrm>
            <a:off x="1371600" y="1737360"/>
            <a:ext cx="9448495" cy="4114800"/>
          </a:xfrm>
          <a:prstGeom prst="rect">
            <a:avLst/>
          </a:prstGeom>
          <a:noFill/>
        </p:spPr>
        <p:txBody>
          <a:bodyPr wrap="square">
            <a:spAutoFit/>
          </a:bodyPr>
          <a:lstStyle/>
          <a:p>
            <a:pPr>
              <a:spcBef>
                <a:spcPts val="200"/>
              </a:spcBef>
              <a:spcAft>
                <a:spcPts val="600"/>
              </a:spcAft>
            </a:pPr>
            <a:r>
              <a:rPr sz="2600">
                <a:solidFill>
                  <a:srgbClr val="FFFFFF"/>
                </a:solidFill>
                <a:latin typeface="Calibri"/>
              </a:rPr>
              <a:t>🚩  They ask you to keep the friendship a secret</a:t>
            </a:r>
          </a:p>
          <a:p>
            <a:pPr>
              <a:spcBef>
                <a:spcPts val="200"/>
              </a:spcBef>
              <a:spcAft>
                <a:spcPts val="600"/>
              </a:spcAft>
            </a:pPr>
            <a:r>
              <a:rPr sz="2600">
                <a:solidFill>
                  <a:srgbClr val="FFFFFF"/>
                </a:solidFill>
                <a:latin typeface="Calibri"/>
              </a:rPr>
              <a:t>🚩  They say "you're so mature for your age"</a:t>
            </a:r>
          </a:p>
          <a:p>
            <a:pPr>
              <a:spcBef>
                <a:spcPts val="200"/>
              </a:spcBef>
              <a:spcAft>
                <a:spcPts val="600"/>
              </a:spcAft>
            </a:pPr>
            <a:r>
              <a:rPr sz="2600">
                <a:solidFill>
                  <a:srgbClr val="FFFFFF"/>
                </a:solidFill>
                <a:latin typeface="Calibri"/>
              </a:rPr>
              <a:t>🚩  They ask personal questions quickly (where you live, what school)</a:t>
            </a:r>
          </a:p>
          <a:p>
            <a:pPr>
              <a:spcBef>
                <a:spcPts val="200"/>
              </a:spcBef>
              <a:spcAft>
                <a:spcPts val="600"/>
              </a:spcAft>
            </a:pPr>
            <a:r>
              <a:rPr sz="2600">
                <a:solidFill>
                  <a:srgbClr val="FFFFFF"/>
                </a:solidFill>
                <a:latin typeface="Calibri"/>
              </a:rPr>
              <a:t>🚩  They send you gifts or offer money</a:t>
            </a:r>
          </a:p>
          <a:p>
            <a:pPr>
              <a:spcBef>
                <a:spcPts val="200"/>
              </a:spcBef>
              <a:spcAft>
                <a:spcPts val="600"/>
              </a:spcAft>
            </a:pPr>
            <a:r>
              <a:rPr sz="2600">
                <a:solidFill>
                  <a:srgbClr val="FFFFFF"/>
                </a:solidFill>
                <a:latin typeface="Calibri"/>
              </a:rPr>
              <a:t>🚩  They try to move conversation to a private platform</a:t>
            </a:r>
          </a:p>
          <a:p>
            <a:pPr>
              <a:spcBef>
                <a:spcPts val="200"/>
              </a:spcBef>
              <a:spcAft>
                <a:spcPts val="600"/>
              </a:spcAft>
            </a:pPr>
            <a:r>
              <a:rPr sz="2600">
                <a:solidFill>
                  <a:srgbClr val="FFFFFF"/>
                </a:solidFill>
                <a:latin typeface="Calibri"/>
              </a:rPr>
              <a:t>🚩  They ask for photos (especially selfies)</a:t>
            </a:r>
          </a:p>
          <a:p>
            <a:pPr>
              <a:spcBef>
                <a:spcPts val="200"/>
              </a:spcBef>
              <a:spcAft>
                <a:spcPts val="600"/>
              </a:spcAft>
            </a:pPr>
            <a:r>
              <a:rPr sz="2600">
                <a:solidFill>
                  <a:srgbClr val="FFFFFF"/>
                </a:solidFill>
                <a:latin typeface="Calibri"/>
              </a:rPr>
              <a:t>🚩  They get upset or guilt-trip you if you say no</a:t>
            </a:r>
          </a:p>
          <a:p>
            <a:pPr>
              <a:spcBef>
                <a:spcPts val="200"/>
              </a:spcBef>
              <a:spcAft>
                <a:spcPts val="600"/>
              </a:spcAft>
            </a:pPr>
            <a:r>
              <a:rPr sz="2600">
                <a:solidFill>
                  <a:srgbClr val="FFFFFF"/>
                </a:solidFill>
                <a:latin typeface="Calibri"/>
              </a:rPr>
              <a:t>🚩  They claim to be a teen but something feels "off"</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21</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NEVER Share These Online</a:t>
            </a:r>
          </a:p>
        </p:txBody>
      </p:sp>
      <p:sp>
        <p:nvSpPr>
          <p:cNvPr id="5" name="TextBox 4"/>
          <p:cNvSpPr txBox="1"/>
          <p:nvPr/>
        </p:nvSpPr>
        <p:spPr>
          <a:xfrm>
            <a:off x="1371600" y="1737360"/>
            <a:ext cx="9448495" cy="4114800"/>
          </a:xfrm>
          <a:prstGeom prst="rect">
            <a:avLst/>
          </a:prstGeom>
          <a:noFill/>
        </p:spPr>
        <p:txBody>
          <a:bodyPr wrap="square">
            <a:spAutoFit/>
          </a:bodyPr>
          <a:lstStyle/>
          <a:p>
            <a:pPr>
              <a:spcBef>
                <a:spcPts val="200"/>
              </a:spcBef>
              <a:spcAft>
                <a:spcPts val="600"/>
              </a:spcAft>
            </a:pPr>
            <a:r>
              <a:rPr sz="2600">
                <a:solidFill>
                  <a:srgbClr val="FFFFFF"/>
                </a:solidFill>
                <a:latin typeface="Calibri"/>
              </a:rPr>
              <a:t>🏠  Home address</a:t>
            </a:r>
          </a:p>
          <a:p>
            <a:pPr>
              <a:spcBef>
                <a:spcPts val="200"/>
              </a:spcBef>
              <a:spcAft>
                <a:spcPts val="600"/>
              </a:spcAft>
            </a:pPr>
            <a:r>
              <a:rPr sz="2600">
                <a:solidFill>
                  <a:srgbClr val="FFFFFF"/>
                </a:solidFill>
                <a:latin typeface="Calibri"/>
              </a:rPr>
              <a:t>🏫  School name</a:t>
            </a:r>
          </a:p>
          <a:p>
            <a:pPr>
              <a:spcBef>
                <a:spcPts val="200"/>
              </a:spcBef>
              <a:spcAft>
                <a:spcPts val="600"/>
              </a:spcAft>
            </a:pPr>
            <a:r>
              <a:rPr sz="2600">
                <a:solidFill>
                  <a:srgbClr val="FFFFFF"/>
                </a:solidFill>
                <a:latin typeface="Calibri"/>
              </a:rPr>
              <a:t>📍  Current location</a:t>
            </a:r>
          </a:p>
          <a:p>
            <a:pPr>
              <a:spcBef>
                <a:spcPts val="200"/>
              </a:spcBef>
              <a:spcAft>
                <a:spcPts val="600"/>
              </a:spcAft>
            </a:pPr>
            <a:r>
              <a:rPr sz="2600">
                <a:solidFill>
                  <a:srgbClr val="FFFFFF"/>
                </a:solidFill>
                <a:latin typeface="Calibri"/>
              </a:rPr>
              <a:t>📸  Personal photos</a:t>
            </a:r>
          </a:p>
          <a:p>
            <a:pPr>
              <a:spcBef>
                <a:spcPts val="200"/>
              </a:spcBef>
              <a:spcAft>
                <a:spcPts val="600"/>
              </a:spcAft>
            </a:pPr>
            <a:r>
              <a:rPr sz="2600">
                <a:solidFill>
                  <a:srgbClr val="FFFFFF"/>
                </a:solidFill>
                <a:latin typeface="Calibri"/>
              </a:rPr>
              <a:t>📞  Phone number</a:t>
            </a:r>
          </a:p>
          <a:p>
            <a:pPr>
              <a:spcBef>
                <a:spcPts val="200"/>
              </a:spcBef>
              <a:spcAft>
                <a:spcPts val="600"/>
              </a:spcAft>
            </a:pPr>
            <a:r>
              <a:rPr sz="2600">
                <a:solidFill>
                  <a:srgbClr val="FFFFFF"/>
                </a:solidFill>
                <a:latin typeface="Calibri"/>
              </a:rPr>
              <a:t>👤  Full name</a:t>
            </a:r>
          </a:p>
          <a:p>
            <a:pPr>
              <a:spcBef>
                <a:spcPts val="200"/>
              </a:spcBef>
              <a:spcAft>
                <a:spcPts val="600"/>
              </a:spcAft>
            </a:pPr>
            <a:r>
              <a:rPr sz="2600">
                <a:solidFill>
                  <a:srgbClr val="FFFFFF"/>
                </a:solidFill>
                <a:latin typeface="Calibri"/>
              </a:rPr>
              <a:t>🎂  Birthday</a:t>
            </a:r>
          </a:p>
          <a:p>
            <a:pPr>
              <a:spcBef>
                <a:spcPts val="200"/>
              </a:spcBef>
              <a:spcAft>
                <a:spcPts val="600"/>
              </a:spcAft>
            </a:pPr>
            <a:r>
              <a:rPr sz="2600">
                <a:solidFill>
                  <a:srgbClr val="FFFFFF"/>
                </a:solidFill>
                <a:latin typeface="Calibri"/>
              </a:rPr>
              <a:t>🔑  Passwords</a:t>
            </a:r>
          </a:p>
        </p:txBody>
      </p:sp>
      <p:sp>
        <p:nvSpPr>
          <p:cNvPr id="6" name="TextBox 5"/>
          <p:cNvSpPr txBox="1"/>
          <p:nvPr/>
        </p:nvSpPr>
        <p:spPr>
          <a:xfrm>
            <a:off x="1371600" y="4517136"/>
            <a:ext cx="9448495" cy="457200"/>
          </a:xfrm>
          <a:prstGeom prst="rect">
            <a:avLst/>
          </a:prstGeom>
          <a:noFill/>
        </p:spPr>
        <p:txBody>
          <a:bodyPr wrap="square">
            <a:spAutoFit/>
          </a:bodyPr>
          <a:lstStyle/>
          <a:p>
            <a:pPr algn="ctr">
              <a:defRPr sz="1800" b="0">
                <a:solidFill>
                  <a:srgbClr val="A855F7"/>
                </a:solidFill>
                <a:latin typeface="Calibri"/>
              </a:defRPr>
            </a:pPr>
            <a:r>
              <a:t>Not with strangers. Not with online friends. Not in games. Not ever.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22</a:t>
            </a:r>
          </a:p>
        </p:txBody>
      </p:sp>
      <p:sp>
        <p:nvSpPr>
          <p:cNvPr id="3" name="TextBox 2"/>
          <p:cNvSpPr txBox="1"/>
          <p:nvPr/>
        </p:nvSpPr>
        <p:spPr>
          <a:xfrm>
            <a:off x="731520" y="457200"/>
            <a:ext cx="10728655" cy="731520"/>
          </a:xfrm>
          <a:prstGeom prst="rect">
            <a:avLst/>
          </a:prstGeom>
          <a:noFill/>
        </p:spPr>
        <p:txBody>
          <a:bodyPr wrap="square">
            <a:spAutoFit/>
          </a:bodyPr>
          <a:lstStyle/>
          <a:p>
            <a:pPr algn="ctr">
              <a:defRPr sz="3600" b="1">
                <a:solidFill>
                  <a:srgbClr val="A855F7"/>
                </a:solidFill>
                <a:latin typeface="Calibri"/>
              </a:defRPr>
            </a:pPr>
            <a:r>
              <a:t>🆘 If Something Feels Wrong...</a:t>
            </a:r>
          </a:p>
        </p:txBody>
      </p:sp>
      <p:sp>
        <p:nvSpPr>
          <p:cNvPr id="4" name="Rounded Rectangle 3"/>
          <p:cNvSpPr/>
          <p:nvPr/>
        </p:nvSpPr>
        <p:spPr>
          <a:xfrm>
            <a:off x="1371600" y="1371600"/>
            <a:ext cx="9448495" cy="4114800"/>
          </a:xfrm>
          <a:prstGeom prst="roundRect">
            <a:avLst/>
          </a:prstGeom>
          <a:solidFill>
            <a:srgbClr val="152A1F"/>
          </a:solidFill>
          <a:ln w="38100">
            <a:solidFill>
              <a:srgbClr val="2CB6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1554480"/>
            <a:ext cx="8534095" cy="365760"/>
          </a:xfrm>
          <a:prstGeom prst="rect">
            <a:avLst/>
          </a:prstGeom>
          <a:noFill/>
        </p:spPr>
        <p:txBody>
          <a:bodyPr wrap="square">
            <a:spAutoFit/>
          </a:bodyPr>
          <a:lstStyle/>
          <a:p>
            <a:pPr algn="l">
              <a:defRPr sz="1400" b="1">
                <a:solidFill>
                  <a:srgbClr val="2CB67D"/>
                </a:solidFill>
                <a:latin typeface="Calibri"/>
              </a:defRPr>
            </a:pPr>
            <a:r>
              <a:t>THE #1 RULE</a:t>
            </a:r>
          </a:p>
        </p:txBody>
      </p:sp>
      <p:sp>
        <p:nvSpPr>
          <p:cNvPr id="6" name="TextBox 5"/>
          <p:cNvSpPr txBox="1"/>
          <p:nvPr/>
        </p:nvSpPr>
        <p:spPr>
          <a:xfrm>
            <a:off x="1828800" y="2011680"/>
            <a:ext cx="8534095" cy="548640"/>
          </a:xfrm>
          <a:prstGeom prst="rect">
            <a:avLst/>
          </a:prstGeom>
          <a:noFill/>
        </p:spPr>
        <p:txBody>
          <a:bodyPr wrap="square">
            <a:spAutoFit/>
          </a:bodyPr>
          <a:lstStyle/>
          <a:p>
            <a:pPr algn="ctr">
              <a:defRPr sz="3800" b="1">
                <a:solidFill>
                  <a:srgbClr val="FFFFFF"/>
                </a:solidFill>
                <a:latin typeface="Calibri"/>
              </a:defRPr>
            </a:pPr>
            <a:r>
              <a:t>Tell a parent IMMEDIATELY.</a:t>
            </a:r>
          </a:p>
        </p:txBody>
      </p:sp>
      <p:sp>
        <p:nvSpPr>
          <p:cNvPr id="7" name="TextBox 6"/>
          <p:cNvSpPr txBox="1"/>
          <p:nvPr/>
        </p:nvSpPr>
        <p:spPr>
          <a:xfrm>
            <a:off x="1828800" y="2743200"/>
            <a:ext cx="8534095" cy="2286000"/>
          </a:xfrm>
          <a:prstGeom prst="rect">
            <a:avLst/>
          </a:prstGeom>
          <a:noFill/>
        </p:spPr>
        <p:txBody>
          <a:bodyPr wrap="square">
            <a:spAutoFit/>
          </a:bodyPr>
          <a:lstStyle/>
          <a:p>
            <a:pPr algn="ctr">
              <a:defRPr sz="2600" b="0">
                <a:solidFill>
                  <a:srgbClr val="A7A9BE"/>
                </a:solidFill>
                <a:latin typeface="Calibri"/>
              </a:defRPr>
            </a:pPr>
            <a:r>
              <a:t>You will NOT be in trouble. Not now, not ever.</a:t>
            </a:r>
            <a:br/>
            <a:r>
              <a:t>Even if you think you did something wrong.</a:t>
            </a:r>
            <a:br/>
            <a:r>
              <a:t>Even if someone told you not to tell.</a:t>
            </a:r>
            <a:br/>
            <a:r>
              <a:t>Even if you're embarrassed.</a:t>
            </a:r>
            <a:br/>
            <a:br/>
            <a:r>
              <a:t>Elli, Mom and Dad are ALWAYS on your team. 💚</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23</a:t>
            </a:r>
          </a:p>
        </p:txBody>
      </p:sp>
      <p:sp>
        <p:nvSpPr>
          <p:cNvPr id="3" name="Rounded Rectangle 2"/>
          <p:cNvSpPr/>
          <p:nvPr/>
        </p:nvSpPr>
        <p:spPr>
          <a:xfrm>
            <a:off x="1097280" y="914400"/>
            <a:ext cx="9966960" cy="2286000"/>
          </a:xfrm>
          <a:prstGeom prst="round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0" y="960120"/>
            <a:ext cx="73152" cy="2194560"/>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25880" y="1005840"/>
            <a:ext cx="9601200" cy="274320"/>
          </a:xfrm>
          <a:prstGeom prst="rect">
            <a:avLst/>
          </a:prstGeom>
          <a:noFill/>
        </p:spPr>
        <p:txBody>
          <a:bodyPr wrap="square">
            <a:spAutoFit/>
          </a:bodyPr>
          <a:lstStyle/>
          <a:p>
            <a:pPr algn="l">
              <a:defRPr sz="1200" b="1">
                <a:solidFill>
                  <a:srgbClr val="E056A0"/>
                </a:solidFill>
                <a:latin typeface="Calibri"/>
              </a:defRPr>
            </a:pPr>
            <a:r>
              <a:t>REAL TALK SCENARIO</a:t>
            </a:r>
          </a:p>
        </p:txBody>
      </p:sp>
      <p:sp>
        <p:nvSpPr>
          <p:cNvPr id="6" name="TextBox 5"/>
          <p:cNvSpPr txBox="1"/>
          <p:nvPr/>
        </p:nvSpPr>
        <p:spPr>
          <a:xfrm>
            <a:off x="1325880" y="1261872"/>
            <a:ext cx="9601200" cy="1828800"/>
          </a:xfrm>
          <a:prstGeom prst="rect">
            <a:avLst/>
          </a:prstGeom>
          <a:noFill/>
        </p:spPr>
        <p:txBody>
          <a:bodyPr wrap="square">
            <a:spAutoFit/>
          </a:bodyPr>
          <a:lstStyle/>
          <a:p>
            <a:pPr algn="l">
              <a:defRPr sz="1800" b="0">
                <a:solidFill>
                  <a:srgbClr val="A7A9BE"/>
                </a:solidFill>
                <a:latin typeface="Calibri"/>
              </a:defRPr>
            </a:pPr>
            <a:r>
              <a:t>You're playing an online game and someone who says they're 14 starts chatting with you. They're really nice and funny. After a week, they ask what school you go to and if you want to video call — but ask you not to tell your parents because "they might not let us be friends."</a:t>
            </a:r>
          </a:p>
        </p:txBody>
      </p:sp>
      <p:sp>
        <p:nvSpPr>
          <p:cNvPr id="7" name="TextBox 6"/>
          <p:cNvSpPr txBox="1"/>
          <p:nvPr/>
        </p:nvSpPr>
        <p:spPr>
          <a:xfrm>
            <a:off x="1371600" y="3657600"/>
            <a:ext cx="9448495" cy="914400"/>
          </a:xfrm>
          <a:prstGeom prst="rect">
            <a:avLst/>
          </a:prstGeom>
          <a:noFill/>
        </p:spPr>
        <p:txBody>
          <a:bodyPr wrap="square">
            <a:spAutoFit/>
          </a:bodyPr>
          <a:lstStyle/>
          <a:p>
            <a:pPr algn="ctr">
              <a:defRPr sz="2800" b="1">
                <a:solidFill>
                  <a:srgbClr val="FF6B6B"/>
                </a:solidFill>
                <a:latin typeface="Calibri"/>
              </a:defRPr>
            </a:pPr>
            <a:r>
              <a:t>Every single thing about this is a red flag.</a:t>
            </a:r>
            <a:br/>
            <a:r>
              <a:t>A real friend would never ask you to hide the friendship.</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24</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Explicit Content Online</a:t>
            </a:r>
          </a:p>
        </p:txBody>
      </p:sp>
      <p:sp>
        <p:nvSpPr>
          <p:cNvPr id="5" name="TextBox 4"/>
          <p:cNvSpPr txBox="1"/>
          <p:nvPr/>
        </p:nvSpPr>
        <p:spPr>
          <a:xfrm>
            <a:off x="1371600" y="1737360"/>
            <a:ext cx="9448495" cy="731520"/>
          </a:xfrm>
          <a:prstGeom prst="rect">
            <a:avLst/>
          </a:prstGeom>
          <a:noFill/>
        </p:spPr>
        <p:txBody>
          <a:bodyPr wrap="square">
            <a:spAutoFit/>
          </a:bodyPr>
          <a:lstStyle/>
          <a:p>
            <a:pPr algn="ctr">
              <a:defRPr sz="2800" b="0">
                <a:solidFill>
                  <a:srgbClr val="A7A9BE"/>
                </a:solidFill>
                <a:latin typeface="Calibri"/>
              </a:defRPr>
            </a:pPr>
            <a:r>
              <a:t>Elli, this is an awkward topic but an important one. Pornography and explicit content exist all over the internet — and it can show up even when you're not looking for it.</a:t>
            </a:r>
            <a:br/>
            <a:br/>
            <a:r>
              <a:t>Pop-up ads, links in group chats, search results, social media — it can appear unexpectedly on almost any platform.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25</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Why This Content Is Harmful</a:t>
            </a:r>
          </a:p>
        </p:txBody>
      </p:sp>
      <p:sp>
        <p:nvSpPr>
          <p:cNvPr id="5" name="TextBox 4"/>
          <p:cNvSpPr txBox="1"/>
          <p:nvPr/>
        </p:nvSpPr>
        <p:spPr>
          <a:xfrm>
            <a:off x="1371600" y="1737360"/>
            <a:ext cx="9448495" cy="4114800"/>
          </a:xfrm>
          <a:prstGeom prst="rect">
            <a:avLst/>
          </a:prstGeom>
          <a:noFill/>
        </p:spPr>
        <p:txBody>
          <a:bodyPr wrap="square">
            <a:spAutoFit/>
          </a:bodyPr>
          <a:lstStyle/>
          <a:p>
            <a:pPr>
              <a:spcBef>
                <a:spcPts val="200"/>
              </a:spcBef>
              <a:spcAft>
                <a:spcPts val="600"/>
              </a:spcAft>
            </a:pPr>
            <a:r>
              <a:rPr sz="2600">
                <a:solidFill>
                  <a:srgbClr val="FFFFFF"/>
                </a:solidFill>
                <a:latin typeface="Calibri"/>
              </a:rPr>
              <a:t>🧠  It creates unrealistic and harmful expectations about relationships and bodies</a:t>
            </a:r>
          </a:p>
          <a:p>
            <a:pPr>
              <a:spcBef>
                <a:spcPts val="200"/>
              </a:spcBef>
              <a:spcAft>
                <a:spcPts val="600"/>
              </a:spcAft>
            </a:pPr>
            <a:r>
              <a:rPr sz="2600">
                <a:solidFill>
                  <a:srgbClr val="FFFFFF"/>
                </a:solidFill>
                <a:latin typeface="Calibri"/>
              </a:rPr>
              <a:t>💔  It can warp your understanding of what healthy relationships look like</a:t>
            </a:r>
          </a:p>
          <a:p>
            <a:pPr>
              <a:spcBef>
                <a:spcPts val="200"/>
              </a:spcBef>
              <a:spcAft>
                <a:spcPts val="600"/>
              </a:spcAft>
            </a:pPr>
            <a:r>
              <a:rPr sz="2600">
                <a:solidFill>
                  <a:srgbClr val="FFFFFF"/>
                </a:solidFill>
                <a:latin typeface="Calibri"/>
              </a:rPr>
              <a:t>😰  It can make you feel confused, uncomfortable, or anxious</a:t>
            </a:r>
          </a:p>
          <a:p>
            <a:pPr>
              <a:spcBef>
                <a:spcPts val="200"/>
              </a:spcBef>
              <a:spcAft>
                <a:spcPts val="600"/>
              </a:spcAft>
            </a:pPr>
            <a:r>
              <a:rPr sz="2600">
                <a:solidFill>
                  <a:srgbClr val="FFFFFF"/>
                </a:solidFill>
                <a:latin typeface="Calibri"/>
              </a:rPr>
              <a:t>📱  It's designed for adults and does NOT reflect real life — not even close</a:t>
            </a:r>
          </a:p>
          <a:p>
            <a:pPr>
              <a:spcBef>
                <a:spcPts val="200"/>
              </a:spcBef>
              <a:spcAft>
                <a:spcPts val="600"/>
              </a:spcAft>
            </a:pPr>
            <a:r>
              <a:rPr sz="2600">
                <a:solidFill>
                  <a:srgbClr val="FFFFFF"/>
                </a:solidFill>
                <a:latin typeface="Calibri"/>
              </a:rPr>
              <a:t>🌱  Your brain is still developing, and this content can genuinely affect how you see yourself and others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26</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If You Accidentally See Something</a:t>
            </a:r>
          </a:p>
        </p:txBody>
      </p:sp>
      <p:sp>
        <p:nvSpPr>
          <p:cNvPr id="5" name="TextBox 4"/>
          <p:cNvSpPr txBox="1"/>
          <p:nvPr/>
        </p:nvSpPr>
        <p:spPr>
          <a:xfrm>
            <a:off x="1371600" y="1737360"/>
            <a:ext cx="9448495" cy="4114800"/>
          </a:xfrm>
          <a:prstGeom prst="rect">
            <a:avLst/>
          </a:prstGeom>
          <a:noFill/>
        </p:spPr>
        <p:txBody>
          <a:bodyPr wrap="square">
            <a:spAutoFit/>
          </a:bodyPr>
          <a:lstStyle/>
          <a:p>
            <a:pPr>
              <a:spcBef>
                <a:spcPts val="200"/>
              </a:spcBef>
              <a:spcAft>
                <a:spcPts val="600"/>
              </a:spcAft>
            </a:pPr>
            <a:r>
              <a:rPr sz="2600">
                <a:solidFill>
                  <a:srgbClr val="FFFFFF"/>
                </a:solidFill>
                <a:latin typeface="Calibri"/>
              </a:rPr>
              <a:t>❌  Close it immediately — don't keep looking out of curiosity</a:t>
            </a:r>
          </a:p>
          <a:p>
            <a:pPr>
              <a:spcBef>
                <a:spcPts val="200"/>
              </a:spcBef>
              <a:spcAft>
                <a:spcPts val="600"/>
              </a:spcAft>
            </a:pPr>
            <a:r>
              <a:rPr sz="2600">
                <a:solidFill>
                  <a:srgbClr val="FFFFFF"/>
                </a:solidFill>
                <a:latin typeface="Calibri"/>
              </a:rPr>
              <a:t>🗣️  Tell Mom or Dad — you will NOT be in trouble, we promise</a:t>
            </a:r>
          </a:p>
          <a:p>
            <a:pPr>
              <a:spcBef>
                <a:spcPts val="200"/>
              </a:spcBef>
              <a:spcAft>
                <a:spcPts val="600"/>
              </a:spcAft>
            </a:pPr>
            <a:r>
              <a:rPr sz="2600">
                <a:solidFill>
                  <a:srgbClr val="FFFFFF"/>
                </a:solidFill>
                <a:latin typeface="Calibri"/>
              </a:rPr>
              <a:t>💚  No shame — accidentally seeing something doesn't mean you did anything wrong</a:t>
            </a:r>
          </a:p>
          <a:p>
            <a:pPr>
              <a:spcBef>
                <a:spcPts val="200"/>
              </a:spcBef>
              <a:spcAft>
                <a:spcPts val="600"/>
              </a:spcAft>
            </a:pPr>
            <a:r>
              <a:rPr sz="2600">
                <a:solidFill>
                  <a:srgbClr val="FFFFFF"/>
                </a:solidFill>
                <a:latin typeface="Calibri"/>
              </a:rPr>
              <a:t>🚫  Don't share it — sharing explicit content involving minors is actually illegal</a:t>
            </a:r>
          </a:p>
          <a:p>
            <a:pPr>
              <a:spcBef>
                <a:spcPts val="200"/>
              </a:spcBef>
              <a:spcAft>
                <a:spcPts val="600"/>
              </a:spcAft>
            </a:pPr>
            <a:r>
              <a:rPr sz="2600">
                <a:solidFill>
                  <a:srgbClr val="FFFFFF"/>
                </a:solidFill>
                <a:latin typeface="Calibri"/>
              </a:rPr>
              <a:t>🔍  Don't go looking for more — curiosity is normal, but this content is genuinely harmful</a:t>
            </a:r>
          </a:p>
        </p:txBody>
      </p:sp>
      <p:sp>
        <p:nvSpPr>
          <p:cNvPr id="6" name="Rounded Rectangle 5"/>
          <p:cNvSpPr/>
          <p:nvPr/>
        </p:nvSpPr>
        <p:spPr>
          <a:xfrm>
            <a:off x="1371600" y="3474720"/>
            <a:ext cx="9448495" cy="914400"/>
          </a:xfrm>
          <a:prstGeom prst="round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71600" y="3520440"/>
            <a:ext cx="73152" cy="822960"/>
          </a:xfrm>
          <a:prstGeom prst="rect">
            <a:avLst/>
          </a:prstGeom>
          <a:solidFill>
            <a:srgbClr val="2CB6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00200" y="3566160"/>
            <a:ext cx="9082735" cy="274320"/>
          </a:xfrm>
          <a:prstGeom prst="rect">
            <a:avLst/>
          </a:prstGeom>
          <a:noFill/>
        </p:spPr>
        <p:txBody>
          <a:bodyPr wrap="square">
            <a:spAutoFit/>
          </a:bodyPr>
          <a:lstStyle/>
          <a:p>
            <a:pPr algn="l">
              <a:defRPr sz="1200" b="1">
                <a:solidFill>
                  <a:srgbClr val="2CB67D"/>
                </a:solidFill>
                <a:latin typeface="Calibri"/>
              </a:defRPr>
            </a:pPr>
            <a:r>
              <a:t>REMEMBER</a:t>
            </a:r>
          </a:p>
        </p:txBody>
      </p:sp>
      <p:sp>
        <p:nvSpPr>
          <p:cNvPr id="9" name="TextBox 8"/>
          <p:cNvSpPr txBox="1"/>
          <p:nvPr/>
        </p:nvSpPr>
        <p:spPr>
          <a:xfrm>
            <a:off x="1600200" y="3822192"/>
            <a:ext cx="9082735" cy="457200"/>
          </a:xfrm>
          <a:prstGeom prst="rect">
            <a:avLst/>
          </a:prstGeom>
          <a:noFill/>
        </p:spPr>
        <p:txBody>
          <a:bodyPr wrap="square">
            <a:spAutoFit/>
          </a:bodyPr>
          <a:lstStyle/>
          <a:p>
            <a:pPr algn="l">
              <a:defRPr sz="1800" b="0">
                <a:solidFill>
                  <a:srgbClr val="A7A9BE"/>
                </a:solidFill>
                <a:latin typeface="Calibri"/>
              </a:defRPr>
            </a:pPr>
            <a:r>
              <a:t>Seeing something explicit by accident is NOT your fault. It happens to almost everyone online. What matters is what you do next.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27</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Where Explicit Content Can Appear</a:t>
            </a:r>
          </a:p>
        </p:txBody>
      </p:sp>
      <p:sp>
        <p:nvSpPr>
          <p:cNvPr id="5" name="TextBox 4"/>
          <p:cNvSpPr txBox="1"/>
          <p:nvPr/>
        </p:nvSpPr>
        <p:spPr>
          <a:xfrm>
            <a:off x="1371600" y="1737360"/>
            <a:ext cx="9448495" cy="4114800"/>
          </a:xfrm>
          <a:prstGeom prst="rect">
            <a:avLst/>
          </a:prstGeom>
          <a:noFill/>
        </p:spPr>
        <p:txBody>
          <a:bodyPr wrap="square">
            <a:spAutoFit/>
          </a:bodyPr>
          <a:lstStyle/>
          <a:p>
            <a:pPr>
              <a:spcBef>
                <a:spcPts val="200"/>
              </a:spcBef>
              <a:spcAft>
                <a:spcPts val="600"/>
              </a:spcAft>
            </a:pPr>
            <a:r>
              <a:rPr sz="2600">
                <a:solidFill>
                  <a:srgbClr val="FFFFFF"/>
                </a:solidFill>
                <a:latin typeface="Calibri"/>
              </a:rPr>
              <a:t>💬  Group chats and DMs (people send links or images)</a:t>
            </a:r>
          </a:p>
          <a:p>
            <a:pPr>
              <a:spcBef>
                <a:spcPts val="200"/>
              </a:spcBef>
              <a:spcAft>
                <a:spcPts val="600"/>
              </a:spcAft>
            </a:pPr>
            <a:r>
              <a:rPr sz="2600">
                <a:solidFill>
                  <a:srgbClr val="FFFFFF"/>
                </a:solidFill>
                <a:latin typeface="Calibri"/>
              </a:rPr>
              <a:t>🔍  Search engines and image searches (even innocent searches)</a:t>
            </a:r>
          </a:p>
          <a:p>
            <a:pPr>
              <a:spcBef>
                <a:spcPts val="200"/>
              </a:spcBef>
              <a:spcAft>
                <a:spcPts val="600"/>
              </a:spcAft>
            </a:pPr>
            <a:r>
              <a:rPr sz="2600">
                <a:solidFill>
                  <a:srgbClr val="FFFFFF"/>
                </a:solidFill>
                <a:latin typeface="Calibri"/>
              </a:rPr>
              <a:t>📱  Social media feeds — TikTok, YouTube, even Pinterest</a:t>
            </a:r>
          </a:p>
          <a:p>
            <a:pPr>
              <a:spcBef>
                <a:spcPts val="200"/>
              </a:spcBef>
              <a:spcAft>
                <a:spcPts val="600"/>
              </a:spcAft>
            </a:pPr>
            <a:r>
              <a:rPr sz="2600">
                <a:solidFill>
                  <a:srgbClr val="FFFFFF"/>
                </a:solidFill>
                <a:latin typeface="Calibri"/>
              </a:rPr>
              <a:t>🎮  Online games and gaming chat platforms</a:t>
            </a:r>
          </a:p>
          <a:p>
            <a:pPr>
              <a:spcBef>
                <a:spcPts val="200"/>
              </a:spcBef>
              <a:spcAft>
                <a:spcPts val="600"/>
              </a:spcAft>
            </a:pPr>
            <a:r>
              <a:rPr sz="2600">
                <a:solidFill>
                  <a:srgbClr val="FFFFFF"/>
                </a:solidFill>
                <a:latin typeface="Calibri"/>
              </a:rPr>
              <a:t>📺  Streaming sites with inadequate age filters</a:t>
            </a:r>
          </a:p>
          <a:p>
            <a:pPr>
              <a:spcBef>
                <a:spcPts val="200"/>
              </a:spcBef>
              <a:spcAft>
                <a:spcPts val="600"/>
              </a:spcAft>
            </a:pPr>
            <a:r>
              <a:rPr sz="2600">
                <a:solidFill>
                  <a:srgbClr val="FFFFFF"/>
                </a:solidFill>
                <a:latin typeface="Calibri"/>
              </a:rPr>
              <a:t>💻  Pop-up ads on free websites</a:t>
            </a:r>
          </a:p>
        </p:txBody>
      </p:sp>
      <p:sp>
        <p:nvSpPr>
          <p:cNvPr id="6" name="TextBox 5"/>
          <p:cNvSpPr txBox="1"/>
          <p:nvPr/>
        </p:nvSpPr>
        <p:spPr>
          <a:xfrm>
            <a:off x="1371600" y="3822192"/>
            <a:ext cx="9448495" cy="457200"/>
          </a:xfrm>
          <a:prstGeom prst="rect">
            <a:avLst/>
          </a:prstGeom>
          <a:noFill/>
        </p:spPr>
        <p:txBody>
          <a:bodyPr wrap="square">
            <a:spAutoFit/>
          </a:bodyPr>
          <a:lstStyle/>
          <a:p>
            <a:pPr algn="ctr">
              <a:defRPr sz="1800" b="0">
                <a:solidFill>
                  <a:srgbClr val="A855F7"/>
                </a:solidFill>
                <a:latin typeface="Calibri"/>
              </a:defRPr>
            </a:pPr>
            <a:r>
              <a:t>Being aware of where it can appear helps you be prepared if it does.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28</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Parental Controls Are on Your Side</a:t>
            </a:r>
          </a:p>
        </p:txBody>
      </p:sp>
      <p:sp>
        <p:nvSpPr>
          <p:cNvPr id="5" name="TextBox 4"/>
          <p:cNvSpPr txBox="1"/>
          <p:nvPr/>
        </p:nvSpPr>
        <p:spPr>
          <a:xfrm>
            <a:off x="1371600" y="1737360"/>
            <a:ext cx="9448495" cy="731520"/>
          </a:xfrm>
          <a:prstGeom prst="rect">
            <a:avLst/>
          </a:prstGeom>
          <a:noFill/>
        </p:spPr>
        <p:txBody>
          <a:bodyPr wrap="square">
            <a:spAutoFit/>
          </a:bodyPr>
          <a:lstStyle/>
          <a:p>
            <a:pPr algn="ctr">
              <a:defRPr sz="2800" b="0">
                <a:solidFill>
                  <a:srgbClr val="A7A9BE"/>
                </a:solidFill>
                <a:latin typeface="Calibri"/>
              </a:defRPr>
            </a:pPr>
            <a:r>
              <a:t>Elli, the parental controls on your devices are there to help you, not spy on you.</a:t>
            </a:r>
          </a:p>
        </p:txBody>
      </p:sp>
      <p:sp>
        <p:nvSpPr>
          <p:cNvPr id="6" name="TextBox 5"/>
          <p:cNvSpPr txBox="1"/>
          <p:nvPr/>
        </p:nvSpPr>
        <p:spPr>
          <a:xfrm>
            <a:off x="1371600" y="2468880"/>
            <a:ext cx="9448495" cy="4114800"/>
          </a:xfrm>
          <a:prstGeom prst="rect">
            <a:avLst/>
          </a:prstGeom>
          <a:noFill/>
        </p:spPr>
        <p:txBody>
          <a:bodyPr wrap="square">
            <a:spAutoFit/>
          </a:bodyPr>
          <a:lstStyle/>
          <a:p>
            <a:pPr>
              <a:spcBef>
                <a:spcPts val="200"/>
              </a:spcBef>
              <a:spcAft>
                <a:spcPts val="600"/>
              </a:spcAft>
            </a:pPr>
            <a:r>
              <a:rPr sz="2600">
                <a:solidFill>
                  <a:srgbClr val="FFFFFF"/>
                </a:solidFill>
                <a:latin typeface="Calibri"/>
              </a:rPr>
              <a:t>🔒  They filter out content that no kid should have to see</a:t>
            </a:r>
          </a:p>
          <a:p>
            <a:pPr>
              <a:spcBef>
                <a:spcPts val="200"/>
              </a:spcBef>
              <a:spcAft>
                <a:spcPts val="600"/>
              </a:spcAft>
            </a:pPr>
            <a:r>
              <a:rPr sz="2600">
                <a:solidFill>
                  <a:srgbClr val="FFFFFF"/>
                </a:solidFill>
                <a:latin typeface="Calibri"/>
              </a:rPr>
              <a:t>💚  They're like a seatbelt — a safety tool, not a punishment</a:t>
            </a:r>
          </a:p>
          <a:p>
            <a:pPr>
              <a:spcBef>
                <a:spcPts val="200"/>
              </a:spcBef>
              <a:spcAft>
                <a:spcPts val="600"/>
              </a:spcAft>
            </a:pPr>
            <a:r>
              <a:rPr sz="2600">
                <a:solidFill>
                  <a:srgbClr val="FFFFFF"/>
                </a:solidFill>
                <a:latin typeface="Calibri"/>
              </a:rPr>
              <a:t>🤝  As you get older and show responsibility, settings can be adjusted together</a:t>
            </a:r>
          </a:p>
          <a:p>
            <a:pPr>
              <a:spcBef>
                <a:spcPts val="200"/>
              </a:spcBef>
              <a:spcAft>
                <a:spcPts val="600"/>
              </a:spcAft>
            </a:pPr>
            <a:r>
              <a:rPr sz="2600">
                <a:solidFill>
                  <a:srgbClr val="FFFFFF"/>
                </a:solidFill>
                <a:latin typeface="Calibri"/>
              </a:rPr>
              <a:t>🗣️  If a control blocks something you need for school, just ask</a:t>
            </a:r>
          </a:p>
        </p:txBody>
      </p:sp>
      <p:sp>
        <p:nvSpPr>
          <p:cNvPr id="7" name="Rounded Rectangle 6"/>
          <p:cNvSpPr/>
          <p:nvPr/>
        </p:nvSpPr>
        <p:spPr>
          <a:xfrm>
            <a:off x="1371600" y="3858768"/>
            <a:ext cx="9448495" cy="914400"/>
          </a:xfrm>
          <a:prstGeom prst="round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71600" y="3904488"/>
            <a:ext cx="73152" cy="822960"/>
          </a:xfrm>
          <a:prstGeom prst="rect">
            <a:avLst/>
          </a:prstGeom>
          <a:solidFill>
            <a:srgbClr val="2CB6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00200" y="3950208"/>
            <a:ext cx="9082735" cy="274320"/>
          </a:xfrm>
          <a:prstGeom prst="rect">
            <a:avLst/>
          </a:prstGeom>
          <a:noFill/>
        </p:spPr>
        <p:txBody>
          <a:bodyPr wrap="square">
            <a:spAutoFit/>
          </a:bodyPr>
          <a:lstStyle/>
          <a:p>
            <a:pPr algn="l">
              <a:defRPr sz="1200" b="1">
                <a:solidFill>
                  <a:srgbClr val="2CB67D"/>
                </a:solidFill>
                <a:latin typeface="Calibri"/>
              </a:defRPr>
            </a:pPr>
            <a:r>
              <a:t>THE BIG PICTURE</a:t>
            </a:r>
          </a:p>
        </p:txBody>
      </p:sp>
      <p:sp>
        <p:nvSpPr>
          <p:cNvPr id="10" name="TextBox 9"/>
          <p:cNvSpPr txBox="1"/>
          <p:nvPr/>
        </p:nvSpPr>
        <p:spPr>
          <a:xfrm>
            <a:off x="1600200" y="4206240"/>
            <a:ext cx="9082735" cy="457200"/>
          </a:xfrm>
          <a:prstGeom prst="rect">
            <a:avLst/>
          </a:prstGeom>
          <a:noFill/>
        </p:spPr>
        <p:txBody>
          <a:bodyPr wrap="square">
            <a:spAutoFit/>
          </a:bodyPr>
          <a:lstStyle/>
          <a:p>
            <a:pPr algn="l">
              <a:defRPr sz="1800" b="0">
                <a:solidFill>
                  <a:srgbClr val="A7A9BE"/>
                </a:solidFill>
                <a:latin typeface="Calibri"/>
              </a:defRPr>
            </a:pPr>
            <a:r>
              <a:t>We're not trying to control your every move. We're trying to make sure you don't stumble into stuff that could genuinely hurt you. That's our job as parents. 💚</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29</a:t>
            </a:r>
          </a:p>
        </p:txBody>
      </p:sp>
      <p:sp>
        <p:nvSpPr>
          <p:cNvPr id="3" name="Rounded Rectangle 2"/>
          <p:cNvSpPr/>
          <p:nvPr/>
        </p:nvSpPr>
        <p:spPr>
          <a:xfrm>
            <a:off x="1371600" y="1371600"/>
            <a:ext cx="9448495" cy="4114800"/>
          </a:xfrm>
          <a:prstGeom prst="roundRect">
            <a:avLst/>
          </a:prstGeom>
          <a:solidFill>
            <a:srgbClr val="1F1A3E"/>
          </a:solidFill>
          <a:ln w="254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45920" y="1554480"/>
            <a:ext cx="8899855" cy="365760"/>
          </a:xfrm>
          <a:prstGeom prst="rect">
            <a:avLst/>
          </a:prstGeom>
          <a:noFill/>
        </p:spPr>
        <p:txBody>
          <a:bodyPr wrap="square">
            <a:spAutoFit/>
          </a:bodyPr>
          <a:lstStyle/>
          <a:p>
            <a:pPr algn="l">
              <a:defRPr sz="1900" b="1">
                <a:solidFill>
                  <a:srgbClr val="A855F7"/>
                </a:solidFill>
                <a:latin typeface="Calibri"/>
              </a:defRPr>
            </a:pPr>
            <a:r>
              <a:t>💬 DISCUSSION PROMPT</a:t>
            </a:r>
          </a:p>
        </p:txBody>
      </p:sp>
      <p:sp>
        <p:nvSpPr>
          <p:cNvPr id="5" name="TextBox 4"/>
          <p:cNvSpPr txBox="1"/>
          <p:nvPr/>
        </p:nvSpPr>
        <p:spPr>
          <a:xfrm>
            <a:off x="1645920" y="1874520"/>
            <a:ext cx="8899855" cy="3474720"/>
          </a:xfrm>
          <a:prstGeom prst="rect">
            <a:avLst/>
          </a:prstGeom>
          <a:noFill/>
        </p:spPr>
        <p:txBody>
          <a:bodyPr wrap="square">
            <a:spAutoFit/>
          </a:bodyPr>
          <a:lstStyle/>
          <a:p>
            <a:pPr algn="l">
              <a:defRPr sz="2800" b="0">
                <a:solidFill>
                  <a:srgbClr val="FFFFFF"/>
                </a:solidFill>
                <a:latin typeface="Calibri"/>
              </a:defRPr>
            </a:pPr>
            <a:r>
              <a:t>Elli, have you ever encountered anything online that made you uncomfortable? What would you do if an online stranger asked you to keep a secret from us? And remember — if you ever see something explicit, you can always come to us without any judgment.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30</a:t>
            </a:r>
          </a:p>
        </p:txBody>
      </p:sp>
      <p:sp>
        <p:nvSpPr>
          <p:cNvPr id="3" name="TextBox 2"/>
          <p:cNvSpPr txBox="1"/>
          <p:nvPr/>
        </p:nvSpPr>
        <p:spPr>
          <a:xfrm>
            <a:off x="914400" y="914400"/>
            <a:ext cx="10362895" cy="365760"/>
          </a:xfrm>
          <a:prstGeom prst="rect">
            <a:avLst/>
          </a:prstGeom>
          <a:noFill/>
        </p:spPr>
        <p:txBody>
          <a:bodyPr wrap="square">
            <a:spAutoFit/>
          </a:bodyPr>
          <a:lstStyle/>
          <a:p>
            <a:pPr algn="ctr">
              <a:defRPr sz="1400" b="1">
                <a:solidFill>
                  <a:srgbClr val="06B6D4"/>
                </a:solidFill>
                <a:latin typeface="Calibri"/>
              </a:defRPr>
            </a:pPr>
            <a:r>
              <a:t>MODULE 4 — PRIVACY</a:t>
            </a:r>
          </a:p>
        </p:txBody>
      </p:sp>
      <p:sp>
        <p:nvSpPr>
          <p:cNvPr id="4" name="TextBox 3"/>
          <p:cNvSpPr txBox="1"/>
          <p:nvPr/>
        </p:nvSpPr>
        <p:spPr>
          <a:xfrm>
            <a:off x="914400" y="1371600"/>
            <a:ext cx="10362895" cy="914400"/>
          </a:xfrm>
          <a:prstGeom prst="rect">
            <a:avLst/>
          </a:prstGeom>
          <a:noFill/>
        </p:spPr>
        <p:txBody>
          <a:bodyPr wrap="square">
            <a:spAutoFit/>
          </a:bodyPr>
          <a:lstStyle/>
          <a:p>
            <a:pPr algn="ctr">
              <a:defRPr sz="7200" b="0">
                <a:solidFill>
                  <a:srgbClr val="FFFFFF"/>
                </a:solidFill>
                <a:latin typeface="Calibri"/>
              </a:defRPr>
            </a:pPr>
            <a:r>
              <a:t>🔒</a:t>
            </a:r>
          </a:p>
        </p:txBody>
      </p:sp>
      <p:sp>
        <p:nvSpPr>
          <p:cNvPr id="5" name="TextBox 4"/>
          <p:cNvSpPr txBox="1"/>
          <p:nvPr/>
        </p:nvSpPr>
        <p:spPr>
          <a:xfrm>
            <a:off x="914400" y="2377440"/>
            <a:ext cx="10362895" cy="914400"/>
          </a:xfrm>
          <a:prstGeom prst="rect">
            <a:avLst/>
          </a:prstGeom>
          <a:noFill/>
        </p:spPr>
        <p:txBody>
          <a:bodyPr wrap="square">
            <a:spAutoFit/>
          </a:bodyPr>
          <a:lstStyle/>
          <a:p>
            <a:pPr algn="ctr">
              <a:defRPr sz="4800" b="1">
                <a:solidFill>
                  <a:srgbClr val="A855F7"/>
                </a:solidFill>
                <a:latin typeface="Calibri"/>
              </a:defRPr>
            </a:pPr>
            <a:r>
              <a:t>Protecting Your Personal Information</a:t>
            </a:r>
          </a:p>
        </p:txBody>
      </p:sp>
      <p:sp>
        <p:nvSpPr>
          <p:cNvPr id="6" name="TextBox 5"/>
          <p:cNvSpPr txBox="1"/>
          <p:nvPr/>
        </p:nvSpPr>
        <p:spPr>
          <a:xfrm>
            <a:off x="1371600" y="3291840"/>
            <a:ext cx="9448495" cy="1371600"/>
          </a:xfrm>
          <a:prstGeom prst="rect">
            <a:avLst/>
          </a:prstGeom>
          <a:noFill/>
        </p:spPr>
        <p:txBody>
          <a:bodyPr wrap="square">
            <a:spAutoFit/>
          </a:bodyPr>
          <a:lstStyle/>
          <a:p>
            <a:pPr algn="ctr">
              <a:defRPr sz="2600" b="0">
                <a:solidFill>
                  <a:srgbClr val="A7A9BE"/>
                </a:solidFill>
                <a:latin typeface="Calibri"/>
              </a:defRPr>
            </a:pPr>
            <a:r>
              <a:t>Your data is valuable.</a:t>
            </a:r>
            <a:br/>
            <a:r>
              <a:t>Treat it like treasure, Elli.</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31</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What Counts as Personal Info?</a:t>
            </a:r>
          </a:p>
        </p:txBody>
      </p:sp>
      <p:sp>
        <p:nvSpPr>
          <p:cNvPr id="5" name="TextBox 4"/>
          <p:cNvSpPr txBox="1"/>
          <p:nvPr/>
        </p:nvSpPr>
        <p:spPr>
          <a:xfrm>
            <a:off x="1371600" y="1737360"/>
            <a:ext cx="9448495" cy="4114800"/>
          </a:xfrm>
          <a:prstGeom prst="rect">
            <a:avLst/>
          </a:prstGeom>
          <a:noFill/>
        </p:spPr>
        <p:txBody>
          <a:bodyPr wrap="square">
            <a:spAutoFit/>
          </a:bodyPr>
          <a:lstStyle/>
          <a:p>
            <a:pPr>
              <a:spcBef>
                <a:spcPts val="200"/>
              </a:spcBef>
              <a:spcAft>
                <a:spcPts val="600"/>
              </a:spcAft>
            </a:pPr>
            <a:r>
              <a:rPr sz="2600">
                <a:solidFill>
                  <a:srgbClr val="FFFFFF"/>
                </a:solidFill>
                <a:latin typeface="Calibri"/>
              </a:rPr>
              <a:t>👤  Full name, birthday, age</a:t>
            </a:r>
          </a:p>
          <a:p>
            <a:pPr>
              <a:spcBef>
                <a:spcPts val="200"/>
              </a:spcBef>
              <a:spcAft>
                <a:spcPts val="600"/>
              </a:spcAft>
            </a:pPr>
            <a:r>
              <a:rPr sz="2600">
                <a:solidFill>
                  <a:srgbClr val="FFFFFF"/>
                </a:solidFill>
                <a:latin typeface="Calibri"/>
              </a:rPr>
              <a:t>🏠  Address, phone number, email</a:t>
            </a:r>
          </a:p>
          <a:p>
            <a:pPr>
              <a:spcBef>
                <a:spcPts val="200"/>
              </a:spcBef>
              <a:spcAft>
                <a:spcPts val="600"/>
              </a:spcAft>
            </a:pPr>
            <a:r>
              <a:rPr sz="2600">
                <a:solidFill>
                  <a:srgbClr val="FFFFFF"/>
                </a:solidFill>
                <a:latin typeface="Calibri"/>
              </a:rPr>
              <a:t>🏫  School name, team/club names</a:t>
            </a:r>
          </a:p>
          <a:p>
            <a:pPr>
              <a:spcBef>
                <a:spcPts val="200"/>
              </a:spcBef>
              <a:spcAft>
                <a:spcPts val="600"/>
              </a:spcAft>
            </a:pPr>
            <a:r>
              <a:rPr sz="2600">
                <a:solidFill>
                  <a:srgbClr val="FFFFFF"/>
                </a:solidFill>
                <a:latin typeface="Calibri"/>
              </a:rPr>
              <a:t>📸  Photos of yourself, your home, your ID</a:t>
            </a:r>
          </a:p>
          <a:p>
            <a:pPr>
              <a:spcBef>
                <a:spcPts val="200"/>
              </a:spcBef>
              <a:spcAft>
                <a:spcPts val="600"/>
              </a:spcAft>
            </a:pPr>
            <a:r>
              <a:rPr sz="2600">
                <a:solidFill>
                  <a:srgbClr val="FFFFFF"/>
                </a:solidFill>
                <a:latin typeface="Calibri"/>
              </a:rPr>
              <a:t>📍  Location data (where you are right now)</a:t>
            </a:r>
          </a:p>
          <a:p>
            <a:pPr>
              <a:spcBef>
                <a:spcPts val="200"/>
              </a:spcBef>
              <a:spcAft>
                <a:spcPts val="600"/>
              </a:spcAft>
            </a:pPr>
            <a:r>
              <a:rPr sz="2600">
                <a:solidFill>
                  <a:srgbClr val="FFFFFF"/>
                </a:solidFill>
                <a:latin typeface="Calibri"/>
              </a:rPr>
              <a:t>🔑  Passwords, security questions</a:t>
            </a:r>
          </a:p>
          <a:p>
            <a:pPr>
              <a:spcBef>
                <a:spcPts val="200"/>
              </a:spcBef>
              <a:spcAft>
                <a:spcPts val="600"/>
              </a:spcAft>
            </a:pPr>
            <a:r>
              <a:rPr sz="2600">
                <a:solidFill>
                  <a:srgbClr val="FFFFFF"/>
                </a:solidFill>
                <a:latin typeface="Calibri"/>
              </a:rPr>
              <a:t>💳  Financial info (even your parents')</a:t>
            </a:r>
          </a:p>
          <a:p>
            <a:pPr>
              <a:spcBef>
                <a:spcPts val="200"/>
              </a:spcBef>
              <a:spcAft>
                <a:spcPts val="600"/>
              </a:spcAft>
            </a:pPr>
            <a:r>
              <a:rPr sz="2600">
                <a:solidFill>
                  <a:srgbClr val="FFFFFF"/>
                </a:solidFill>
                <a:latin typeface="Calibri"/>
              </a:rPr>
              <a:t>🧬  Health info, family details</a:t>
            </a:r>
          </a:p>
        </p:txBody>
      </p:sp>
      <p:sp>
        <p:nvSpPr>
          <p:cNvPr id="6" name="TextBox 5"/>
          <p:cNvSpPr txBox="1"/>
          <p:nvPr/>
        </p:nvSpPr>
        <p:spPr>
          <a:xfrm>
            <a:off x="1371600" y="4517136"/>
            <a:ext cx="9448495" cy="457200"/>
          </a:xfrm>
          <a:prstGeom prst="rect">
            <a:avLst/>
          </a:prstGeom>
          <a:noFill/>
        </p:spPr>
        <p:txBody>
          <a:bodyPr wrap="square">
            <a:spAutoFit/>
          </a:bodyPr>
          <a:lstStyle/>
          <a:p>
            <a:pPr algn="ctr">
              <a:defRPr sz="1800" b="0">
                <a:solidFill>
                  <a:srgbClr val="A855F7"/>
                </a:solidFill>
                <a:latin typeface="Calibri"/>
              </a:defRPr>
            </a:pPr>
            <a:r>
              <a:t>If it can be used to find you, identify you, or impersonate you — protect it.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32</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Privacy Settings Matter</a:t>
            </a:r>
          </a:p>
        </p:txBody>
      </p:sp>
      <p:sp>
        <p:nvSpPr>
          <p:cNvPr id="5" name="TextBox 4"/>
          <p:cNvSpPr txBox="1"/>
          <p:nvPr/>
        </p:nvSpPr>
        <p:spPr>
          <a:xfrm>
            <a:off x="1371600" y="1737360"/>
            <a:ext cx="9448495" cy="4114800"/>
          </a:xfrm>
          <a:prstGeom prst="rect">
            <a:avLst/>
          </a:prstGeom>
          <a:noFill/>
        </p:spPr>
        <p:txBody>
          <a:bodyPr wrap="square">
            <a:spAutoFit/>
          </a:bodyPr>
          <a:lstStyle/>
          <a:p>
            <a:pPr>
              <a:spcBef>
                <a:spcPts val="200"/>
              </a:spcBef>
              <a:spcAft>
                <a:spcPts val="600"/>
              </a:spcAft>
            </a:pPr>
            <a:r>
              <a:rPr sz="2600">
                <a:solidFill>
                  <a:srgbClr val="FFFFFF"/>
                </a:solidFill>
                <a:latin typeface="Calibri"/>
              </a:rPr>
              <a:t>🔒  Set ALL social media accounts to private</a:t>
            </a:r>
          </a:p>
          <a:p>
            <a:pPr>
              <a:spcBef>
                <a:spcPts val="200"/>
              </a:spcBef>
              <a:spcAft>
                <a:spcPts val="600"/>
              </a:spcAft>
            </a:pPr>
            <a:r>
              <a:rPr sz="2600">
                <a:solidFill>
                  <a:srgbClr val="FFFFFF"/>
                </a:solidFill>
                <a:latin typeface="Calibri"/>
              </a:rPr>
              <a:t>📍  Turn off location sharing in apps (except with family)</a:t>
            </a:r>
          </a:p>
          <a:p>
            <a:pPr>
              <a:spcBef>
                <a:spcPts val="200"/>
              </a:spcBef>
              <a:spcAft>
                <a:spcPts val="600"/>
              </a:spcAft>
            </a:pPr>
            <a:r>
              <a:rPr sz="2600">
                <a:solidFill>
                  <a:srgbClr val="FFFFFF"/>
                </a:solidFill>
                <a:latin typeface="Calibri"/>
              </a:rPr>
              <a:t>📷  Disable camera/microphone access for apps that don't need it</a:t>
            </a:r>
          </a:p>
          <a:p>
            <a:pPr>
              <a:spcBef>
                <a:spcPts val="200"/>
              </a:spcBef>
              <a:spcAft>
                <a:spcPts val="600"/>
              </a:spcAft>
            </a:pPr>
            <a:r>
              <a:rPr sz="2600">
                <a:solidFill>
                  <a:srgbClr val="FFFFFF"/>
                </a:solidFill>
                <a:latin typeface="Calibri"/>
              </a:rPr>
              <a:t>🔍  Google yourself — see what's already out there</a:t>
            </a:r>
          </a:p>
          <a:p>
            <a:pPr>
              <a:spcBef>
                <a:spcPts val="200"/>
              </a:spcBef>
              <a:spcAft>
                <a:spcPts val="600"/>
              </a:spcAft>
            </a:pPr>
            <a:r>
              <a:rPr sz="2600">
                <a:solidFill>
                  <a:srgbClr val="FFFFFF"/>
                </a:solidFill>
                <a:latin typeface="Calibri"/>
              </a:rPr>
              <a:t>📋  Review app permissions regularly</a:t>
            </a:r>
          </a:p>
        </p:txBody>
      </p:sp>
      <p:sp>
        <p:nvSpPr>
          <p:cNvPr id="6" name="Rounded Rectangle 5"/>
          <p:cNvSpPr/>
          <p:nvPr/>
        </p:nvSpPr>
        <p:spPr>
          <a:xfrm>
            <a:off x="1371600" y="3474720"/>
            <a:ext cx="9448495" cy="914400"/>
          </a:xfrm>
          <a:prstGeom prst="round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71600" y="3520440"/>
            <a:ext cx="73152" cy="822960"/>
          </a:xfrm>
          <a:prstGeom prst="rect">
            <a:avLst/>
          </a:prstGeom>
          <a:solidFill>
            <a:srgbClr val="2CB6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00200" y="3566160"/>
            <a:ext cx="9082735" cy="274320"/>
          </a:xfrm>
          <a:prstGeom prst="rect">
            <a:avLst/>
          </a:prstGeom>
          <a:noFill/>
        </p:spPr>
        <p:txBody>
          <a:bodyPr wrap="square">
            <a:spAutoFit/>
          </a:bodyPr>
          <a:lstStyle/>
          <a:p>
            <a:pPr algn="l">
              <a:defRPr sz="1200" b="1">
                <a:solidFill>
                  <a:srgbClr val="2CB67D"/>
                </a:solidFill>
                <a:latin typeface="Calibri"/>
              </a:defRPr>
            </a:pPr>
            <a:r>
              <a:t>PRO TIP</a:t>
            </a:r>
          </a:p>
        </p:txBody>
      </p:sp>
      <p:sp>
        <p:nvSpPr>
          <p:cNvPr id="9" name="TextBox 8"/>
          <p:cNvSpPr txBox="1"/>
          <p:nvPr/>
        </p:nvSpPr>
        <p:spPr>
          <a:xfrm>
            <a:off x="1600200" y="3822192"/>
            <a:ext cx="9082735" cy="457200"/>
          </a:xfrm>
          <a:prstGeom prst="rect">
            <a:avLst/>
          </a:prstGeom>
          <a:noFill/>
        </p:spPr>
        <p:txBody>
          <a:bodyPr wrap="square">
            <a:spAutoFit/>
          </a:bodyPr>
          <a:lstStyle/>
          <a:p>
            <a:pPr algn="l">
              <a:defRPr sz="1800" b="0">
                <a:solidFill>
                  <a:srgbClr val="A7A9BE"/>
                </a:solidFill>
                <a:latin typeface="Calibri"/>
              </a:defRPr>
            </a:pPr>
            <a:r>
              <a:t>When installing a new app, ask: "Does this app REALLY need access to my contacts and location?" If the permissions don't make sense, don't install it.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33</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"Free" Apps Aren't Free</a:t>
            </a:r>
          </a:p>
        </p:txBody>
      </p:sp>
      <p:sp>
        <p:nvSpPr>
          <p:cNvPr id="5" name="TextBox 4"/>
          <p:cNvSpPr txBox="1"/>
          <p:nvPr/>
        </p:nvSpPr>
        <p:spPr>
          <a:xfrm>
            <a:off x="1371600" y="1737360"/>
            <a:ext cx="9448495" cy="731520"/>
          </a:xfrm>
          <a:prstGeom prst="rect">
            <a:avLst/>
          </a:prstGeom>
          <a:noFill/>
        </p:spPr>
        <p:txBody>
          <a:bodyPr wrap="square">
            <a:spAutoFit/>
          </a:bodyPr>
          <a:lstStyle/>
          <a:p>
            <a:pPr algn="ctr">
              <a:defRPr sz="2800" b="0">
                <a:solidFill>
                  <a:srgbClr val="A7A9BE"/>
                </a:solidFill>
                <a:latin typeface="Calibri"/>
              </a:defRPr>
            </a:pPr>
            <a:r>
              <a:t>If you're not paying for the product...</a:t>
            </a:r>
            <a:br/>
            <a:br/>
            <a:r>
              <a:t>YOU are the product.</a:t>
            </a:r>
            <a:br/>
            <a:br/>
            <a:r>
              <a:t>Free apps like TikTok, Pinterest, and YouTube make money by collecting your data and selling it to advertisers. Every tap, scroll, search, and like is tracked and monetized.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34</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Password Hygiene</a:t>
            </a:r>
          </a:p>
        </p:txBody>
      </p:sp>
      <p:sp>
        <p:nvSpPr>
          <p:cNvPr id="5" name="TextBox 4"/>
          <p:cNvSpPr txBox="1"/>
          <p:nvPr/>
        </p:nvSpPr>
        <p:spPr>
          <a:xfrm>
            <a:off x="1371600" y="1737360"/>
            <a:ext cx="9448495" cy="4114800"/>
          </a:xfrm>
          <a:prstGeom prst="rect">
            <a:avLst/>
          </a:prstGeom>
          <a:noFill/>
        </p:spPr>
        <p:txBody>
          <a:bodyPr wrap="square">
            <a:spAutoFit/>
          </a:bodyPr>
          <a:lstStyle/>
          <a:p>
            <a:pPr>
              <a:spcBef>
                <a:spcPts val="200"/>
              </a:spcBef>
              <a:spcAft>
                <a:spcPts val="600"/>
              </a:spcAft>
            </a:pPr>
            <a:r>
              <a:rPr sz="2600">
                <a:solidFill>
                  <a:srgbClr val="FFFFFF"/>
                </a:solidFill>
                <a:latin typeface="Calibri"/>
              </a:rPr>
              <a:t>✅  Use long, unique passwords for every account (12+ characters)</a:t>
            </a:r>
          </a:p>
          <a:p>
            <a:pPr>
              <a:spcBef>
                <a:spcPts val="200"/>
              </a:spcBef>
              <a:spcAft>
                <a:spcPts val="600"/>
              </a:spcAft>
            </a:pPr>
            <a:r>
              <a:rPr sz="2600">
                <a:solidFill>
                  <a:srgbClr val="FFFFFF"/>
                </a:solidFill>
                <a:latin typeface="Calibri"/>
              </a:rPr>
              <a:t>✅  Mix uppercase, lowercase, numbers, and symbols</a:t>
            </a:r>
          </a:p>
          <a:p>
            <a:pPr>
              <a:spcBef>
                <a:spcPts val="200"/>
              </a:spcBef>
              <a:spcAft>
                <a:spcPts val="600"/>
              </a:spcAft>
            </a:pPr>
            <a:r>
              <a:rPr sz="2600">
                <a:solidFill>
                  <a:srgbClr val="FFFFFF"/>
                </a:solidFill>
                <a:latin typeface="Calibri"/>
              </a:rPr>
              <a:t>✅  Use a password manager (ask Mom/Dad to help set one up)</a:t>
            </a:r>
          </a:p>
          <a:p>
            <a:pPr>
              <a:spcBef>
                <a:spcPts val="200"/>
              </a:spcBef>
              <a:spcAft>
                <a:spcPts val="600"/>
              </a:spcAft>
            </a:pPr>
            <a:r>
              <a:rPr sz="2600">
                <a:solidFill>
                  <a:srgbClr val="FFFFFF"/>
                </a:solidFill>
                <a:latin typeface="Calibri"/>
              </a:rPr>
              <a:t>❌  NEVER use your name, birthday, or pet's name</a:t>
            </a:r>
          </a:p>
          <a:p>
            <a:pPr>
              <a:spcBef>
                <a:spcPts val="200"/>
              </a:spcBef>
              <a:spcAft>
                <a:spcPts val="600"/>
              </a:spcAft>
            </a:pPr>
            <a:r>
              <a:rPr sz="2600">
                <a:solidFill>
                  <a:srgbClr val="FFFFFF"/>
                </a:solidFill>
                <a:latin typeface="Calibri"/>
              </a:rPr>
              <a:t>❌  NEVER reuse passwords across sites</a:t>
            </a:r>
          </a:p>
          <a:p>
            <a:pPr>
              <a:spcBef>
                <a:spcPts val="200"/>
              </a:spcBef>
              <a:spcAft>
                <a:spcPts val="600"/>
              </a:spcAft>
            </a:pPr>
            <a:r>
              <a:rPr sz="2600">
                <a:solidFill>
                  <a:srgbClr val="FFFFFF"/>
                </a:solidFill>
                <a:latin typeface="Calibri"/>
              </a:rPr>
              <a:t>❌  NEVER share passwords with friends (even best friends)</a:t>
            </a:r>
          </a:p>
        </p:txBody>
      </p:sp>
      <p:sp>
        <p:nvSpPr>
          <p:cNvPr id="6" name="Rounded Rectangle 5"/>
          <p:cNvSpPr/>
          <p:nvPr/>
        </p:nvSpPr>
        <p:spPr>
          <a:xfrm>
            <a:off x="1371600" y="3822192"/>
            <a:ext cx="9448495" cy="914400"/>
          </a:xfrm>
          <a:prstGeom prst="round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71600" y="3867912"/>
            <a:ext cx="73152" cy="822960"/>
          </a:xfrm>
          <a:prstGeom prst="rect">
            <a:avLst/>
          </a:prstGeom>
          <a:solidFill>
            <a:srgbClr val="2CB6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00200" y="3913632"/>
            <a:ext cx="9082735" cy="274320"/>
          </a:xfrm>
          <a:prstGeom prst="rect">
            <a:avLst/>
          </a:prstGeom>
          <a:noFill/>
        </p:spPr>
        <p:txBody>
          <a:bodyPr wrap="square">
            <a:spAutoFit/>
          </a:bodyPr>
          <a:lstStyle/>
          <a:p>
            <a:pPr algn="l">
              <a:defRPr sz="1200" b="1">
                <a:solidFill>
                  <a:srgbClr val="2CB67D"/>
                </a:solidFill>
                <a:latin typeface="Calibri"/>
              </a:defRPr>
            </a:pPr>
            <a:r>
              <a:t>EASY PASSWORD TRICK</a:t>
            </a:r>
          </a:p>
        </p:txBody>
      </p:sp>
      <p:sp>
        <p:nvSpPr>
          <p:cNvPr id="9" name="TextBox 8"/>
          <p:cNvSpPr txBox="1"/>
          <p:nvPr/>
        </p:nvSpPr>
        <p:spPr>
          <a:xfrm>
            <a:off x="1600200" y="4169664"/>
            <a:ext cx="9082735" cy="457200"/>
          </a:xfrm>
          <a:prstGeom prst="rect">
            <a:avLst/>
          </a:prstGeom>
          <a:noFill/>
        </p:spPr>
        <p:txBody>
          <a:bodyPr wrap="square">
            <a:spAutoFit/>
          </a:bodyPr>
          <a:lstStyle/>
          <a:p>
            <a:pPr algn="l">
              <a:defRPr sz="1800" b="0">
                <a:solidFill>
                  <a:srgbClr val="A7A9BE"/>
                </a:solidFill>
                <a:latin typeface="Calibri"/>
              </a:defRPr>
            </a:pPr>
            <a:r>
              <a:t>Think of a sentence: "My cat Luna loves 3 treats at bedtime!" → McLl3t@b! — long, random, and easy for YOU to remember.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35</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Your Digital Footprint</a:t>
            </a:r>
          </a:p>
        </p:txBody>
      </p:sp>
      <p:sp>
        <p:nvSpPr>
          <p:cNvPr id="5" name="TextBox 4"/>
          <p:cNvSpPr txBox="1"/>
          <p:nvPr/>
        </p:nvSpPr>
        <p:spPr>
          <a:xfrm>
            <a:off x="1371600" y="1737360"/>
            <a:ext cx="9448495" cy="731520"/>
          </a:xfrm>
          <a:prstGeom prst="rect">
            <a:avLst/>
          </a:prstGeom>
          <a:noFill/>
        </p:spPr>
        <p:txBody>
          <a:bodyPr wrap="square">
            <a:spAutoFit/>
          </a:bodyPr>
          <a:lstStyle/>
          <a:p>
            <a:pPr algn="ctr">
              <a:defRPr sz="2800" b="0">
                <a:solidFill>
                  <a:srgbClr val="A7A9BE"/>
                </a:solidFill>
                <a:latin typeface="Calibri"/>
              </a:defRPr>
            </a:pPr>
            <a:r>
              <a:t>Everything you post, like, comment, search for, or share online creates a permanent trail.</a:t>
            </a:r>
          </a:p>
        </p:txBody>
      </p:sp>
      <p:sp>
        <p:nvSpPr>
          <p:cNvPr id="6" name="TextBox 5"/>
          <p:cNvSpPr txBox="1"/>
          <p:nvPr/>
        </p:nvSpPr>
        <p:spPr>
          <a:xfrm>
            <a:off x="1371600" y="2468880"/>
            <a:ext cx="9448495" cy="4114800"/>
          </a:xfrm>
          <a:prstGeom prst="rect">
            <a:avLst/>
          </a:prstGeom>
          <a:noFill/>
        </p:spPr>
        <p:txBody>
          <a:bodyPr wrap="square">
            <a:spAutoFit/>
          </a:bodyPr>
          <a:lstStyle/>
          <a:p>
            <a:pPr>
              <a:spcBef>
                <a:spcPts val="200"/>
              </a:spcBef>
              <a:spcAft>
                <a:spcPts val="600"/>
              </a:spcAft>
            </a:pPr>
            <a:r>
              <a:rPr sz="2600">
                <a:solidFill>
                  <a:srgbClr val="FFFFFF"/>
                </a:solidFill>
                <a:latin typeface="Calibri"/>
              </a:rPr>
              <a:t>🏫  College admissions officers check social media</a:t>
            </a:r>
          </a:p>
          <a:p>
            <a:pPr>
              <a:spcBef>
                <a:spcPts val="200"/>
              </a:spcBef>
              <a:spcAft>
                <a:spcPts val="600"/>
              </a:spcAft>
            </a:pPr>
            <a:r>
              <a:rPr sz="2600">
                <a:solidFill>
                  <a:srgbClr val="FFFFFF"/>
                </a:solidFill>
                <a:latin typeface="Calibri"/>
              </a:rPr>
              <a:t>💼  Future employers will Google you</a:t>
            </a:r>
          </a:p>
          <a:p>
            <a:pPr>
              <a:spcBef>
                <a:spcPts val="200"/>
              </a:spcBef>
              <a:spcAft>
                <a:spcPts val="600"/>
              </a:spcAft>
            </a:pPr>
            <a:r>
              <a:rPr sz="2600">
                <a:solidFill>
                  <a:srgbClr val="FFFFFF"/>
                </a:solidFill>
                <a:latin typeface="Calibri"/>
              </a:rPr>
              <a:t>📸  Screenshots mean deleted posts aren't really deleted</a:t>
            </a:r>
          </a:p>
          <a:p>
            <a:pPr>
              <a:spcBef>
                <a:spcPts val="200"/>
              </a:spcBef>
              <a:spcAft>
                <a:spcPts val="600"/>
              </a:spcAft>
            </a:pPr>
            <a:r>
              <a:rPr sz="2600">
                <a:solidFill>
                  <a:srgbClr val="FFFFFF"/>
                </a:solidFill>
                <a:latin typeface="Calibri"/>
              </a:rPr>
              <a:t>⏰  Something you post at 13 can follow you at 30</a:t>
            </a:r>
          </a:p>
        </p:txBody>
      </p:sp>
      <p:sp>
        <p:nvSpPr>
          <p:cNvPr id="7" name="TextBox 6"/>
          <p:cNvSpPr txBox="1"/>
          <p:nvPr/>
        </p:nvSpPr>
        <p:spPr>
          <a:xfrm>
            <a:off x="1371600" y="3858768"/>
            <a:ext cx="9448495" cy="457200"/>
          </a:xfrm>
          <a:prstGeom prst="rect">
            <a:avLst/>
          </a:prstGeom>
          <a:noFill/>
        </p:spPr>
        <p:txBody>
          <a:bodyPr wrap="square">
            <a:spAutoFit/>
          </a:bodyPr>
          <a:lstStyle/>
          <a:p>
            <a:pPr algn="ctr">
              <a:defRPr sz="1800" b="0">
                <a:solidFill>
                  <a:srgbClr val="A855F7"/>
                </a:solidFill>
                <a:latin typeface="Calibri"/>
              </a:defRPr>
            </a:pPr>
            <a:r>
              <a:t>The internet never forgets, Elli.</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36</a:t>
            </a:r>
          </a:p>
        </p:txBody>
      </p:sp>
      <p:sp>
        <p:nvSpPr>
          <p:cNvPr id="3" name="Rounded Rectangle 2"/>
          <p:cNvSpPr/>
          <p:nvPr/>
        </p:nvSpPr>
        <p:spPr>
          <a:xfrm>
            <a:off x="1371600" y="1371600"/>
            <a:ext cx="9448495" cy="4114800"/>
          </a:xfrm>
          <a:prstGeom prst="roundRect">
            <a:avLst/>
          </a:prstGeom>
          <a:solidFill>
            <a:srgbClr val="1F1A3E"/>
          </a:solidFill>
          <a:ln w="254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45920" y="1554480"/>
            <a:ext cx="8899855" cy="365760"/>
          </a:xfrm>
          <a:prstGeom prst="rect">
            <a:avLst/>
          </a:prstGeom>
          <a:noFill/>
        </p:spPr>
        <p:txBody>
          <a:bodyPr wrap="square">
            <a:spAutoFit/>
          </a:bodyPr>
          <a:lstStyle/>
          <a:p>
            <a:pPr algn="l">
              <a:defRPr sz="1900" b="1">
                <a:solidFill>
                  <a:srgbClr val="A855F7"/>
                </a:solidFill>
                <a:latin typeface="Calibri"/>
              </a:defRPr>
            </a:pPr>
            <a:r>
              <a:t>💬 DISCUSSION PROMPT</a:t>
            </a:r>
          </a:p>
        </p:txBody>
      </p:sp>
      <p:sp>
        <p:nvSpPr>
          <p:cNvPr id="5" name="TextBox 4"/>
          <p:cNvSpPr txBox="1"/>
          <p:nvPr/>
        </p:nvSpPr>
        <p:spPr>
          <a:xfrm>
            <a:off x="1645920" y="1874520"/>
            <a:ext cx="8899855" cy="3474720"/>
          </a:xfrm>
          <a:prstGeom prst="rect">
            <a:avLst/>
          </a:prstGeom>
          <a:noFill/>
        </p:spPr>
        <p:txBody>
          <a:bodyPr wrap="square">
            <a:spAutoFit/>
          </a:bodyPr>
          <a:lstStyle/>
          <a:p>
            <a:pPr algn="l">
              <a:defRPr sz="2800" b="0">
                <a:solidFill>
                  <a:srgbClr val="FFFFFF"/>
                </a:solidFill>
                <a:latin typeface="Calibri"/>
              </a:defRPr>
            </a:pPr>
            <a:r>
              <a:t>What's one thing you didn't realize counted as 'personal information' before today? How will you decide which apps to give permissions to?</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37</a:t>
            </a:r>
          </a:p>
        </p:txBody>
      </p:sp>
      <p:sp>
        <p:nvSpPr>
          <p:cNvPr id="3" name="TextBox 2"/>
          <p:cNvSpPr txBox="1"/>
          <p:nvPr/>
        </p:nvSpPr>
        <p:spPr>
          <a:xfrm>
            <a:off x="914400" y="914400"/>
            <a:ext cx="10362895" cy="365760"/>
          </a:xfrm>
          <a:prstGeom prst="rect">
            <a:avLst/>
          </a:prstGeom>
          <a:noFill/>
        </p:spPr>
        <p:txBody>
          <a:bodyPr wrap="square">
            <a:spAutoFit/>
          </a:bodyPr>
          <a:lstStyle/>
          <a:p>
            <a:pPr algn="ctr">
              <a:defRPr sz="1400" b="1">
                <a:solidFill>
                  <a:srgbClr val="06B6D4"/>
                </a:solidFill>
                <a:latin typeface="Calibri"/>
              </a:defRPr>
            </a:pPr>
            <a:r>
              <a:t>MODULE 5 — MENTAL HEALTH</a:t>
            </a:r>
          </a:p>
        </p:txBody>
      </p:sp>
      <p:sp>
        <p:nvSpPr>
          <p:cNvPr id="4" name="TextBox 3"/>
          <p:cNvSpPr txBox="1"/>
          <p:nvPr/>
        </p:nvSpPr>
        <p:spPr>
          <a:xfrm>
            <a:off x="914400" y="1371600"/>
            <a:ext cx="10362895" cy="914400"/>
          </a:xfrm>
          <a:prstGeom prst="rect">
            <a:avLst/>
          </a:prstGeom>
          <a:noFill/>
        </p:spPr>
        <p:txBody>
          <a:bodyPr wrap="square">
            <a:spAutoFit/>
          </a:bodyPr>
          <a:lstStyle/>
          <a:p>
            <a:pPr algn="ctr">
              <a:defRPr sz="7200" b="0">
                <a:solidFill>
                  <a:srgbClr val="FFFFFF"/>
                </a:solidFill>
                <a:latin typeface="Calibri"/>
              </a:defRPr>
            </a:pPr>
            <a:r>
              <a:t>🧠</a:t>
            </a:r>
          </a:p>
        </p:txBody>
      </p:sp>
      <p:sp>
        <p:nvSpPr>
          <p:cNvPr id="5" name="TextBox 4"/>
          <p:cNvSpPr txBox="1"/>
          <p:nvPr/>
        </p:nvSpPr>
        <p:spPr>
          <a:xfrm>
            <a:off x="914400" y="2377440"/>
            <a:ext cx="10362895" cy="914400"/>
          </a:xfrm>
          <a:prstGeom prst="rect">
            <a:avLst/>
          </a:prstGeom>
          <a:noFill/>
        </p:spPr>
        <p:txBody>
          <a:bodyPr wrap="square">
            <a:spAutoFit/>
          </a:bodyPr>
          <a:lstStyle/>
          <a:p>
            <a:pPr algn="ctr">
              <a:defRPr sz="4800" b="1">
                <a:solidFill>
                  <a:srgbClr val="A855F7"/>
                </a:solidFill>
                <a:latin typeface="Calibri"/>
              </a:defRPr>
            </a:pPr>
            <a:r>
              <a:t>Protecting Your Mental Health</a:t>
            </a:r>
          </a:p>
        </p:txBody>
      </p:sp>
      <p:sp>
        <p:nvSpPr>
          <p:cNvPr id="6" name="TextBox 5"/>
          <p:cNvSpPr txBox="1"/>
          <p:nvPr/>
        </p:nvSpPr>
        <p:spPr>
          <a:xfrm>
            <a:off x="1371600" y="3291840"/>
            <a:ext cx="9448495" cy="1371600"/>
          </a:xfrm>
          <a:prstGeom prst="rect">
            <a:avLst/>
          </a:prstGeom>
          <a:noFill/>
        </p:spPr>
        <p:txBody>
          <a:bodyPr wrap="square">
            <a:spAutoFit/>
          </a:bodyPr>
          <a:lstStyle/>
          <a:p>
            <a:pPr algn="ctr">
              <a:defRPr sz="2600" b="0">
                <a:solidFill>
                  <a:srgbClr val="A7A9BE"/>
                </a:solidFill>
                <a:latin typeface="Calibri"/>
              </a:defRPr>
            </a:pPr>
            <a:r>
              <a:t>Your phone should make your life better.</a:t>
            </a:r>
            <a:br/>
            <a:r>
              <a:t>If it's not, something needs to change.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38</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The Comparison Trap</a:t>
            </a:r>
          </a:p>
        </p:txBody>
      </p:sp>
      <p:sp>
        <p:nvSpPr>
          <p:cNvPr id="5" name="TextBox 4"/>
          <p:cNvSpPr txBox="1"/>
          <p:nvPr/>
        </p:nvSpPr>
        <p:spPr>
          <a:xfrm>
            <a:off x="1371600" y="1737360"/>
            <a:ext cx="9448495" cy="731520"/>
          </a:xfrm>
          <a:prstGeom prst="rect">
            <a:avLst/>
          </a:prstGeom>
          <a:noFill/>
        </p:spPr>
        <p:txBody>
          <a:bodyPr wrap="square">
            <a:spAutoFit/>
          </a:bodyPr>
          <a:lstStyle/>
          <a:p>
            <a:pPr algn="ctr">
              <a:defRPr sz="2800" b="0">
                <a:solidFill>
                  <a:srgbClr val="A7A9BE"/>
                </a:solidFill>
                <a:latin typeface="Calibri"/>
              </a:defRPr>
            </a:pPr>
            <a:r>
              <a:t>What you see on social media is a highlight reel, not real life.</a:t>
            </a:r>
          </a:p>
        </p:txBody>
      </p:sp>
      <p:sp>
        <p:nvSpPr>
          <p:cNvPr id="6" name="TextBox 5"/>
          <p:cNvSpPr txBox="1"/>
          <p:nvPr/>
        </p:nvSpPr>
        <p:spPr>
          <a:xfrm>
            <a:off x="1371600" y="2468880"/>
            <a:ext cx="9448495" cy="4114800"/>
          </a:xfrm>
          <a:prstGeom prst="rect">
            <a:avLst/>
          </a:prstGeom>
          <a:noFill/>
        </p:spPr>
        <p:txBody>
          <a:bodyPr wrap="square">
            <a:spAutoFit/>
          </a:bodyPr>
          <a:lstStyle/>
          <a:p>
            <a:pPr>
              <a:spcBef>
                <a:spcPts val="200"/>
              </a:spcBef>
              <a:spcAft>
                <a:spcPts val="600"/>
              </a:spcAft>
            </a:pPr>
            <a:r>
              <a:rPr sz="2600">
                <a:solidFill>
                  <a:srgbClr val="FFFFFF"/>
                </a:solidFill>
                <a:latin typeface="Calibri"/>
              </a:rPr>
              <a:t>📸  People post their best moments, not their bad days</a:t>
            </a:r>
          </a:p>
          <a:p>
            <a:pPr>
              <a:spcBef>
                <a:spcPts val="200"/>
              </a:spcBef>
              <a:spcAft>
                <a:spcPts val="600"/>
              </a:spcAft>
            </a:pPr>
            <a:r>
              <a:rPr sz="2600">
                <a:solidFill>
                  <a:srgbClr val="FFFFFF"/>
                </a:solidFill>
                <a:latin typeface="Calibri"/>
              </a:rPr>
              <a:t>✨  Filters, editing, and staging make everything look perfect</a:t>
            </a:r>
          </a:p>
          <a:p>
            <a:pPr>
              <a:spcBef>
                <a:spcPts val="200"/>
              </a:spcBef>
              <a:spcAft>
                <a:spcPts val="600"/>
              </a:spcAft>
            </a:pPr>
            <a:r>
              <a:rPr sz="2600">
                <a:solidFill>
                  <a:srgbClr val="FFFFFF"/>
                </a:solidFill>
                <a:latin typeface="Calibri"/>
              </a:rPr>
              <a:t>🎭  Even influencers have acne, bad hair days, and insecurities</a:t>
            </a:r>
          </a:p>
          <a:p>
            <a:pPr>
              <a:spcBef>
                <a:spcPts val="200"/>
              </a:spcBef>
              <a:spcAft>
                <a:spcPts val="600"/>
              </a:spcAft>
            </a:pPr>
            <a:r>
              <a:rPr sz="2600">
                <a:solidFill>
                  <a:srgbClr val="FFFFFF"/>
                </a:solidFill>
                <a:latin typeface="Calibri"/>
              </a:rPr>
              <a:t>💔  Comparing your behind-the-scenes to someone else's highlight reel is unfair to YOU</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39</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A Note About Pinterest</a:t>
            </a:r>
          </a:p>
        </p:txBody>
      </p:sp>
      <p:sp>
        <p:nvSpPr>
          <p:cNvPr id="5" name="TextBox 4"/>
          <p:cNvSpPr txBox="1"/>
          <p:nvPr/>
        </p:nvSpPr>
        <p:spPr>
          <a:xfrm>
            <a:off x="1371600" y="1737360"/>
            <a:ext cx="9448495" cy="731520"/>
          </a:xfrm>
          <a:prstGeom prst="rect">
            <a:avLst/>
          </a:prstGeom>
          <a:noFill/>
        </p:spPr>
        <p:txBody>
          <a:bodyPr wrap="square">
            <a:spAutoFit/>
          </a:bodyPr>
          <a:lstStyle/>
          <a:p>
            <a:pPr algn="ctr">
              <a:defRPr sz="2800" b="0">
                <a:solidFill>
                  <a:srgbClr val="A7A9BE"/>
                </a:solidFill>
                <a:latin typeface="Calibri"/>
              </a:defRPr>
            </a:pPr>
            <a:r>
              <a:t>Pinterest is generally a great app for inspiration and creativity, Elli. But there's a flip side:</a:t>
            </a:r>
          </a:p>
        </p:txBody>
      </p:sp>
      <p:sp>
        <p:nvSpPr>
          <p:cNvPr id="6" name="TextBox 5"/>
          <p:cNvSpPr txBox="1"/>
          <p:nvPr/>
        </p:nvSpPr>
        <p:spPr>
          <a:xfrm>
            <a:off x="1371600" y="2468880"/>
            <a:ext cx="9448495" cy="4114800"/>
          </a:xfrm>
          <a:prstGeom prst="rect">
            <a:avLst/>
          </a:prstGeom>
          <a:noFill/>
        </p:spPr>
        <p:txBody>
          <a:bodyPr wrap="square">
            <a:spAutoFit/>
          </a:bodyPr>
          <a:lstStyle/>
          <a:p>
            <a:pPr>
              <a:spcBef>
                <a:spcPts val="200"/>
              </a:spcBef>
              <a:spcAft>
                <a:spcPts val="600"/>
              </a:spcAft>
            </a:pPr>
            <a:r>
              <a:rPr sz="2600">
                <a:solidFill>
                  <a:srgbClr val="FFFFFF"/>
                </a:solidFill>
                <a:latin typeface="Calibri"/>
              </a:rPr>
              <a:t>🪞  Boards full of "perfect" bodies, rooms, outfits can create unrealistic standards</a:t>
            </a:r>
          </a:p>
          <a:p>
            <a:pPr>
              <a:spcBef>
                <a:spcPts val="200"/>
              </a:spcBef>
              <a:spcAft>
                <a:spcPts val="600"/>
              </a:spcAft>
            </a:pPr>
            <a:r>
              <a:rPr sz="2600">
                <a:solidFill>
                  <a:srgbClr val="FFFFFF"/>
                </a:solidFill>
                <a:latin typeface="Calibri"/>
              </a:rPr>
              <a:t>📊  The more you save certain types of content, the more it shows you — this can spiral</a:t>
            </a:r>
          </a:p>
          <a:p>
            <a:pPr>
              <a:spcBef>
                <a:spcPts val="200"/>
              </a:spcBef>
              <a:spcAft>
                <a:spcPts val="600"/>
              </a:spcAft>
            </a:pPr>
            <a:r>
              <a:rPr sz="2600">
                <a:solidFill>
                  <a:srgbClr val="FFFFFF"/>
                </a:solidFill>
                <a:latin typeface="Calibri"/>
              </a:rPr>
              <a:t>💚  Curate intentionally — fill your boards with things that inspire YOU</a:t>
            </a:r>
          </a:p>
          <a:p>
            <a:pPr>
              <a:spcBef>
                <a:spcPts val="200"/>
              </a:spcBef>
              <a:spcAft>
                <a:spcPts val="600"/>
              </a:spcAft>
            </a:pPr>
            <a:r>
              <a:rPr sz="2600">
                <a:solidFill>
                  <a:srgbClr val="FFFFFF"/>
                </a:solidFill>
                <a:latin typeface="Calibri"/>
              </a:rPr>
              <a:t>🎨  Use it for creative projects, book ideas, art inspiration — that's where Pinterest shines!</a:t>
            </a:r>
          </a:p>
        </p:txBody>
      </p:sp>
      <p:sp>
        <p:nvSpPr>
          <p:cNvPr id="7" name="Rounded Rectangle 6"/>
          <p:cNvSpPr/>
          <p:nvPr/>
        </p:nvSpPr>
        <p:spPr>
          <a:xfrm>
            <a:off x="1371600" y="3858768"/>
            <a:ext cx="9448495" cy="914400"/>
          </a:xfrm>
          <a:prstGeom prst="round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71600" y="3904488"/>
            <a:ext cx="73152" cy="822960"/>
          </a:xfrm>
          <a:prstGeom prst="rect">
            <a:avLst/>
          </a:prstGeom>
          <a:solidFill>
            <a:srgbClr val="2CB6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00200" y="3950208"/>
            <a:ext cx="9082735" cy="274320"/>
          </a:xfrm>
          <a:prstGeom prst="rect">
            <a:avLst/>
          </a:prstGeom>
          <a:noFill/>
        </p:spPr>
        <p:txBody>
          <a:bodyPr wrap="square">
            <a:spAutoFit/>
          </a:bodyPr>
          <a:lstStyle/>
          <a:p>
            <a:pPr algn="l">
              <a:defRPr sz="1200" b="1">
                <a:solidFill>
                  <a:srgbClr val="2CB67D"/>
                </a:solidFill>
                <a:latin typeface="Calibri"/>
              </a:defRPr>
            </a:pPr>
            <a:r>
              <a:t>HEALTHY PINTEREST HABIT</a:t>
            </a:r>
          </a:p>
        </p:txBody>
      </p:sp>
      <p:sp>
        <p:nvSpPr>
          <p:cNvPr id="10" name="TextBox 9"/>
          <p:cNvSpPr txBox="1"/>
          <p:nvPr/>
        </p:nvSpPr>
        <p:spPr>
          <a:xfrm>
            <a:off x="1600200" y="4206240"/>
            <a:ext cx="9082735" cy="457200"/>
          </a:xfrm>
          <a:prstGeom prst="rect">
            <a:avLst/>
          </a:prstGeom>
          <a:noFill/>
        </p:spPr>
        <p:txBody>
          <a:bodyPr wrap="square">
            <a:spAutoFit/>
          </a:bodyPr>
          <a:lstStyle/>
          <a:p>
            <a:pPr algn="l">
              <a:defRPr sz="1800" b="0">
                <a:solidFill>
                  <a:srgbClr val="A7A9BE"/>
                </a:solidFill>
                <a:latin typeface="Calibri"/>
              </a:defRPr>
            </a:pPr>
            <a:r>
              <a:t>If you notice you're feeling bad about yourself after scrolling Pinterest, that's a sign to curate your boards differently. Pin content that sparks JOY and creativity.</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40</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AI Face Filters — The Fun Lie</a:t>
            </a:r>
          </a:p>
        </p:txBody>
      </p:sp>
      <p:sp>
        <p:nvSpPr>
          <p:cNvPr id="5" name="TextBox 4"/>
          <p:cNvSpPr txBox="1"/>
          <p:nvPr/>
        </p:nvSpPr>
        <p:spPr>
          <a:xfrm>
            <a:off x="1371600" y="1737360"/>
            <a:ext cx="9448495" cy="731520"/>
          </a:xfrm>
          <a:prstGeom prst="rect">
            <a:avLst/>
          </a:prstGeom>
          <a:noFill/>
        </p:spPr>
        <p:txBody>
          <a:bodyPr wrap="square">
            <a:spAutoFit/>
          </a:bodyPr>
          <a:lstStyle/>
          <a:p>
            <a:pPr algn="ctr">
              <a:defRPr sz="2800" b="0">
                <a:solidFill>
                  <a:srgbClr val="A7A9BE"/>
                </a:solidFill>
                <a:latin typeface="Calibri"/>
              </a:defRPr>
            </a:pPr>
            <a:r>
              <a:t>Filters that change your face are everywhere. Fun — but they can mess with how you see yourself.</a:t>
            </a:r>
          </a:p>
        </p:txBody>
      </p:sp>
      <p:sp>
        <p:nvSpPr>
          <p:cNvPr id="6" name="TextBox 5"/>
          <p:cNvSpPr txBox="1"/>
          <p:nvPr/>
        </p:nvSpPr>
        <p:spPr>
          <a:xfrm>
            <a:off x="1371600" y="2468880"/>
            <a:ext cx="9448495" cy="4114800"/>
          </a:xfrm>
          <a:prstGeom prst="rect">
            <a:avLst/>
          </a:prstGeom>
          <a:noFill/>
        </p:spPr>
        <p:txBody>
          <a:bodyPr wrap="square">
            <a:spAutoFit/>
          </a:bodyPr>
          <a:lstStyle/>
          <a:p>
            <a:pPr>
              <a:spcBef>
                <a:spcPts val="200"/>
              </a:spcBef>
              <a:spcAft>
                <a:spcPts val="600"/>
              </a:spcAft>
            </a:pPr>
            <a:r>
              <a:rPr sz="2600">
                <a:solidFill>
                  <a:srgbClr val="FFFFFF"/>
                </a:solidFill>
                <a:latin typeface="Calibri"/>
              </a:rPr>
              <a:t>📸  TikTok, Snapchat, and Instagram filters change how you look in real-time</a:t>
            </a:r>
          </a:p>
          <a:p>
            <a:pPr>
              <a:spcBef>
                <a:spcPts val="200"/>
              </a:spcBef>
              <a:spcAft>
                <a:spcPts val="600"/>
              </a:spcAft>
            </a:pPr>
            <a:r>
              <a:rPr sz="2600">
                <a:solidFill>
                  <a:srgbClr val="FFFFFF"/>
                </a:solidFill>
                <a:latin typeface="Calibri"/>
              </a:rPr>
              <a:t>🧠  Using them constantly can make your REAL face feel "wrong" — called "Snapchat dysmorphia"</a:t>
            </a:r>
          </a:p>
          <a:p>
            <a:pPr>
              <a:spcBef>
                <a:spcPts val="200"/>
              </a:spcBef>
              <a:spcAft>
                <a:spcPts val="600"/>
              </a:spcAft>
            </a:pPr>
            <a:r>
              <a:rPr sz="2600">
                <a:solidFill>
                  <a:srgbClr val="FFFFFF"/>
                </a:solidFill>
                <a:latin typeface="Calibri"/>
              </a:rPr>
              <a:t>🪞  You start comparing yourself to a filtered version of YOU that doesn't exist</a:t>
            </a:r>
          </a:p>
          <a:p>
            <a:pPr>
              <a:spcBef>
                <a:spcPts val="200"/>
              </a:spcBef>
              <a:spcAft>
                <a:spcPts val="600"/>
              </a:spcAft>
            </a:pPr>
            <a:r>
              <a:rPr sz="2600">
                <a:solidFill>
                  <a:srgbClr val="FFFFFF"/>
                </a:solidFill>
                <a:latin typeface="Calibri"/>
              </a:rPr>
              <a:t>💔  Some filters make you look older, thinner, or more "perfect" — that's not enhancement, it's erasure</a:t>
            </a:r>
          </a:p>
          <a:p>
            <a:pPr>
              <a:spcBef>
                <a:spcPts val="200"/>
              </a:spcBef>
              <a:spcAft>
                <a:spcPts val="600"/>
              </a:spcAft>
            </a:pPr>
            <a:r>
              <a:rPr sz="2600">
                <a:solidFill>
                  <a:srgbClr val="FFFFFF"/>
                </a:solidFill>
                <a:latin typeface="Calibri"/>
              </a:rPr>
              <a:t>😄  Silly/fun filters (dog ears, rainbow vomit)? Go for it!</a:t>
            </a:r>
          </a:p>
          <a:p>
            <a:pPr>
              <a:spcBef>
                <a:spcPts val="200"/>
              </a:spcBef>
              <a:spcAft>
                <a:spcPts val="600"/>
              </a:spcAft>
            </a:pPr>
            <a:r>
              <a:rPr sz="2600">
                <a:solidFill>
                  <a:srgbClr val="FFFFFF"/>
                </a:solidFill>
                <a:latin typeface="Calibri"/>
              </a:rPr>
              <a:t>⚠️  Filters that change your actual features? Be careful how often you use them</a:t>
            </a:r>
          </a:p>
          <a:p>
            <a:pPr>
              <a:spcBef>
                <a:spcPts val="200"/>
              </a:spcBef>
              <a:spcAft>
                <a:spcPts val="600"/>
              </a:spcAft>
            </a:pPr>
            <a:r>
              <a:rPr sz="2600">
                <a:solidFill>
                  <a:srgbClr val="FFFFFF"/>
                </a:solidFill>
                <a:latin typeface="Calibri"/>
              </a:rPr>
              <a:t>❤️  If you feel "worse" without a filter — that's the filter's damage, not your face</a:t>
            </a:r>
          </a:p>
        </p:txBody>
      </p:sp>
      <p:sp>
        <p:nvSpPr>
          <p:cNvPr id="7" name="TextBox 6"/>
          <p:cNvSpPr txBox="1"/>
          <p:nvPr/>
        </p:nvSpPr>
        <p:spPr>
          <a:xfrm>
            <a:off x="1371600" y="4901184"/>
            <a:ext cx="9448495" cy="457200"/>
          </a:xfrm>
          <a:prstGeom prst="rect">
            <a:avLst/>
          </a:prstGeom>
          <a:noFill/>
        </p:spPr>
        <p:txBody>
          <a:bodyPr wrap="square">
            <a:spAutoFit/>
          </a:bodyPr>
          <a:lstStyle/>
          <a:p>
            <a:pPr algn="ctr">
              <a:defRPr sz="1800" b="0">
                <a:solidFill>
                  <a:srgbClr val="A855F7"/>
                </a:solidFill>
                <a:latin typeface="Calibri"/>
              </a:defRPr>
            </a:pPr>
            <a:r>
              <a:t>"Your real face is the one people love, Elli."</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41</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FOMO — Fear of Missing Out</a:t>
            </a:r>
          </a:p>
        </p:txBody>
      </p:sp>
      <p:sp>
        <p:nvSpPr>
          <p:cNvPr id="5" name="TextBox 4"/>
          <p:cNvSpPr txBox="1"/>
          <p:nvPr/>
        </p:nvSpPr>
        <p:spPr>
          <a:xfrm>
            <a:off x="1371600" y="1737360"/>
            <a:ext cx="9448495" cy="731520"/>
          </a:xfrm>
          <a:prstGeom prst="rect">
            <a:avLst/>
          </a:prstGeom>
          <a:noFill/>
        </p:spPr>
        <p:txBody>
          <a:bodyPr wrap="square">
            <a:spAutoFit/>
          </a:bodyPr>
          <a:lstStyle/>
          <a:p>
            <a:pPr algn="ctr">
              <a:defRPr sz="2800" b="0">
                <a:solidFill>
                  <a:srgbClr val="A7A9BE"/>
                </a:solidFill>
                <a:latin typeface="Calibri"/>
              </a:defRPr>
            </a:pPr>
            <a:r>
              <a:t>That sinking feeling when everyone seems to be having fun without you.</a:t>
            </a:r>
          </a:p>
        </p:txBody>
      </p:sp>
      <p:sp>
        <p:nvSpPr>
          <p:cNvPr id="6" name="TextBox 5"/>
          <p:cNvSpPr txBox="1"/>
          <p:nvPr/>
        </p:nvSpPr>
        <p:spPr>
          <a:xfrm>
            <a:off x="1371600" y="2468880"/>
            <a:ext cx="9448495" cy="4114800"/>
          </a:xfrm>
          <a:prstGeom prst="rect">
            <a:avLst/>
          </a:prstGeom>
          <a:noFill/>
        </p:spPr>
        <p:txBody>
          <a:bodyPr wrap="square">
            <a:spAutoFit/>
          </a:bodyPr>
          <a:lstStyle/>
          <a:p>
            <a:pPr>
              <a:spcBef>
                <a:spcPts val="200"/>
              </a:spcBef>
              <a:spcAft>
                <a:spcPts val="600"/>
              </a:spcAft>
            </a:pPr>
            <a:r>
              <a:rPr sz="2600">
                <a:solidFill>
                  <a:srgbClr val="FFFFFF"/>
                </a:solidFill>
                <a:latin typeface="Calibri"/>
              </a:rPr>
              <a:t>📱  Seeing friends hang out without you on Snapchat or TikTok</a:t>
            </a:r>
          </a:p>
          <a:p>
            <a:pPr>
              <a:spcBef>
                <a:spcPts val="200"/>
              </a:spcBef>
              <a:spcAft>
                <a:spcPts val="600"/>
              </a:spcAft>
            </a:pPr>
            <a:r>
              <a:rPr sz="2600">
                <a:solidFill>
                  <a:srgbClr val="FFFFFF"/>
                </a:solidFill>
                <a:latin typeface="Calibri"/>
              </a:rPr>
              <a:t>🎉  Feeling like everyone's life is more exciting</a:t>
            </a:r>
          </a:p>
          <a:p>
            <a:pPr>
              <a:spcBef>
                <a:spcPts val="200"/>
              </a:spcBef>
              <a:spcAft>
                <a:spcPts val="600"/>
              </a:spcAft>
            </a:pPr>
            <a:r>
              <a:rPr sz="2600">
                <a:solidFill>
                  <a:srgbClr val="FFFFFF"/>
                </a:solidFill>
                <a:latin typeface="Calibri"/>
              </a:rPr>
              <a:t>😔  Checking your phone constantly for updates</a:t>
            </a:r>
          </a:p>
        </p:txBody>
      </p:sp>
      <p:sp>
        <p:nvSpPr>
          <p:cNvPr id="7" name="Rounded Rectangle 6"/>
          <p:cNvSpPr/>
          <p:nvPr/>
        </p:nvSpPr>
        <p:spPr>
          <a:xfrm>
            <a:off x="1371600" y="3511296"/>
            <a:ext cx="9448495" cy="914400"/>
          </a:xfrm>
          <a:prstGeom prst="round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71600" y="3557016"/>
            <a:ext cx="73152" cy="822960"/>
          </a:xfrm>
          <a:prstGeom prst="rect">
            <a:avLst/>
          </a:prstGeom>
          <a:solidFill>
            <a:srgbClr val="2CB6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00200" y="3602736"/>
            <a:ext cx="9082735" cy="274320"/>
          </a:xfrm>
          <a:prstGeom prst="rect">
            <a:avLst/>
          </a:prstGeom>
          <a:noFill/>
        </p:spPr>
        <p:txBody>
          <a:bodyPr wrap="square">
            <a:spAutoFit/>
          </a:bodyPr>
          <a:lstStyle/>
          <a:p>
            <a:pPr algn="l">
              <a:defRPr sz="1200" b="1">
                <a:solidFill>
                  <a:srgbClr val="2CB67D"/>
                </a:solidFill>
                <a:latin typeface="Calibri"/>
              </a:defRPr>
            </a:pPr>
            <a:r>
              <a:t>THE TRUTH</a:t>
            </a:r>
          </a:p>
        </p:txBody>
      </p:sp>
      <p:sp>
        <p:nvSpPr>
          <p:cNvPr id="10" name="TextBox 9"/>
          <p:cNvSpPr txBox="1"/>
          <p:nvPr/>
        </p:nvSpPr>
        <p:spPr>
          <a:xfrm>
            <a:off x="1600200" y="3858768"/>
            <a:ext cx="9082735" cy="457200"/>
          </a:xfrm>
          <a:prstGeom prst="rect">
            <a:avLst/>
          </a:prstGeom>
          <a:noFill/>
        </p:spPr>
        <p:txBody>
          <a:bodyPr wrap="square">
            <a:spAutoFit/>
          </a:bodyPr>
          <a:lstStyle/>
          <a:p>
            <a:pPr algn="l">
              <a:defRPr sz="1800" b="0">
                <a:solidFill>
                  <a:srgbClr val="A7A9BE"/>
                </a:solidFill>
                <a:latin typeface="Calibri"/>
              </a:defRPr>
            </a:pPr>
            <a:r>
              <a:t>FOMO is manufactured by social media. People only post when things look fun. JOMO (Joy of Missing Out) is a real thing — being happy with what YOU'RE doing right now.</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42</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Cyberbullying</a:t>
            </a:r>
          </a:p>
        </p:txBody>
      </p:sp>
      <p:sp>
        <p:nvSpPr>
          <p:cNvPr id="5" name="TextBox 4"/>
          <p:cNvSpPr txBox="1"/>
          <p:nvPr/>
        </p:nvSpPr>
        <p:spPr>
          <a:xfrm>
            <a:off x="1371600" y="1737360"/>
            <a:ext cx="9448495" cy="731520"/>
          </a:xfrm>
          <a:prstGeom prst="rect">
            <a:avLst/>
          </a:prstGeom>
          <a:noFill/>
        </p:spPr>
        <p:txBody>
          <a:bodyPr wrap="square">
            <a:spAutoFit/>
          </a:bodyPr>
          <a:lstStyle/>
          <a:p>
            <a:pPr algn="ctr">
              <a:defRPr sz="2800" b="0">
                <a:solidFill>
                  <a:srgbClr val="A7A9BE"/>
                </a:solidFill>
                <a:latin typeface="Calibri"/>
              </a:defRPr>
            </a:pPr>
            <a:r>
              <a:t>Bullying that happens through phones and online:</a:t>
            </a:r>
          </a:p>
        </p:txBody>
      </p:sp>
      <p:sp>
        <p:nvSpPr>
          <p:cNvPr id="6" name="TextBox 5"/>
          <p:cNvSpPr txBox="1"/>
          <p:nvPr/>
        </p:nvSpPr>
        <p:spPr>
          <a:xfrm>
            <a:off x="1371600" y="2468880"/>
            <a:ext cx="9448495" cy="4114800"/>
          </a:xfrm>
          <a:prstGeom prst="rect">
            <a:avLst/>
          </a:prstGeom>
          <a:noFill/>
        </p:spPr>
        <p:txBody>
          <a:bodyPr wrap="square">
            <a:spAutoFit/>
          </a:bodyPr>
          <a:lstStyle/>
          <a:p>
            <a:pPr>
              <a:spcBef>
                <a:spcPts val="200"/>
              </a:spcBef>
              <a:spcAft>
                <a:spcPts val="600"/>
              </a:spcAft>
            </a:pPr>
            <a:r>
              <a:rPr sz="2600">
                <a:solidFill>
                  <a:srgbClr val="FFFFFF"/>
                </a:solidFill>
                <a:latin typeface="Calibri"/>
              </a:rPr>
              <a:t>💬  Mean messages, comments, or DMs</a:t>
            </a:r>
          </a:p>
          <a:p>
            <a:pPr>
              <a:spcBef>
                <a:spcPts val="200"/>
              </a:spcBef>
              <a:spcAft>
                <a:spcPts val="600"/>
              </a:spcAft>
            </a:pPr>
            <a:r>
              <a:rPr sz="2600">
                <a:solidFill>
                  <a:srgbClr val="FFFFFF"/>
                </a:solidFill>
                <a:latin typeface="Calibri"/>
              </a:rPr>
              <a:t>📸  Sharing embarrassing photos without permission</a:t>
            </a:r>
          </a:p>
          <a:p>
            <a:pPr>
              <a:spcBef>
                <a:spcPts val="200"/>
              </a:spcBef>
              <a:spcAft>
                <a:spcPts val="600"/>
              </a:spcAft>
            </a:pPr>
            <a:r>
              <a:rPr sz="2600">
                <a:solidFill>
                  <a:srgbClr val="FFFFFF"/>
                </a:solidFill>
                <a:latin typeface="Calibri"/>
              </a:rPr>
              <a:t>🚫  Deliberately excluding someone in group chats</a:t>
            </a:r>
          </a:p>
          <a:p>
            <a:pPr>
              <a:spcBef>
                <a:spcPts val="200"/>
              </a:spcBef>
              <a:spcAft>
                <a:spcPts val="600"/>
              </a:spcAft>
            </a:pPr>
            <a:r>
              <a:rPr sz="2600">
                <a:solidFill>
                  <a:srgbClr val="FFFFFF"/>
                </a:solidFill>
                <a:latin typeface="Calibri"/>
              </a:rPr>
              <a:t>👤  Creating fake accounts to harass someone</a:t>
            </a:r>
          </a:p>
          <a:p>
            <a:pPr>
              <a:spcBef>
                <a:spcPts val="200"/>
              </a:spcBef>
              <a:spcAft>
                <a:spcPts val="600"/>
              </a:spcAft>
            </a:pPr>
            <a:r>
              <a:rPr sz="2600">
                <a:solidFill>
                  <a:srgbClr val="FFFFFF"/>
                </a:solidFill>
                <a:latin typeface="Calibri"/>
              </a:rPr>
              <a:t>📢  Spreading rumors online</a:t>
            </a:r>
          </a:p>
          <a:p>
            <a:pPr>
              <a:spcBef>
                <a:spcPts val="200"/>
              </a:spcBef>
              <a:spcAft>
                <a:spcPts val="600"/>
              </a:spcAft>
            </a:pPr>
            <a:r>
              <a:rPr sz="2600">
                <a:solidFill>
                  <a:srgbClr val="FFFFFF"/>
                </a:solidFill>
                <a:latin typeface="Calibri"/>
              </a:rPr>
              <a:t>🔄  Screenshotting private conversations to embarrass someone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43</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If You're Being Cyberbullied</a:t>
            </a:r>
          </a:p>
        </p:txBody>
      </p:sp>
      <p:sp>
        <p:nvSpPr>
          <p:cNvPr id="5" name="TextBox 4"/>
          <p:cNvSpPr txBox="1"/>
          <p:nvPr/>
        </p:nvSpPr>
        <p:spPr>
          <a:xfrm>
            <a:off x="1371600" y="1737360"/>
            <a:ext cx="9448495" cy="4114800"/>
          </a:xfrm>
          <a:prstGeom prst="rect">
            <a:avLst/>
          </a:prstGeom>
          <a:noFill/>
        </p:spPr>
        <p:txBody>
          <a:bodyPr wrap="square">
            <a:spAutoFit/>
          </a:bodyPr>
          <a:lstStyle/>
          <a:p>
            <a:pPr>
              <a:spcBef>
                <a:spcPts val="200"/>
              </a:spcBef>
              <a:spcAft>
                <a:spcPts val="600"/>
              </a:spcAft>
            </a:pPr>
            <a:r>
              <a:rPr sz="2600">
                <a:solidFill>
                  <a:srgbClr val="FFFFFF"/>
                </a:solidFill>
                <a:latin typeface="Calibri"/>
              </a:rPr>
              <a:t>📸  Screenshot everything (evidence matters)</a:t>
            </a:r>
          </a:p>
          <a:p>
            <a:pPr>
              <a:spcBef>
                <a:spcPts val="200"/>
              </a:spcBef>
              <a:spcAft>
                <a:spcPts val="600"/>
              </a:spcAft>
            </a:pPr>
            <a:r>
              <a:rPr sz="2600">
                <a:solidFill>
                  <a:srgbClr val="FFFFFF"/>
                </a:solidFill>
                <a:latin typeface="Calibri"/>
              </a:rPr>
              <a:t>🚫  Don't respond (they want a reaction)</a:t>
            </a:r>
          </a:p>
          <a:p>
            <a:pPr>
              <a:spcBef>
                <a:spcPts val="200"/>
              </a:spcBef>
              <a:spcAft>
                <a:spcPts val="600"/>
              </a:spcAft>
            </a:pPr>
            <a:r>
              <a:rPr sz="2600">
                <a:solidFill>
                  <a:srgbClr val="FFFFFF"/>
                </a:solidFill>
                <a:latin typeface="Calibri"/>
              </a:rPr>
              <a:t>🔒  Block the person</a:t>
            </a:r>
          </a:p>
          <a:p>
            <a:pPr>
              <a:spcBef>
                <a:spcPts val="200"/>
              </a:spcBef>
              <a:spcAft>
                <a:spcPts val="600"/>
              </a:spcAft>
            </a:pPr>
            <a:r>
              <a:rPr sz="2600">
                <a:solidFill>
                  <a:srgbClr val="FFFFFF"/>
                </a:solidFill>
                <a:latin typeface="Calibri"/>
              </a:rPr>
              <a:t>🗣️  Tell a parent or trusted adult</a:t>
            </a:r>
          </a:p>
          <a:p>
            <a:pPr>
              <a:spcBef>
                <a:spcPts val="200"/>
              </a:spcBef>
              <a:spcAft>
                <a:spcPts val="600"/>
              </a:spcAft>
            </a:pPr>
            <a:r>
              <a:rPr sz="2600">
                <a:solidFill>
                  <a:srgbClr val="FFFFFF"/>
                </a:solidFill>
                <a:latin typeface="Calibri"/>
              </a:rPr>
              <a:t>📝  Report it on the platform</a:t>
            </a:r>
          </a:p>
        </p:txBody>
      </p:sp>
      <p:sp>
        <p:nvSpPr>
          <p:cNvPr id="6" name="Rounded Rectangle 5"/>
          <p:cNvSpPr/>
          <p:nvPr/>
        </p:nvSpPr>
        <p:spPr>
          <a:xfrm>
            <a:off x="1371600" y="3474720"/>
            <a:ext cx="9448495" cy="914400"/>
          </a:xfrm>
          <a:prstGeom prst="round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71600" y="3520440"/>
            <a:ext cx="73152" cy="822960"/>
          </a:xfrm>
          <a:prstGeom prst="rect">
            <a:avLst/>
          </a:prstGeom>
          <a:solidFill>
            <a:srgbClr val="2CB6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00200" y="3566160"/>
            <a:ext cx="9082735" cy="274320"/>
          </a:xfrm>
          <a:prstGeom prst="rect">
            <a:avLst/>
          </a:prstGeom>
          <a:noFill/>
        </p:spPr>
        <p:txBody>
          <a:bodyPr wrap="square">
            <a:spAutoFit/>
          </a:bodyPr>
          <a:lstStyle/>
          <a:p>
            <a:pPr algn="l">
              <a:defRPr sz="1200" b="1">
                <a:solidFill>
                  <a:srgbClr val="2CB67D"/>
                </a:solidFill>
                <a:latin typeface="Calibri"/>
              </a:defRPr>
            </a:pPr>
            <a:r>
              <a:t>IF YOU SEE IT HAPPENING TO SOMEONE ELSE...</a:t>
            </a:r>
          </a:p>
        </p:txBody>
      </p:sp>
      <p:sp>
        <p:nvSpPr>
          <p:cNvPr id="9" name="TextBox 8"/>
          <p:cNvSpPr txBox="1"/>
          <p:nvPr/>
        </p:nvSpPr>
        <p:spPr>
          <a:xfrm>
            <a:off x="1600200" y="3822192"/>
            <a:ext cx="9082735" cy="457200"/>
          </a:xfrm>
          <a:prstGeom prst="rect">
            <a:avLst/>
          </a:prstGeom>
          <a:noFill/>
        </p:spPr>
        <p:txBody>
          <a:bodyPr wrap="square">
            <a:spAutoFit/>
          </a:bodyPr>
          <a:lstStyle/>
          <a:p>
            <a:pPr algn="l">
              <a:defRPr sz="1800" b="0">
                <a:solidFill>
                  <a:srgbClr val="A7A9BE"/>
                </a:solidFill>
                <a:latin typeface="Calibri"/>
              </a:defRPr>
            </a:pPr>
            <a:r>
              <a:t>Don't be a bystander. Don't join in or share it. Stand up for them, or tell an adult. Being kind online takes courage — and it matters more than you know.</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44</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Group Chat Pressure</a:t>
            </a:r>
          </a:p>
        </p:txBody>
      </p:sp>
      <p:sp>
        <p:nvSpPr>
          <p:cNvPr id="5" name="TextBox 4"/>
          <p:cNvSpPr txBox="1"/>
          <p:nvPr/>
        </p:nvSpPr>
        <p:spPr>
          <a:xfrm>
            <a:off x="1371600" y="1737360"/>
            <a:ext cx="9448495" cy="731520"/>
          </a:xfrm>
          <a:prstGeom prst="rect">
            <a:avLst/>
          </a:prstGeom>
          <a:noFill/>
        </p:spPr>
        <p:txBody>
          <a:bodyPr wrap="square">
            <a:spAutoFit/>
          </a:bodyPr>
          <a:lstStyle/>
          <a:p>
            <a:pPr algn="ctr">
              <a:defRPr sz="2800" b="0">
                <a:solidFill>
                  <a:srgbClr val="A7A9BE"/>
                </a:solidFill>
                <a:latin typeface="Calibri"/>
              </a:defRPr>
            </a:pPr>
            <a:r>
              <a:t>Group chats can be fun — but they can also get weird fast.</a:t>
            </a:r>
          </a:p>
        </p:txBody>
      </p:sp>
      <p:sp>
        <p:nvSpPr>
          <p:cNvPr id="6" name="TextBox 5"/>
          <p:cNvSpPr txBox="1"/>
          <p:nvPr/>
        </p:nvSpPr>
        <p:spPr>
          <a:xfrm>
            <a:off x="1371600" y="2468880"/>
            <a:ext cx="9448495" cy="4114800"/>
          </a:xfrm>
          <a:prstGeom prst="rect">
            <a:avLst/>
          </a:prstGeom>
          <a:noFill/>
        </p:spPr>
        <p:txBody>
          <a:bodyPr wrap="square">
            <a:spAutoFit/>
          </a:bodyPr>
          <a:lstStyle/>
          <a:p>
            <a:pPr>
              <a:spcBef>
                <a:spcPts val="200"/>
              </a:spcBef>
              <a:spcAft>
                <a:spcPts val="600"/>
              </a:spcAft>
            </a:pPr>
            <a:r>
              <a:rPr sz="2600">
                <a:solidFill>
                  <a:srgbClr val="FFFFFF"/>
                </a:solidFill>
                <a:latin typeface="Calibri"/>
              </a:rPr>
              <a:t>🤐  Pressure to agree with the group or pile on someone</a:t>
            </a:r>
          </a:p>
          <a:p>
            <a:pPr>
              <a:spcBef>
                <a:spcPts val="200"/>
              </a:spcBef>
              <a:spcAft>
                <a:spcPts val="600"/>
              </a:spcAft>
            </a:pPr>
            <a:r>
              <a:rPr sz="2600">
                <a:solidFill>
                  <a:srgbClr val="FFFFFF"/>
                </a:solidFill>
                <a:latin typeface="Calibri"/>
              </a:rPr>
              <a:t>📸  Someone shares something inappropriate — now everyone's seen it</a:t>
            </a:r>
          </a:p>
          <a:p>
            <a:pPr>
              <a:spcBef>
                <a:spcPts val="200"/>
              </a:spcBef>
              <a:spcAft>
                <a:spcPts val="600"/>
              </a:spcAft>
            </a:pPr>
            <a:r>
              <a:rPr sz="2600">
                <a:solidFill>
                  <a:srgbClr val="FFFFFF"/>
                </a:solidFill>
                <a:latin typeface="Calibri"/>
              </a:rPr>
              <a:t>🚪  Being added to chats without permission</a:t>
            </a:r>
          </a:p>
          <a:p>
            <a:pPr>
              <a:spcBef>
                <a:spcPts val="200"/>
              </a:spcBef>
              <a:spcAft>
                <a:spcPts val="600"/>
              </a:spcAft>
            </a:pPr>
            <a:r>
              <a:rPr sz="2600">
                <a:solidFill>
                  <a:srgbClr val="FFFFFF"/>
                </a:solidFill>
                <a:latin typeface="Calibri"/>
              </a:rPr>
              <a:t>😬  Drama that spirals fast because everyone's watching</a:t>
            </a:r>
          </a:p>
          <a:p>
            <a:pPr>
              <a:spcBef>
                <a:spcPts val="200"/>
              </a:spcBef>
              <a:spcAft>
                <a:spcPts val="600"/>
              </a:spcAft>
            </a:pPr>
            <a:r>
              <a:rPr sz="2600">
                <a:solidFill>
                  <a:srgbClr val="FFFFFF"/>
                </a:solidFill>
                <a:latin typeface="Calibri"/>
              </a:rPr>
              <a:t>🗣️  People say things in groups they'd never say 1-on-1</a:t>
            </a:r>
          </a:p>
          <a:p>
            <a:pPr>
              <a:spcBef>
                <a:spcPts val="200"/>
              </a:spcBef>
              <a:spcAft>
                <a:spcPts val="600"/>
              </a:spcAft>
            </a:pPr>
            <a:r>
              <a:rPr sz="2600">
                <a:solidFill>
                  <a:srgbClr val="FFFFFF"/>
                </a:solidFill>
                <a:latin typeface="Calibri"/>
              </a:rPr>
              <a:t>🚪  You can LEAVE any group chat that makes you uncomfortable</a:t>
            </a:r>
          </a:p>
          <a:p>
            <a:pPr>
              <a:spcBef>
                <a:spcPts val="200"/>
              </a:spcBef>
              <a:spcAft>
                <a:spcPts val="600"/>
              </a:spcAft>
            </a:pPr>
            <a:r>
              <a:rPr sz="2600">
                <a:solidFill>
                  <a:srgbClr val="FFFFFF"/>
                </a:solidFill>
                <a:latin typeface="Calibri"/>
              </a:rPr>
              <a:t>🤫  You don't have to respond to everything</a:t>
            </a:r>
          </a:p>
          <a:p>
            <a:pPr>
              <a:spcBef>
                <a:spcPts val="200"/>
              </a:spcBef>
              <a:spcAft>
                <a:spcPts val="600"/>
              </a:spcAft>
            </a:pPr>
            <a:r>
              <a:rPr sz="2600">
                <a:solidFill>
                  <a:srgbClr val="FFFFFF"/>
                </a:solidFill>
                <a:latin typeface="Calibri"/>
              </a:rPr>
              <a:t>📸  If something crosses a line, screenshot and tell a parent</a:t>
            </a:r>
          </a:p>
          <a:p>
            <a:pPr>
              <a:spcBef>
                <a:spcPts val="200"/>
              </a:spcBef>
              <a:spcAft>
                <a:spcPts val="600"/>
              </a:spcAft>
            </a:pPr>
            <a:r>
              <a:rPr sz="2600">
                <a:solidFill>
                  <a:srgbClr val="FFFFFF"/>
                </a:solidFill>
                <a:latin typeface="Calibri"/>
              </a:rPr>
              <a:t>🔇  Mute chats that stress you out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45</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The Dopamine Loop</a:t>
            </a:r>
          </a:p>
        </p:txBody>
      </p:sp>
      <p:sp>
        <p:nvSpPr>
          <p:cNvPr id="5" name="TextBox 4"/>
          <p:cNvSpPr txBox="1"/>
          <p:nvPr/>
        </p:nvSpPr>
        <p:spPr>
          <a:xfrm>
            <a:off x="1371600" y="1737360"/>
            <a:ext cx="9448495" cy="731520"/>
          </a:xfrm>
          <a:prstGeom prst="rect">
            <a:avLst/>
          </a:prstGeom>
          <a:noFill/>
        </p:spPr>
        <p:txBody>
          <a:bodyPr wrap="square">
            <a:spAutoFit/>
          </a:bodyPr>
          <a:lstStyle/>
          <a:p>
            <a:pPr algn="ctr">
              <a:defRPr sz="2800" b="0">
                <a:solidFill>
                  <a:srgbClr val="A7A9BE"/>
                </a:solidFill>
                <a:latin typeface="Calibri"/>
              </a:defRPr>
            </a:pPr>
            <a:r>
              <a:t>Here's why you can't stop scrolling:</a:t>
            </a:r>
          </a:p>
        </p:txBody>
      </p:sp>
      <p:sp>
        <p:nvSpPr>
          <p:cNvPr id="6" name="TextBox 5"/>
          <p:cNvSpPr txBox="1"/>
          <p:nvPr/>
        </p:nvSpPr>
        <p:spPr>
          <a:xfrm>
            <a:off x="1371600" y="2468880"/>
            <a:ext cx="9448495" cy="4114800"/>
          </a:xfrm>
          <a:prstGeom prst="rect">
            <a:avLst/>
          </a:prstGeom>
          <a:noFill/>
        </p:spPr>
        <p:txBody>
          <a:bodyPr wrap="square">
            <a:spAutoFit/>
          </a:bodyPr>
          <a:lstStyle/>
          <a:p>
            <a:pPr>
              <a:spcBef>
                <a:spcPts val="200"/>
              </a:spcBef>
              <a:spcAft>
                <a:spcPts val="600"/>
              </a:spcAft>
            </a:pPr>
            <a:r>
              <a:rPr sz="2600">
                <a:solidFill>
                  <a:srgbClr val="FFFFFF"/>
                </a:solidFill>
                <a:latin typeface="Calibri"/>
              </a:rPr>
              <a:t>🧪  Every like, comment, and new post gives your brain a tiny hit of dopamine (the "feel good" chemical)</a:t>
            </a:r>
          </a:p>
          <a:p>
            <a:pPr>
              <a:spcBef>
                <a:spcPts val="200"/>
              </a:spcBef>
              <a:spcAft>
                <a:spcPts val="600"/>
              </a:spcAft>
            </a:pPr>
            <a:r>
              <a:rPr sz="2600">
                <a:solidFill>
                  <a:srgbClr val="FFFFFF"/>
                </a:solidFill>
                <a:latin typeface="Calibri"/>
              </a:rPr>
              <a:t>🎰  Apps are designed like slot machines — you keep scrolling hoping for the next reward</a:t>
            </a:r>
          </a:p>
          <a:p>
            <a:pPr>
              <a:spcBef>
                <a:spcPts val="200"/>
              </a:spcBef>
              <a:spcAft>
                <a:spcPts val="600"/>
              </a:spcAft>
            </a:pPr>
            <a:r>
              <a:rPr sz="2600">
                <a:solidFill>
                  <a:srgbClr val="FFFFFF"/>
                </a:solidFill>
                <a:latin typeface="Calibri"/>
              </a:rPr>
              <a:t>📱  This is NOT an accident. Billions of dollars are spent making apps as addictive as possible</a:t>
            </a:r>
          </a:p>
          <a:p>
            <a:pPr>
              <a:spcBef>
                <a:spcPts val="200"/>
              </a:spcBef>
              <a:spcAft>
                <a:spcPts val="600"/>
              </a:spcAft>
            </a:pPr>
            <a:r>
              <a:rPr sz="2600">
                <a:solidFill>
                  <a:srgbClr val="FFFFFF"/>
                </a:solidFill>
                <a:latin typeface="Calibri"/>
              </a:rPr>
              <a:t>🧠  Knowing this gives you power over it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46</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Real Stats on Teens &amp; Phones</a:t>
            </a:r>
          </a:p>
        </p:txBody>
      </p:sp>
      <p:sp>
        <p:nvSpPr>
          <p:cNvPr id="5" name="TextBox 4"/>
          <p:cNvSpPr txBox="1"/>
          <p:nvPr/>
        </p:nvSpPr>
        <p:spPr>
          <a:xfrm>
            <a:off x="1371600" y="1737360"/>
            <a:ext cx="9448495" cy="4114800"/>
          </a:xfrm>
          <a:prstGeom prst="rect">
            <a:avLst/>
          </a:prstGeom>
          <a:noFill/>
        </p:spPr>
        <p:txBody>
          <a:bodyPr wrap="square">
            <a:spAutoFit/>
          </a:bodyPr>
          <a:lstStyle/>
          <a:p>
            <a:pPr>
              <a:spcBef>
                <a:spcPts val="200"/>
              </a:spcBef>
              <a:spcAft>
                <a:spcPts val="600"/>
              </a:spcAft>
            </a:pPr>
            <a:r>
              <a:rPr sz="2600">
                <a:solidFill>
                  <a:srgbClr val="FFFFFF"/>
                </a:solidFill>
                <a:latin typeface="Calibri"/>
              </a:rPr>
              <a:t>📊  Teens who spend 5+ hrs/day on social media are 3x more likely to report depression</a:t>
            </a:r>
          </a:p>
          <a:p>
            <a:pPr>
              <a:spcBef>
                <a:spcPts val="200"/>
              </a:spcBef>
              <a:spcAft>
                <a:spcPts val="600"/>
              </a:spcAft>
            </a:pPr>
            <a:r>
              <a:rPr sz="2600">
                <a:solidFill>
                  <a:srgbClr val="FFFFFF"/>
                </a:solidFill>
                <a:latin typeface="Calibri"/>
              </a:rPr>
              <a:t>😴  70% of teens say social media makes them feel worse about their appearance</a:t>
            </a:r>
          </a:p>
          <a:p>
            <a:pPr>
              <a:spcBef>
                <a:spcPts val="200"/>
              </a:spcBef>
              <a:spcAft>
                <a:spcPts val="600"/>
              </a:spcAft>
            </a:pPr>
            <a:r>
              <a:rPr sz="2600">
                <a:solidFill>
                  <a:srgbClr val="FFFFFF"/>
                </a:solidFill>
                <a:latin typeface="Calibri"/>
              </a:rPr>
              <a:t>📱  1 in 3 teens say they wish they could go back to life before social media</a:t>
            </a:r>
          </a:p>
          <a:p>
            <a:pPr>
              <a:spcBef>
                <a:spcPts val="200"/>
              </a:spcBef>
              <a:spcAft>
                <a:spcPts val="600"/>
              </a:spcAft>
            </a:pPr>
            <a:r>
              <a:rPr sz="2600">
                <a:solidFill>
                  <a:srgbClr val="FFFFFF"/>
                </a:solidFill>
                <a:latin typeface="Calibri"/>
              </a:rPr>
              <a:t>💚  BUT — teens who use phones for connection and creativity report higher well-being</a:t>
            </a:r>
          </a:p>
        </p:txBody>
      </p:sp>
      <p:sp>
        <p:nvSpPr>
          <p:cNvPr id="6" name="TextBox 5"/>
          <p:cNvSpPr txBox="1"/>
          <p:nvPr/>
        </p:nvSpPr>
        <p:spPr>
          <a:xfrm>
            <a:off x="1371600" y="3127248"/>
            <a:ext cx="9448495" cy="457200"/>
          </a:xfrm>
          <a:prstGeom prst="rect">
            <a:avLst/>
          </a:prstGeom>
          <a:noFill/>
        </p:spPr>
        <p:txBody>
          <a:bodyPr wrap="square">
            <a:spAutoFit/>
          </a:bodyPr>
          <a:lstStyle/>
          <a:p>
            <a:pPr algn="ctr">
              <a:defRPr sz="1800" b="0">
                <a:solidFill>
                  <a:srgbClr val="A855F7"/>
                </a:solidFill>
                <a:latin typeface="Calibri"/>
              </a:defRPr>
            </a:pPr>
            <a:r>
              <a:t>It's not about having a phone. It's about HOW you use it.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47</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Signs You Need a Phone Break</a:t>
            </a:r>
          </a:p>
        </p:txBody>
      </p:sp>
      <p:sp>
        <p:nvSpPr>
          <p:cNvPr id="5" name="TextBox 4"/>
          <p:cNvSpPr txBox="1"/>
          <p:nvPr/>
        </p:nvSpPr>
        <p:spPr>
          <a:xfrm>
            <a:off x="1371600" y="1737360"/>
            <a:ext cx="9448495" cy="4114800"/>
          </a:xfrm>
          <a:prstGeom prst="rect">
            <a:avLst/>
          </a:prstGeom>
          <a:noFill/>
        </p:spPr>
        <p:txBody>
          <a:bodyPr wrap="square">
            <a:spAutoFit/>
          </a:bodyPr>
          <a:lstStyle/>
          <a:p>
            <a:pPr>
              <a:spcBef>
                <a:spcPts val="200"/>
              </a:spcBef>
              <a:spcAft>
                <a:spcPts val="600"/>
              </a:spcAft>
            </a:pPr>
            <a:r>
              <a:rPr sz="2600">
                <a:solidFill>
                  <a:srgbClr val="FFFFFF"/>
                </a:solidFill>
                <a:latin typeface="Calibri"/>
              </a:rPr>
              <a:t>😤  You feel anxious or upset after scrolling</a:t>
            </a:r>
          </a:p>
          <a:p>
            <a:pPr>
              <a:spcBef>
                <a:spcPts val="200"/>
              </a:spcBef>
              <a:spcAft>
                <a:spcPts val="600"/>
              </a:spcAft>
            </a:pPr>
            <a:r>
              <a:rPr sz="2600">
                <a:solidFill>
                  <a:srgbClr val="FFFFFF"/>
                </a:solidFill>
                <a:latin typeface="Calibri"/>
              </a:rPr>
              <a:t>🔄  You pick up your phone without thinking</a:t>
            </a:r>
          </a:p>
          <a:p>
            <a:pPr>
              <a:spcBef>
                <a:spcPts val="200"/>
              </a:spcBef>
              <a:spcAft>
                <a:spcPts val="600"/>
              </a:spcAft>
            </a:pPr>
            <a:r>
              <a:rPr sz="2600">
                <a:solidFill>
                  <a:srgbClr val="FFFFFF"/>
                </a:solidFill>
                <a:latin typeface="Calibri"/>
              </a:rPr>
              <a:t>😴  You're staying up late because of your phone</a:t>
            </a:r>
          </a:p>
          <a:p>
            <a:pPr>
              <a:spcBef>
                <a:spcPts val="200"/>
              </a:spcBef>
              <a:spcAft>
                <a:spcPts val="600"/>
              </a:spcAft>
            </a:pPr>
            <a:r>
              <a:rPr sz="2600">
                <a:solidFill>
                  <a:srgbClr val="FFFFFF"/>
                </a:solidFill>
                <a:latin typeface="Calibri"/>
              </a:rPr>
              <a:t>😔  You feel worse about yourself after social media</a:t>
            </a:r>
          </a:p>
          <a:p>
            <a:pPr>
              <a:spcBef>
                <a:spcPts val="200"/>
              </a:spcBef>
              <a:spcAft>
                <a:spcPts val="600"/>
              </a:spcAft>
            </a:pPr>
            <a:r>
              <a:rPr sz="2600">
                <a:solidFill>
                  <a:srgbClr val="FFFFFF"/>
                </a:solidFill>
                <a:latin typeface="Calibri"/>
              </a:rPr>
              <a:t>🤯  You can't focus on homework or conversations</a:t>
            </a:r>
          </a:p>
          <a:p>
            <a:pPr>
              <a:spcBef>
                <a:spcPts val="200"/>
              </a:spcBef>
              <a:spcAft>
                <a:spcPts val="600"/>
              </a:spcAft>
            </a:pPr>
            <a:r>
              <a:rPr sz="2600">
                <a:solidFill>
                  <a:srgbClr val="FFFFFF"/>
                </a:solidFill>
                <a:latin typeface="Calibri"/>
              </a:rPr>
              <a:t>📱  You feel panicky without your phone nearby</a:t>
            </a:r>
          </a:p>
        </p:txBody>
      </p:sp>
      <p:sp>
        <p:nvSpPr>
          <p:cNvPr id="6" name="TextBox 5"/>
          <p:cNvSpPr txBox="1"/>
          <p:nvPr/>
        </p:nvSpPr>
        <p:spPr>
          <a:xfrm>
            <a:off x="1371600" y="3822192"/>
            <a:ext cx="9448495" cy="457200"/>
          </a:xfrm>
          <a:prstGeom prst="rect">
            <a:avLst/>
          </a:prstGeom>
          <a:noFill/>
        </p:spPr>
        <p:txBody>
          <a:bodyPr wrap="square">
            <a:spAutoFit/>
          </a:bodyPr>
          <a:lstStyle/>
          <a:p>
            <a:pPr algn="ctr">
              <a:defRPr sz="1800" b="0">
                <a:solidFill>
                  <a:srgbClr val="A855F7"/>
                </a:solidFill>
                <a:latin typeface="Calibri"/>
              </a:defRPr>
            </a:pPr>
            <a:r>
              <a:t>Any of these? Time to take a break. Go outside, read a book, work on your writing, talk to someone IRL. 🌿</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48</a:t>
            </a:r>
          </a:p>
        </p:txBody>
      </p:sp>
      <p:sp>
        <p:nvSpPr>
          <p:cNvPr id="3" name="Rounded Rectangle 2"/>
          <p:cNvSpPr/>
          <p:nvPr/>
        </p:nvSpPr>
        <p:spPr>
          <a:xfrm>
            <a:off x="1371600" y="1371600"/>
            <a:ext cx="9448495" cy="4114800"/>
          </a:xfrm>
          <a:prstGeom prst="roundRect">
            <a:avLst/>
          </a:prstGeom>
          <a:solidFill>
            <a:srgbClr val="1F1A3E"/>
          </a:solidFill>
          <a:ln w="254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45920" y="1554480"/>
            <a:ext cx="8899855" cy="365760"/>
          </a:xfrm>
          <a:prstGeom prst="rect">
            <a:avLst/>
          </a:prstGeom>
          <a:noFill/>
        </p:spPr>
        <p:txBody>
          <a:bodyPr wrap="square">
            <a:spAutoFit/>
          </a:bodyPr>
          <a:lstStyle/>
          <a:p>
            <a:pPr algn="l">
              <a:defRPr sz="1900" b="1">
                <a:solidFill>
                  <a:srgbClr val="A855F7"/>
                </a:solidFill>
                <a:latin typeface="Calibri"/>
              </a:defRPr>
            </a:pPr>
            <a:r>
              <a:t>💬 DISCUSSION PROMPT</a:t>
            </a:r>
          </a:p>
        </p:txBody>
      </p:sp>
      <p:sp>
        <p:nvSpPr>
          <p:cNvPr id="5" name="TextBox 4"/>
          <p:cNvSpPr txBox="1"/>
          <p:nvPr/>
        </p:nvSpPr>
        <p:spPr>
          <a:xfrm>
            <a:off x="1645920" y="1874520"/>
            <a:ext cx="8899855" cy="3474720"/>
          </a:xfrm>
          <a:prstGeom prst="rect">
            <a:avLst/>
          </a:prstGeom>
          <a:noFill/>
        </p:spPr>
        <p:txBody>
          <a:bodyPr wrap="square">
            <a:spAutoFit/>
          </a:bodyPr>
          <a:lstStyle/>
          <a:p>
            <a:pPr algn="l">
              <a:defRPr sz="2800" b="0">
                <a:solidFill>
                  <a:srgbClr val="FFFFFF"/>
                </a:solidFill>
                <a:latin typeface="Calibri"/>
              </a:defRPr>
            </a:pPr>
            <a:r>
              <a:t>Elli, how do you feel after spending a long time on social media or TikTok? What could you do instead of scrolling when you're bored? Let's brainstorm 5 phone-free activities you enjoy.</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49</a:t>
            </a:r>
          </a:p>
        </p:txBody>
      </p:sp>
      <p:sp>
        <p:nvSpPr>
          <p:cNvPr id="3" name="TextBox 2"/>
          <p:cNvSpPr txBox="1"/>
          <p:nvPr/>
        </p:nvSpPr>
        <p:spPr>
          <a:xfrm>
            <a:off x="914400" y="914400"/>
            <a:ext cx="10362895" cy="365760"/>
          </a:xfrm>
          <a:prstGeom prst="rect">
            <a:avLst/>
          </a:prstGeom>
          <a:noFill/>
        </p:spPr>
        <p:txBody>
          <a:bodyPr wrap="square">
            <a:spAutoFit/>
          </a:bodyPr>
          <a:lstStyle/>
          <a:p>
            <a:pPr algn="ctr">
              <a:defRPr sz="1400" b="1">
                <a:solidFill>
                  <a:srgbClr val="06B6D4"/>
                </a:solidFill>
                <a:latin typeface="Calibri"/>
              </a:defRPr>
            </a:pPr>
            <a:r>
              <a:t>MODULE 6 — AI</a:t>
            </a:r>
          </a:p>
        </p:txBody>
      </p:sp>
      <p:sp>
        <p:nvSpPr>
          <p:cNvPr id="4" name="TextBox 3"/>
          <p:cNvSpPr txBox="1"/>
          <p:nvPr/>
        </p:nvSpPr>
        <p:spPr>
          <a:xfrm>
            <a:off x="914400" y="1371600"/>
            <a:ext cx="10362895" cy="914400"/>
          </a:xfrm>
          <a:prstGeom prst="rect">
            <a:avLst/>
          </a:prstGeom>
          <a:noFill/>
        </p:spPr>
        <p:txBody>
          <a:bodyPr wrap="square">
            <a:spAutoFit/>
          </a:bodyPr>
          <a:lstStyle/>
          <a:p>
            <a:pPr algn="ctr">
              <a:defRPr sz="7200" b="0">
                <a:solidFill>
                  <a:srgbClr val="FFFFFF"/>
                </a:solidFill>
                <a:latin typeface="Calibri"/>
              </a:defRPr>
            </a:pPr>
            <a:r>
              <a:t>🤖</a:t>
            </a:r>
          </a:p>
        </p:txBody>
      </p:sp>
      <p:sp>
        <p:nvSpPr>
          <p:cNvPr id="5" name="TextBox 4"/>
          <p:cNvSpPr txBox="1"/>
          <p:nvPr/>
        </p:nvSpPr>
        <p:spPr>
          <a:xfrm>
            <a:off x="914400" y="2377440"/>
            <a:ext cx="10362895" cy="914400"/>
          </a:xfrm>
          <a:prstGeom prst="rect">
            <a:avLst/>
          </a:prstGeom>
          <a:noFill/>
        </p:spPr>
        <p:txBody>
          <a:bodyPr wrap="square">
            <a:spAutoFit/>
          </a:bodyPr>
          <a:lstStyle/>
          <a:p>
            <a:pPr algn="ctr">
              <a:defRPr sz="4800" b="1">
                <a:solidFill>
                  <a:srgbClr val="A855F7"/>
                </a:solidFill>
                <a:latin typeface="Calibri"/>
              </a:defRPr>
            </a:pPr>
            <a:r>
              <a:t>Navigating AI</a:t>
            </a:r>
          </a:p>
        </p:txBody>
      </p:sp>
      <p:sp>
        <p:nvSpPr>
          <p:cNvPr id="6" name="TextBox 5"/>
          <p:cNvSpPr txBox="1"/>
          <p:nvPr/>
        </p:nvSpPr>
        <p:spPr>
          <a:xfrm>
            <a:off x="1371600" y="3291840"/>
            <a:ext cx="9448495" cy="1371600"/>
          </a:xfrm>
          <a:prstGeom prst="rect">
            <a:avLst/>
          </a:prstGeom>
          <a:noFill/>
        </p:spPr>
        <p:txBody>
          <a:bodyPr wrap="square">
            <a:spAutoFit/>
          </a:bodyPr>
          <a:lstStyle/>
          <a:p>
            <a:pPr algn="ctr">
              <a:defRPr sz="2600" b="0">
                <a:solidFill>
                  <a:srgbClr val="A7A9BE"/>
                </a:solidFill>
                <a:latin typeface="Calibri"/>
              </a:defRPr>
            </a:pPr>
            <a:r>
              <a:t>AI is powerful. Learn to use it wisely,</a:t>
            </a:r>
            <a:br/>
            <a:r>
              <a:t>not blindly.</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50</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What AI Is (and Isn't)</a:t>
            </a:r>
          </a:p>
        </p:txBody>
      </p:sp>
      <p:sp>
        <p:nvSpPr>
          <p:cNvPr id="5" name="TextBox 4"/>
          <p:cNvSpPr txBox="1"/>
          <p:nvPr/>
        </p:nvSpPr>
        <p:spPr>
          <a:xfrm>
            <a:off x="1371600" y="1737360"/>
            <a:ext cx="9448495" cy="4114800"/>
          </a:xfrm>
          <a:prstGeom prst="rect">
            <a:avLst/>
          </a:prstGeom>
          <a:noFill/>
        </p:spPr>
        <p:txBody>
          <a:bodyPr wrap="square">
            <a:spAutoFit/>
          </a:bodyPr>
          <a:lstStyle/>
          <a:p>
            <a:pPr>
              <a:spcBef>
                <a:spcPts val="200"/>
              </a:spcBef>
              <a:spcAft>
                <a:spcPts val="600"/>
              </a:spcAft>
            </a:pPr>
            <a:r>
              <a:rPr sz="2600">
                <a:solidFill>
                  <a:srgbClr val="FFFFFF"/>
                </a:solidFill>
                <a:latin typeface="Calibri"/>
              </a:rPr>
              <a:t>✅  AI = software that can generate text, images, code, music, and more</a:t>
            </a:r>
          </a:p>
          <a:p>
            <a:pPr>
              <a:spcBef>
                <a:spcPts val="200"/>
              </a:spcBef>
              <a:spcAft>
                <a:spcPts val="600"/>
              </a:spcAft>
            </a:pPr>
            <a:r>
              <a:rPr sz="2600">
                <a:solidFill>
                  <a:srgbClr val="FFFFFF"/>
                </a:solidFill>
                <a:latin typeface="Calibri"/>
              </a:rPr>
              <a:t>✅  Examples: ChatGPT, Siri, Google Gemini, image generators, AI filters</a:t>
            </a:r>
          </a:p>
          <a:p>
            <a:pPr>
              <a:spcBef>
                <a:spcPts val="200"/>
              </a:spcBef>
              <a:spcAft>
                <a:spcPts val="600"/>
              </a:spcAft>
            </a:pPr>
            <a:r>
              <a:rPr sz="2600">
                <a:solidFill>
                  <a:srgbClr val="FFFFFF"/>
                </a:solidFill>
                <a:latin typeface="Calibri"/>
              </a:rPr>
              <a:t>❌  AI is NOT actually "thinking" — it's predicting patterns</a:t>
            </a:r>
          </a:p>
          <a:p>
            <a:pPr>
              <a:spcBef>
                <a:spcPts val="200"/>
              </a:spcBef>
              <a:spcAft>
                <a:spcPts val="600"/>
              </a:spcAft>
            </a:pPr>
            <a:r>
              <a:rPr sz="2600">
                <a:solidFill>
                  <a:srgbClr val="FFFFFF"/>
                </a:solidFill>
                <a:latin typeface="Calibri"/>
              </a:rPr>
              <a:t>❌  AI is NOT always right — it can sound confident while being completely wrong</a:t>
            </a:r>
          </a:p>
          <a:p>
            <a:pPr>
              <a:spcBef>
                <a:spcPts val="200"/>
              </a:spcBef>
              <a:spcAft>
                <a:spcPts val="600"/>
              </a:spcAft>
            </a:pPr>
            <a:r>
              <a:rPr sz="2600">
                <a:solidFill>
                  <a:srgbClr val="FFFFFF"/>
                </a:solidFill>
                <a:latin typeface="Calibri"/>
              </a:rPr>
              <a:t>💡  AI is a tool, like a calculator. Great when used correctly, dangerous when trusted blindly.</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51</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AI Gets Things Wrong</a:t>
            </a:r>
          </a:p>
        </p:txBody>
      </p:sp>
      <p:sp>
        <p:nvSpPr>
          <p:cNvPr id="5" name="TextBox 4"/>
          <p:cNvSpPr txBox="1"/>
          <p:nvPr/>
        </p:nvSpPr>
        <p:spPr>
          <a:xfrm>
            <a:off x="1371600" y="1737360"/>
            <a:ext cx="9448495" cy="731520"/>
          </a:xfrm>
          <a:prstGeom prst="rect">
            <a:avLst/>
          </a:prstGeom>
          <a:noFill/>
        </p:spPr>
        <p:txBody>
          <a:bodyPr wrap="square">
            <a:spAutoFit/>
          </a:bodyPr>
          <a:lstStyle/>
          <a:p>
            <a:pPr algn="ctr">
              <a:defRPr sz="2800" b="0">
                <a:solidFill>
                  <a:srgbClr val="A7A9BE"/>
                </a:solidFill>
                <a:latin typeface="Calibri"/>
              </a:defRPr>
            </a:pPr>
            <a:r>
              <a:t>AI "hallucinations" are when AI confidently makes up information.</a:t>
            </a:r>
          </a:p>
        </p:txBody>
      </p:sp>
      <p:sp>
        <p:nvSpPr>
          <p:cNvPr id="6" name="TextBox 5"/>
          <p:cNvSpPr txBox="1"/>
          <p:nvPr/>
        </p:nvSpPr>
        <p:spPr>
          <a:xfrm>
            <a:off x="1371600" y="2468880"/>
            <a:ext cx="9448495" cy="4114800"/>
          </a:xfrm>
          <a:prstGeom prst="rect">
            <a:avLst/>
          </a:prstGeom>
          <a:noFill/>
        </p:spPr>
        <p:txBody>
          <a:bodyPr wrap="square">
            <a:spAutoFit/>
          </a:bodyPr>
          <a:lstStyle/>
          <a:p>
            <a:pPr>
              <a:spcBef>
                <a:spcPts val="200"/>
              </a:spcBef>
              <a:spcAft>
                <a:spcPts val="600"/>
              </a:spcAft>
            </a:pPr>
            <a:r>
              <a:rPr sz="2600">
                <a:solidFill>
                  <a:srgbClr val="FFFFFF"/>
                </a:solidFill>
                <a:latin typeface="Calibri"/>
              </a:rPr>
              <a:t>🔍  ALWAYS verify AI-generated information</a:t>
            </a:r>
          </a:p>
          <a:p>
            <a:pPr>
              <a:spcBef>
                <a:spcPts val="200"/>
              </a:spcBef>
              <a:spcAft>
                <a:spcPts val="600"/>
              </a:spcAft>
            </a:pPr>
            <a:r>
              <a:rPr sz="2600">
                <a:solidFill>
                  <a:srgbClr val="FFFFFF"/>
                </a:solidFill>
                <a:latin typeface="Calibri"/>
              </a:rPr>
              <a:t>📚  Use AI as a starting point, not the final answer</a:t>
            </a:r>
          </a:p>
          <a:p>
            <a:pPr>
              <a:spcBef>
                <a:spcPts val="200"/>
              </a:spcBef>
              <a:spcAft>
                <a:spcPts val="600"/>
              </a:spcAft>
            </a:pPr>
            <a:r>
              <a:rPr sz="2600">
                <a:solidFill>
                  <a:srgbClr val="FFFFFF"/>
                </a:solidFill>
                <a:latin typeface="Calibri"/>
              </a:rPr>
              <a:t>🧠  Your critical thinking is more valuable than any AI output</a:t>
            </a:r>
          </a:p>
        </p:txBody>
      </p:sp>
      <p:sp>
        <p:nvSpPr>
          <p:cNvPr id="7" name="Rounded Rectangle 6"/>
          <p:cNvSpPr/>
          <p:nvPr/>
        </p:nvSpPr>
        <p:spPr>
          <a:xfrm>
            <a:off x="1371600" y="3511296"/>
            <a:ext cx="9448495" cy="914400"/>
          </a:xfrm>
          <a:prstGeom prst="round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71600" y="3557016"/>
            <a:ext cx="73152" cy="82296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00200" y="3602736"/>
            <a:ext cx="9082735" cy="274320"/>
          </a:xfrm>
          <a:prstGeom prst="rect">
            <a:avLst/>
          </a:prstGeom>
          <a:noFill/>
        </p:spPr>
        <p:txBody>
          <a:bodyPr wrap="square">
            <a:spAutoFit/>
          </a:bodyPr>
          <a:lstStyle/>
          <a:p>
            <a:pPr algn="l">
              <a:defRPr sz="1200" b="1">
                <a:solidFill>
                  <a:srgbClr val="FF6B6B"/>
                </a:solidFill>
                <a:latin typeface="Calibri"/>
              </a:defRPr>
            </a:pPr>
            <a:r>
              <a:t>EXAMPLE</a:t>
            </a:r>
          </a:p>
        </p:txBody>
      </p:sp>
      <p:sp>
        <p:nvSpPr>
          <p:cNvPr id="10" name="TextBox 9"/>
          <p:cNvSpPr txBox="1"/>
          <p:nvPr/>
        </p:nvSpPr>
        <p:spPr>
          <a:xfrm>
            <a:off x="1600200" y="3858768"/>
            <a:ext cx="9082735" cy="457200"/>
          </a:xfrm>
          <a:prstGeom prst="rect">
            <a:avLst/>
          </a:prstGeom>
          <a:noFill/>
        </p:spPr>
        <p:txBody>
          <a:bodyPr wrap="square">
            <a:spAutoFit/>
          </a:bodyPr>
          <a:lstStyle/>
          <a:p>
            <a:pPr algn="l">
              <a:defRPr sz="1800" b="0">
                <a:solidFill>
                  <a:srgbClr val="A7A9BE"/>
                </a:solidFill>
                <a:latin typeface="Calibri"/>
              </a:defRPr>
            </a:pPr>
            <a:r>
              <a:t>Ask ChatGPT for sources for a school paper and it might invent fake books by real authors with convincing titles. If you turn that in — that's on YOU.</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52</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ChatGPT &amp; Your Book</a:t>
            </a:r>
          </a:p>
        </p:txBody>
      </p:sp>
      <p:sp>
        <p:nvSpPr>
          <p:cNvPr id="5" name="TextBox 4"/>
          <p:cNvSpPr txBox="1"/>
          <p:nvPr/>
        </p:nvSpPr>
        <p:spPr>
          <a:xfrm>
            <a:off x="1371600" y="1737360"/>
            <a:ext cx="9448495" cy="731520"/>
          </a:xfrm>
          <a:prstGeom prst="rect">
            <a:avLst/>
          </a:prstGeom>
          <a:noFill/>
        </p:spPr>
        <p:txBody>
          <a:bodyPr wrap="square">
            <a:spAutoFit/>
          </a:bodyPr>
          <a:lstStyle/>
          <a:p>
            <a:pPr algn="ctr">
              <a:defRPr sz="2800" b="0">
                <a:solidFill>
                  <a:srgbClr val="A7A9BE"/>
                </a:solidFill>
                <a:latin typeface="Calibri"/>
              </a:defRPr>
            </a:pPr>
            <a:r>
              <a:t>Elli, you use ChatGPT to help with your writing, and that's awesome!</a:t>
            </a:r>
          </a:p>
        </p:txBody>
      </p:sp>
      <p:sp>
        <p:nvSpPr>
          <p:cNvPr id="6" name="TextBox 5"/>
          <p:cNvSpPr txBox="1"/>
          <p:nvPr/>
        </p:nvSpPr>
        <p:spPr>
          <a:xfrm>
            <a:off x="1371600" y="2468880"/>
            <a:ext cx="9448495" cy="4114800"/>
          </a:xfrm>
          <a:prstGeom prst="rect">
            <a:avLst/>
          </a:prstGeom>
          <a:noFill/>
        </p:spPr>
        <p:txBody>
          <a:bodyPr wrap="square">
            <a:spAutoFit/>
          </a:bodyPr>
          <a:lstStyle/>
          <a:p>
            <a:pPr>
              <a:spcBef>
                <a:spcPts val="200"/>
              </a:spcBef>
              <a:spcAft>
                <a:spcPts val="600"/>
              </a:spcAft>
            </a:pPr>
            <a:r>
              <a:rPr sz="2600">
                <a:solidFill>
                  <a:srgbClr val="FFFFFF"/>
                </a:solidFill>
                <a:latin typeface="Calibri"/>
              </a:rPr>
              <a:t>✅  Using it to brainstorm ideas, work through plot problems — great!</a:t>
            </a:r>
          </a:p>
          <a:p>
            <a:pPr>
              <a:spcBef>
                <a:spcPts val="200"/>
              </a:spcBef>
              <a:spcAft>
                <a:spcPts val="600"/>
              </a:spcAft>
            </a:pPr>
            <a:r>
              <a:rPr sz="2600">
                <a:solidFill>
                  <a:srgbClr val="FFFFFF"/>
                </a:solidFill>
                <a:latin typeface="Calibri"/>
              </a:rPr>
              <a:t>✅  Using it to check grammar or get feedback — great!</a:t>
            </a:r>
          </a:p>
          <a:p>
            <a:pPr>
              <a:spcBef>
                <a:spcPts val="200"/>
              </a:spcBef>
              <a:spcAft>
                <a:spcPts val="600"/>
              </a:spcAft>
            </a:pPr>
            <a:r>
              <a:rPr sz="2600">
                <a:solidFill>
                  <a:srgbClr val="FFFFFF"/>
                </a:solidFill>
                <a:latin typeface="Calibri"/>
              </a:rPr>
              <a:t>⚠️  Don't let it write whole chapters FOR you — your voice is what makes your book special</a:t>
            </a:r>
          </a:p>
          <a:p>
            <a:pPr>
              <a:spcBef>
                <a:spcPts val="200"/>
              </a:spcBef>
              <a:spcAft>
                <a:spcPts val="600"/>
              </a:spcAft>
            </a:pPr>
            <a:r>
              <a:rPr sz="2600">
                <a:solidFill>
                  <a:srgbClr val="FFFFFF"/>
                </a:solidFill>
                <a:latin typeface="Calibri"/>
              </a:rPr>
              <a:t>🔍  Always fact-check anything it tells you</a:t>
            </a:r>
          </a:p>
          <a:p>
            <a:pPr>
              <a:spcBef>
                <a:spcPts val="200"/>
              </a:spcBef>
              <a:spcAft>
                <a:spcPts val="600"/>
              </a:spcAft>
            </a:pPr>
            <a:r>
              <a:rPr sz="2600">
                <a:solidFill>
                  <a:srgbClr val="FFFFFF"/>
                </a:solidFill>
                <a:latin typeface="Calibri"/>
              </a:rPr>
              <a:t>🚫  Never share personal details with ChatGPT</a:t>
            </a:r>
          </a:p>
          <a:p>
            <a:pPr>
              <a:spcBef>
                <a:spcPts val="200"/>
              </a:spcBef>
              <a:spcAft>
                <a:spcPts val="600"/>
              </a:spcAft>
            </a:pPr>
            <a:r>
              <a:rPr sz="2600">
                <a:solidFill>
                  <a:srgbClr val="FFFFFF"/>
                </a:solidFill>
                <a:latin typeface="Calibri"/>
              </a:rPr>
              <a:t>💡  Anything you type into ChatGPT may be stored and used for training</a:t>
            </a:r>
          </a:p>
        </p:txBody>
      </p:sp>
      <p:sp>
        <p:nvSpPr>
          <p:cNvPr id="7" name="Rounded Rectangle 6"/>
          <p:cNvSpPr/>
          <p:nvPr/>
        </p:nvSpPr>
        <p:spPr>
          <a:xfrm>
            <a:off x="1371600" y="4553712"/>
            <a:ext cx="9448495" cy="914400"/>
          </a:xfrm>
          <a:prstGeom prst="round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71600" y="4599432"/>
            <a:ext cx="73152" cy="822960"/>
          </a:xfrm>
          <a:prstGeom prst="rect">
            <a:avLst/>
          </a:prstGeom>
          <a:solidFill>
            <a:srgbClr val="2CB6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00200" y="4645152"/>
            <a:ext cx="9082735" cy="274320"/>
          </a:xfrm>
          <a:prstGeom prst="rect">
            <a:avLst/>
          </a:prstGeom>
          <a:noFill/>
        </p:spPr>
        <p:txBody>
          <a:bodyPr wrap="square">
            <a:spAutoFit/>
          </a:bodyPr>
          <a:lstStyle/>
          <a:p>
            <a:pPr algn="l">
              <a:defRPr sz="1200" b="1">
                <a:solidFill>
                  <a:srgbClr val="2CB67D"/>
                </a:solidFill>
                <a:latin typeface="Calibri"/>
              </a:defRPr>
            </a:pPr>
            <a:r>
              <a:t>REMEMBER</a:t>
            </a:r>
          </a:p>
        </p:txBody>
      </p:sp>
      <p:sp>
        <p:nvSpPr>
          <p:cNvPr id="10" name="TextBox 9"/>
          <p:cNvSpPr txBox="1"/>
          <p:nvPr/>
        </p:nvSpPr>
        <p:spPr>
          <a:xfrm>
            <a:off x="1600200" y="4901184"/>
            <a:ext cx="9082735" cy="457200"/>
          </a:xfrm>
          <a:prstGeom prst="rect">
            <a:avLst/>
          </a:prstGeom>
          <a:noFill/>
        </p:spPr>
        <p:txBody>
          <a:bodyPr wrap="square">
            <a:spAutoFit/>
          </a:bodyPr>
          <a:lstStyle/>
          <a:p>
            <a:pPr algn="l">
              <a:defRPr sz="1800" b="0">
                <a:solidFill>
                  <a:srgbClr val="A7A9BE"/>
                </a:solidFill>
                <a:latin typeface="Calibri"/>
              </a:defRPr>
            </a:pPr>
            <a:r>
              <a:t>ChatGPT is a tool, not a replacement for YOUR creativity. The best parts of your book will always be the ideas and words that come from YOU. ✨</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53</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Deepfakes &amp; AI Images</a:t>
            </a:r>
          </a:p>
        </p:txBody>
      </p:sp>
      <p:sp>
        <p:nvSpPr>
          <p:cNvPr id="5" name="TextBox 4"/>
          <p:cNvSpPr txBox="1"/>
          <p:nvPr/>
        </p:nvSpPr>
        <p:spPr>
          <a:xfrm>
            <a:off x="1371600" y="1737360"/>
            <a:ext cx="9448495" cy="731520"/>
          </a:xfrm>
          <a:prstGeom prst="rect">
            <a:avLst/>
          </a:prstGeom>
          <a:noFill/>
        </p:spPr>
        <p:txBody>
          <a:bodyPr wrap="square">
            <a:spAutoFit/>
          </a:bodyPr>
          <a:lstStyle/>
          <a:p>
            <a:pPr algn="ctr">
              <a:defRPr sz="2800" b="0">
                <a:solidFill>
                  <a:srgbClr val="A7A9BE"/>
                </a:solidFill>
                <a:latin typeface="Calibri"/>
              </a:defRPr>
            </a:pPr>
            <a:r>
              <a:t>AI can now create fake photos, videos, and voices that look completely real.</a:t>
            </a:r>
          </a:p>
        </p:txBody>
      </p:sp>
      <p:sp>
        <p:nvSpPr>
          <p:cNvPr id="6" name="TextBox 5"/>
          <p:cNvSpPr txBox="1"/>
          <p:nvPr/>
        </p:nvSpPr>
        <p:spPr>
          <a:xfrm>
            <a:off x="1371600" y="2468880"/>
            <a:ext cx="9448495" cy="4114800"/>
          </a:xfrm>
          <a:prstGeom prst="rect">
            <a:avLst/>
          </a:prstGeom>
          <a:noFill/>
        </p:spPr>
        <p:txBody>
          <a:bodyPr wrap="square">
            <a:spAutoFit/>
          </a:bodyPr>
          <a:lstStyle/>
          <a:p>
            <a:pPr>
              <a:spcBef>
                <a:spcPts val="200"/>
              </a:spcBef>
              <a:spcAft>
                <a:spcPts val="600"/>
              </a:spcAft>
            </a:pPr>
            <a:r>
              <a:rPr sz="2600">
                <a:solidFill>
                  <a:srgbClr val="FFFFFF"/>
                </a:solidFill>
                <a:latin typeface="Calibri"/>
              </a:rPr>
              <a:t>📸  Fake photos of real people (including teens)</a:t>
            </a:r>
          </a:p>
          <a:p>
            <a:pPr>
              <a:spcBef>
                <a:spcPts val="200"/>
              </a:spcBef>
              <a:spcAft>
                <a:spcPts val="600"/>
              </a:spcAft>
            </a:pPr>
            <a:r>
              <a:rPr sz="2600">
                <a:solidFill>
                  <a:srgbClr val="FFFFFF"/>
                </a:solidFill>
                <a:latin typeface="Calibri"/>
              </a:rPr>
              <a:t>🗣️  Cloned voices that sound exactly like someone you know</a:t>
            </a:r>
          </a:p>
          <a:p>
            <a:pPr>
              <a:spcBef>
                <a:spcPts val="200"/>
              </a:spcBef>
              <a:spcAft>
                <a:spcPts val="600"/>
              </a:spcAft>
            </a:pPr>
            <a:r>
              <a:rPr sz="2600">
                <a:solidFill>
                  <a:srgbClr val="FFFFFF"/>
                </a:solidFill>
                <a:latin typeface="Calibri"/>
              </a:rPr>
              <a:t>📹  Fake videos of celebrities saying things they never said</a:t>
            </a:r>
          </a:p>
          <a:p>
            <a:pPr>
              <a:spcBef>
                <a:spcPts val="200"/>
              </a:spcBef>
              <a:spcAft>
                <a:spcPts val="600"/>
              </a:spcAft>
            </a:pPr>
            <a:r>
              <a:rPr sz="2600">
                <a:solidFill>
                  <a:srgbClr val="FFFFFF"/>
                </a:solidFill>
                <a:latin typeface="Calibri"/>
              </a:rPr>
              <a:t>🚫  NEVER create or share AI-generated images of real people without consent</a:t>
            </a:r>
          </a:p>
        </p:txBody>
      </p:sp>
      <p:sp>
        <p:nvSpPr>
          <p:cNvPr id="7" name="Rounded Rectangle 6"/>
          <p:cNvSpPr/>
          <p:nvPr/>
        </p:nvSpPr>
        <p:spPr>
          <a:xfrm>
            <a:off x="1371600" y="3858768"/>
            <a:ext cx="9448495" cy="914400"/>
          </a:xfrm>
          <a:prstGeom prst="round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71600" y="3904488"/>
            <a:ext cx="73152" cy="82296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00200" y="3950208"/>
            <a:ext cx="9082735" cy="274320"/>
          </a:xfrm>
          <a:prstGeom prst="rect">
            <a:avLst/>
          </a:prstGeom>
          <a:noFill/>
        </p:spPr>
        <p:txBody>
          <a:bodyPr wrap="square">
            <a:spAutoFit/>
          </a:bodyPr>
          <a:lstStyle/>
          <a:p>
            <a:pPr algn="l">
              <a:defRPr sz="1200" b="1">
                <a:solidFill>
                  <a:srgbClr val="FF6B6B"/>
                </a:solidFill>
                <a:latin typeface="Calibri"/>
              </a:defRPr>
            </a:pPr>
            <a:r>
              <a:t>IMPORTANT</a:t>
            </a:r>
          </a:p>
        </p:txBody>
      </p:sp>
      <p:sp>
        <p:nvSpPr>
          <p:cNvPr id="10" name="TextBox 9"/>
          <p:cNvSpPr txBox="1"/>
          <p:nvPr/>
        </p:nvSpPr>
        <p:spPr>
          <a:xfrm>
            <a:off x="1600200" y="4206240"/>
            <a:ext cx="9082735" cy="457200"/>
          </a:xfrm>
          <a:prstGeom prst="rect">
            <a:avLst/>
          </a:prstGeom>
          <a:noFill/>
        </p:spPr>
        <p:txBody>
          <a:bodyPr wrap="square">
            <a:spAutoFit/>
          </a:bodyPr>
          <a:lstStyle/>
          <a:p>
            <a:pPr algn="l">
              <a:defRPr sz="1800" b="0">
                <a:solidFill>
                  <a:srgbClr val="A7A9BE"/>
                </a:solidFill>
                <a:latin typeface="Calibri"/>
              </a:defRPr>
            </a:pPr>
            <a:r>
              <a:t>If someone uses AI to create inappropriate images of you or someone you know — that is a CRIME. Tell a parent immediately.</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54</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AI &amp; School</a:t>
            </a:r>
          </a:p>
        </p:txBody>
      </p:sp>
      <p:sp>
        <p:nvSpPr>
          <p:cNvPr id="5" name="TextBox 4"/>
          <p:cNvSpPr txBox="1"/>
          <p:nvPr/>
        </p:nvSpPr>
        <p:spPr>
          <a:xfrm>
            <a:off x="1371600" y="1737360"/>
            <a:ext cx="9448495" cy="4114800"/>
          </a:xfrm>
          <a:prstGeom prst="rect">
            <a:avLst/>
          </a:prstGeom>
          <a:noFill/>
        </p:spPr>
        <p:txBody>
          <a:bodyPr wrap="square">
            <a:spAutoFit/>
          </a:bodyPr>
          <a:lstStyle/>
          <a:p>
            <a:pPr>
              <a:spcBef>
                <a:spcPts val="200"/>
              </a:spcBef>
              <a:spcAft>
                <a:spcPts val="600"/>
              </a:spcAft>
            </a:pPr>
            <a:r>
              <a:rPr sz="2600">
                <a:solidFill>
                  <a:srgbClr val="FFFFFF"/>
                </a:solidFill>
                <a:latin typeface="Calibri"/>
              </a:rPr>
              <a:t>✅  Using AI to explain a concept you don't understand — great!</a:t>
            </a:r>
          </a:p>
          <a:p>
            <a:pPr>
              <a:spcBef>
                <a:spcPts val="200"/>
              </a:spcBef>
              <a:spcAft>
                <a:spcPts val="600"/>
              </a:spcAft>
            </a:pPr>
            <a:r>
              <a:rPr sz="2600">
                <a:solidFill>
                  <a:srgbClr val="FFFFFF"/>
                </a:solidFill>
                <a:latin typeface="Calibri"/>
              </a:rPr>
              <a:t>✅  Using AI to brainstorm ideas — great!</a:t>
            </a:r>
          </a:p>
          <a:p>
            <a:pPr>
              <a:spcBef>
                <a:spcPts val="200"/>
              </a:spcBef>
              <a:spcAft>
                <a:spcPts val="600"/>
              </a:spcAft>
            </a:pPr>
            <a:r>
              <a:rPr sz="2600">
                <a:solidFill>
                  <a:srgbClr val="FFFFFF"/>
                </a:solidFill>
                <a:latin typeface="Calibri"/>
              </a:rPr>
              <a:t>✅  Using AI to check your work — great!</a:t>
            </a:r>
          </a:p>
          <a:p>
            <a:pPr>
              <a:spcBef>
                <a:spcPts val="200"/>
              </a:spcBef>
              <a:spcAft>
                <a:spcPts val="600"/>
              </a:spcAft>
            </a:pPr>
            <a:r>
              <a:rPr sz="2600">
                <a:solidFill>
                  <a:srgbClr val="FFFFFF"/>
                </a:solidFill>
                <a:latin typeface="Calibri"/>
              </a:rPr>
              <a:t>❌  Copying AI-generated text as your own work — that's plagiarism</a:t>
            </a:r>
          </a:p>
          <a:p>
            <a:pPr>
              <a:spcBef>
                <a:spcPts val="200"/>
              </a:spcBef>
              <a:spcAft>
                <a:spcPts val="600"/>
              </a:spcAft>
            </a:pPr>
            <a:r>
              <a:rPr sz="2600">
                <a:solidFill>
                  <a:srgbClr val="FFFFFF"/>
                </a:solidFill>
                <a:latin typeface="Calibri"/>
              </a:rPr>
              <a:t>❌  Having AI do your homework — you're only cheating yourself</a:t>
            </a:r>
          </a:p>
          <a:p>
            <a:pPr>
              <a:spcBef>
                <a:spcPts val="200"/>
              </a:spcBef>
              <a:spcAft>
                <a:spcPts val="600"/>
              </a:spcAft>
            </a:pPr>
            <a:r>
              <a:rPr sz="2600">
                <a:solidFill>
                  <a:srgbClr val="FFFFFF"/>
                </a:solidFill>
                <a:latin typeface="Calibri"/>
              </a:rPr>
              <a:t>💡  Your teachers can often tell. And even if they can't — YOU know.</a:t>
            </a:r>
          </a:p>
        </p:txBody>
      </p:sp>
      <p:sp>
        <p:nvSpPr>
          <p:cNvPr id="6" name="Rounded Rectangle 5"/>
          <p:cNvSpPr/>
          <p:nvPr/>
        </p:nvSpPr>
        <p:spPr>
          <a:xfrm>
            <a:off x="1371600" y="3822192"/>
            <a:ext cx="9448495" cy="914400"/>
          </a:xfrm>
          <a:prstGeom prst="round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71600" y="3867912"/>
            <a:ext cx="73152" cy="822960"/>
          </a:xfrm>
          <a:prstGeom prst="rect">
            <a:avLst/>
          </a:prstGeom>
          <a:solidFill>
            <a:srgbClr val="2CB6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00200" y="3913632"/>
            <a:ext cx="9082735" cy="274320"/>
          </a:xfrm>
          <a:prstGeom prst="rect">
            <a:avLst/>
          </a:prstGeom>
          <a:noFill/>
        </p:spPr>
        <p:txBody>
          <a:bodyPr wrap="square">
            <a:spAutoFit/>
          </a:bodyPr>
          <a:lstStyle/>
          <a:p>
            <a:pPr algn="l">
              <a:defRPr sz="1200" b="1">
                <a:solidFill>
                  <a:srgbClr val="2CB67D"/>
                </a:solidFill>
                <a:latin typeface="Calibri"/>
              </a:defRPr>
            </a:pPr>
            <a:r>
              <a:t>RULE OF THUMB</a:t>
            </a:r>
          </a:p>
        </p:txBody>
      </p:sp>
      <p:sp>
        <p:nvSpPr>
          <p:cNvPr id="9" name="TextBox 8"/>
          <p:cNvSpPr txBox="1"/>
          <p:nvPr/>
        </p:nvSpPr>
        <p:spPr>
          <a:xfrm>
            <a:off x="1600200" y="4169664"/>
            <a:ext cx="9082735" cy="457200"/>
          </a:xfrm>
          <a:prstGeom prst="rect">
            <a:avLst/>
          </a:prstGeom>
          <a:noFill/>
        </p:spPr>
        <p:txBody>
          <a:bodyPr wrap="square">
            <a:spAutoFit/>
          </a:bodyPr>
          <a:lstStyle/>
          <a:p>
            <a:pPr algn="l">
              <a:defRPr sz="1800" b="0">
                <a:solidFill>
                  <a:srgbClr val="A7A9BE"/>
                </a:solidFill>
                <a:latin typeface="Calibri"/>
              </a:defRPr>
            </a:pPr>
            <a:r>
              <a:t>Use AI like a tutor, not a ghostwriter. If you can't explain it in your own words, you didn't learn it.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55</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Character.ai &amp; AI Chatbot Apps</a:t>
            </a:r>
          </a:p>
        </p:txBody>
      </p:sp>
      <p:sp>
        <p:nvSpPr>
          <p:cNvPr id="5" name="TextBox 4"/>
          <p:cNvSpPr txBox="1"/>
          <p:nvPr/>
        </p:nvSpPr>
        <p:spPr>
          <a:xfrm>
            <a:off x="1371600" y="1737360"/>
            <a:ext cx="9448495" cy="731520"/>
          </a:xfrm>
          <a:prstGeom prst="rect">
            <a:avLst/>
          </a:prstGeom>
          <a:noFill/>
        </p:spPr>
        <p:txBody>
          <a:bodyPr wrap="square">
            <a:spAutoFit/>
          </a:bodyPr>
          <a:lstStyle/>
          <a:p>
            <a:pPr algn="ctr">
              <a:defRPr sz="2800" b="0">
                <a:solidFill>
                  <a:srgbClr val="A7A9BE"/>
                </a:solidFill>
                <a:latin typeface="Calibri"/>
              </a:defRPr>
            </a:pPr>
            <a:r>
              <a:t>Apps like Character.ai let you create and chat with AI "characters." These sound fun, but they can be genuinely dangerous:</a:t>
            </a:r>
          </a:p>
        </p:txBody>
      </p:sp>
      <p:sp>
        <p:nvSpPr>
          <p:cNvPr id="6" name="TextBox 5"/>
          <p:cNvSpPr txBox="1"/>
          <p:nvPr/>
        </p:nvSpPr>
        <p:spPr>
          <a:xfrm>
            <a:off x="1371600" y="2468880"/>
            <a:ext cx="9448495" cy="4114800"/>
          </a:xfrm>
          <a:prstGeom prst="rect">
            <a:avLst/>
          </a:prstGeom>
          <a:noFill/>
        </p:spPr>
        <p:txBody>
          <a:bodyPr wrap="square">
            <a:spAutoFit/>
          </a:bodyPr>
          <a:lstStyle/>
          <a:p>
            <a:pPr>
              <a:spcBef>
                <a:spcPts val="200"/>
              </a:spcBef>
              <a:spcAft>
                <a:spcPts val="600"/>
              </a:spcAft>
            </a:pPr>
            <a:r>
              <a:rPr sz="2600">
                <a:solidFill>
                  <a:srgbClr val="FFFFFF"/>
                </a:solidFill>
                <a:latin typeface="Calibri"/>
              </a:rPr>
              <a:t>🎭  Characters can discuss adult and inappropriate topics — safety filters are weak</a:t>
            </a:r>
          </a:p>
          <a:p>
            <a:pPr>
              <a:spcBef>
                <a:spcPts val="200"/>
              </a:spcBef>
              <a:spcAft>
                <a:spcPts val="600"/>
              </a:spcAft>
            </a:pPr>
            <a:r>
              <a:rPr sz="2600">
                <a:solidFill>
                  <a:srgbClr val="FFFFFF"/>
                </a:solidFill>
                <a:latin typeface="Calibri"/>
              </a:rPr>
              <a:t>🧠  Long conversations can feel like real relationships — but they're NOT real</a:t>
            </a:r>
          </a:p>
          <a:p>
            <a:pPr>
              <a:spcBef>
                <a:spcPts val="200"/>
              </a:spcBef>
              <a:spcAft>
                <a:spcPts val="600"/>
              </a:spcAft>
            </a:pPr>
            <a:r>
              <a:rPr sz="2600">
                <a:solidFill>
                  <a:srgbClr val="FFFFFF"/>
                </a:solidFill>
                <a:latin typeface="Calibri"/>
              </a:rPr>
              <a:t>💬  These apps can normalize unhealthy conversations</a:t>
            </a:r>
          </a:p>
          <a:p>
            <a:pPr>
              <a:spcBef>
                <a:spcPts val="200"/>
              </a:spcBef>
              <a:spcAft>
                <a:spcPts val="600"/>
              </a:spcAft>
            </a:pPr>
            <a:r>
              <a:rPr sz="2600">
                <a:solidFill>
                  <a:srgbClr val="FFFFFF"/>
                </a:solidFill>
                <a:latin typeface="Calibri"/>
              </a:rPr>
              <a:t>😔  They can encourage emotional dependency on fictional characters</a:t>
            </a:r>
          </a:p>
          <a:p>
            <a:pPr>
              <a:spcBef>
                <a:spcPts val="200"/>
              </a:spcBef>
              <a:spcAft>
                <a:spcPts val="600"/>
              </a:spcAft>
            </a:pPr>
            <a:r>
              <a:rPr sz="2600">
                <a:solidFill>
                  <a:srgbClr val="FFFFFF"/>
                </a:solidFill>
                <a:latin typeface="Calibri"/>
              </a:rPr>
              <a:t>🚫  There is no real moderation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56</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You Already Made the Right Call</a:t>
            </a:r>
          </a:p>
        </p:txBody>
      </p:sp>
      <p:sp>
        <p:nvSpPr>
          <p:cNvPr id="5" name="TextBox 4"/>
          <p:cNvSpPr txBox="1"/>
          <p:nvPr/>
        </p:nvSpPr>
        <p:spPr>
          <a:xfrm>
            <a:off x="1371600" y="1737360"/>
            <a:ext cx="9448495" cy="731520"/>
          </a:xfrm>
          <a:prstGeom prst="rect">
            <a:avLst/>
          </a:prstGeom>
          <a:noFill/>
        </p:spPr>
        <p:txBody>
          <a:bodyPr wrap="square">
            <a:spAutoFit/>
          </a:bodyPr>
          <a:lstStyle/>
          <a:p>
            <a:pPr algn="ctr">
              <a:defRPr sz="2800" b="0">
                <a:solidFill>
                  <a:srgbClr val="A7A9BE"/>
                </a:solidFill>
                <a:latin typeface="Calibri"/>
              </a:defRPr>
            </a:pPr>
            <a:r>
              <a:t>Elli, you tried Character.ai and you deleted it. That was absolutely the right decision, and we're proud of you.</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57</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AI Chatbot Apps to Avoid</a:t>
            </a:r>
          </a:p>
        </p:txBody>
      </p:sp>
      <p:sp>
        <p:nvSpPr>
          <p:cNvPr id="5" name="TextBox 4"/>
          <p:cNvSpPr txBox="1"/>
          <p:nvPr/>
        </p:nvSpPr>
        <p:spPr>
          <a:xfrm>
            <a:off x="1371600" y="1737360"/>
            <a:ext cx="9448495" cy="4114800"/>
          </a:xfrm>
          <a:prstGeom prst="rect">
            <a:avLst/>
          </a:prstGeom>
          <a:noFill/>
        </p:spPr>
        <p:txBody>
          <a:bodyPr wrap="square">
            <a:spAutoFit/>
          </a:bodyPr>
          <a:lstStyle/>
          <a:p>
            <a:pPr>
              <a:spcBef>
                <a:spcPts val="200"/>
              </a:spcBef>
              <a:spcAft>
                <a:spcPts val="600"/>
              </a:spcAft>
            </a:pPr>
            <a:r>
              <a:rPr sz="2600">
                <a:solidFill>
                  <a:srgbClr val="FFFFFF"/>
                </a:solidFill>
                <a:latin typeface="Calibri"/>
              </a:rPr>
              <a:t>🚩  Character.ai — AI character roleplay</a:t>
            </a:r>
          </a:p>
          <a:p>
            <a:pPr>
              <a:spcBef>
                <a:spcPts val="200"/>
              </a:spcBef>
              <a:spcAft>
                <a:spcPts val="600"/>
              </a:spcAft>
            </a:pPr>
            <a:r>
              <a:rPr sz="2600">
                <a:solidFill>
                  <a:srgbClr val="FFFFFF"/>
                </a:solidFill>
                <a:latin typeface="Calibri"/>
              </a:rPr>
              <a:t>🚩  Chai — AI chat companions</a:t>
            </a:r>
          </a:p>
          <a:p>
            <a:pPr>
              <a:spcBef>
                <a:spcPts val="200"/>
              </a:spcBef>
              <a:spcAft>
                <a:spcPts val="600"/>
              </a:spcAft>
            </a:pPr>
            <a:r>
              <a:rPr sz="2600">
                <a:solidFill>
                  <a:srgbClr val="FFFFFF"/>
                </a:solidFill>
                <a:latin typeface="Calibri"/>
              </a:rPr>
              <a:t>🚩  Replika — AI "friend" / companion</a:t>
            </a:r>
          </a:p>
          <a:p>
            <a:pPr>
              <a:spcBef>
                <a:spcPts val="200"/>
              </a:spcBef>
              <a:spcAft>
                <a:spcPts val="600"/>
              </a:spcAft>
            </a:pPr>
            <a:r>
              <a:rPr sz="2600">
                <a:solidFill>
                  <a:srgbClr val="FFFFFF"/>
                </a:solidFill>
                <a:latin typeface="Calibri"/>
              </a:rPr>
              <a:t>🚩  Janitor AI — unfiltered AI characters</a:t>
            </a:r>
          </a:p>
          <a:p>
            <a:pPr>
              <a:spcBef>
                <a:spcPts val="200"/>
              </a:spcBef>
              <a:spcAft>
                <a:spcPts val="600"/>
              </a:spcAft>
            </a:pPr>
            <a:r>
              <a:rPr sz="2600">
                <a:solidFill>
                  <a:srgbClr val="FFFFFF"/>
                </a:solidFill>
                <a:latin typeface="Calibri"/>
              </a:rPr>
              <a:t>🚩  CrushOn.ai — explicitly designed for inappropriate AI chat</a:t>
            </a:r>
          </a:p>
        </p:txBody>
      </p:sp>
      <p:sp>
        <p:nvSpPr>
          <p:cNvPr id="6" name="TextBox 5"/>
          <p:cNvSpPr txBox="1"/>
          <p:nvPr/>
        </p:nvSpPr>
        <p:spPr>
          <a:xfrm>
            <a:off x="1371600" y="3474720"/>
            <a:ext cx="9448495" cy="457200"/>
          </a:xfrm>
          <a:prstGeom prst="rect">
            <a:avLst/>
          </a:prstGeom>
          <a:noFill/>
        </p:spPr>
        <p:txBody>
          <a:bodyPr wrap="square">
            <a:spAutoFit/>
          </a:bodyPr>
          <a:lstStyle/>
          <a:p>
            <a:pPr algn="ctr">
              <a:defRPr sz="1800" b="0">
                <a:solidFill>
                  <a:srgbClr val="A855F7"/>
                </a:solidFill>
                <a:latin typeface="Calibri"/>
              </a:defRPr>
            </a:pPr>
            <a:r>
              <a:t>If an app lets you have uncensored conversations with AI characters — that's a red flag. 🚩</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58</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AI &amp; Your Privacy</a:t>
            </a:r>
          </a:p>
        </p:txBody>
      </p:sp>
      <p:sp>
        <p:nvSpPr>
          <p:cNvPr id="5" name="TextBox 4"/>
          <p:cNvSpPr txBox="1"/>
          <p:nvPr/>
        </p:nvSpPr>
        <p:spPr>
          <a:xfrm>
            <a:off x="1371600" y="1737360"/>
            <a:ext cx="9448495" cy="4114800"/>
          </a:xfrm>
          <a:prstGeom prst="rect">
            <a:avLst/>
          </a:prstGeom>
          <a:noFill/>
        </p:spPr>
        <p:txBody>
          <a:bodyPr wrap="square">
            <a:spAutoFit/>
          </a:bodyPr>
          <a:lstStyle/>
          <a:p>
            <a:pPr>
              <a:spcBef>
                <a:spcPts val="200"/>
              </a:spcBef>
              <a:spcAft>
                <a:spcPts val="600"/>
              </a:spcAft>
            </a:pPr>
            <a:r>
              <a:rPr sz="2600">
                <a:solidFill>
                  <a:srgbClr val="FFFFFF"/>
                </a:solidFill>
                <a:latin typeface="Calibri"/>
              </a:rPr>
              <a:t>🚫  Don't share personal info with AI chatbots (name, address, school)</a:t>
            </a:r>
          </a:p>
          <a:p>
            <a:pPr>
              <a:spcBef>
                <a:spcPts val="200"/>
              </a:spcBef>
              <a:spcAft>
                <a:spcPts val="600"/>
              </a:spcAft>
            </a:pPr>
            <a:r>
              <a:rPr sz="2600">
                <a:solidFill>
                  <a:srgbClr val="FFFFFF"/>
                </a:solidFill>
                <a:latin typeface="Calibri"/>
              </a:rPr>
              <a:t>🚫  Don't upload personal photos to AI tools</a:t>
            </a:r>
          </a:p>
          <a:p>
            <a:pPr>
              <a:spcBef>
                <a:spcPts val="200"/>
              </a:spcBef>
              <a:spcAft>
                <a:spcPts val="600"/>
              </a:spcAft>
            </a:pPr>
            <a:r>
              <a:rPr sz="2600">
                <a:solidFill>
                  <a:srgbClr val="FFFFFF"/>
                </a:solidFill>
                <a:latin typeface="Calibri"/>
              </a:rPr>
              <a:t>🚫  Don't share passwords or family info</a:t>
            </a:r>
          </a:p>
          <a:p>
            <a:pPr>
              <a:spcBef>
                <a:spcPts val="200"/>
              </a:spcBef>
              <a:spcAft>
                <a:spcPts val="600"/>
              </a:spcAft>
            </a:pPr>
            <a:r>
              <a:rPr sz="2600">
                <a:solidFill>
                  <a:srgbClr val="FFFFFF"/>
                </a:solidFill>
                <a:latin typeface="Calibri"/>
              </a:rPr>
              <a:t>💡  Anything you type into an AI may be stored and used for training</a:t>
            </a:r>
          </a:p>
          <a:p>
            <a:pPr>
              <a:spcBef>
                <a:spcPts val="200"/>
              </a:spcBef>
              <a:spcAft>
                <a:spcPts val="600"/>
              </a:spcAft>
            </a:pPr>
            <a:r>
              <a:rPr sz="2600">
                <a:solidFill>
                  <a:srgbClr val="FFFFFF"/>
                </a:solidFill>
                <a:latin typeface="Calibri"/>
              </a:rPr>
              <a:t>💡  Treat AI conversations like posting on a public billboard</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59</a:t>
            </a:r>
          </a:p>
        </p:txBody>
      </p:sp>
      <p:sp>
        <p:nvSpPr>
          <p:cNvPr id="3" name="Rounded Rectangle 2"/>
          <p:cNvSpPr/>
          <p:nvPr/>
        </p:nvSpPr>
        <p:spPr>
          <a:xfrm>
            <a:off x="1371600" y="1371600"/>
            <a:ext cx="9448495" cy="4114800"/>
          </a:xfrm>
          <a:prstGeom prst="roundRect">
            <a:avLst/>
          </a:prstGeom>
          <a:solidFill>
            <a:srgbClr val="1F1A3E"/>
          </a:solidFill>
          <a:ln w="254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45920" y="1554480"/>
            <a:ext cx="8899855" cy="365760"/>
          </a:xfrm>
          <a:prstGeom prst="rect">
            <a:avLst/>
          </a:prstGeom>
          <a:noFill/>
        </p:spPr>
        <p:txBody>
          <a:bodyPr wrap="square">
            <a:spAutoFit/>
          </a:bodyPr>
          <a:lstStyle/>
          <a:p>
            <a:pPr algn="l">
              <a:defRPr sz="1900" b="1">
                <a:solidFill>
                  <a:srgbClr val="A855F7"/>
                </a:solidFill>
                <a:latin typeface="Calibri"/>
              </a:defRPr>
            </a:pPr>
            <a:r>
              <a:t>💬 DISCUSSION PROMPT</a:t>
            </a:r>
          </a:p>
        </p:txBody>
      </p:sp>
      <p:sp>
        <p:nvSpPr>
          <p:cNvPr id="5" name="TextBox 4"/>
          <p:cNvSpPr txBox="1"/>
          <p:nvPr/>
        </p:nvSpPr>
        <p:spPr>
          <a:xfrm>
            <a:off x="1645920" y="1874520"/>
            <a:ext cx="8899855" cy="3474720"/>
          </a:xfrm>
          <a:prstGeom prst="rect">
            <a:avLst/>
          </a:prstGeom>
          <a:noFill/>
        </p:spPr>
        <p:txBody>
          <a:bodyPr wrap="square">
            <a:spAutoFit/>
          </a:bodyPr>
          <a:lstStyle/>
          <a:p>
            <a:pPr algn="l">
              <a:defRPr sz="2800" b="0">
                <a:solidFill>
                  <a:srgbClr val="FFFFFF"/>
                </a:solidFill>
                <a:latin typeface="Calibri"/>
              </a:defRPr>
            </a:pPr>
            <a:r>
              <a:t>Elli, what did you notice about Character.ai that made you uncomfortable? How can you tell if an AI app is safe to use vs. one you should avoid? What makes ChatGPT different from Character.ai?</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60</a:t>
            </a:r>
          </a:p>
        </p:txBody>
      </p:sp>
      <p:sp>
        <p:nvSpPr>
          <p:cNvPr id="3" name="TextBox 2"/>
          <p:cNvSpPr txBox="1"/>
          <p:nvPr/>
        </p:nvSpPr>
        <p:spPr>
          <a:xfrm>
            <a:off x="914400" y="914400"/>
            <a:ext cx="10362895" cy="365760"/>
          </a:xfrm>
          <a:prstGeom prst="rect">
            <a:avLst/>
          </a:prstGeom>
          <a:noFill/>
        </p:spPr>
        <p:txBody>
          <a:bodyPr wrap="square">
            <a:spAutoFit/>
          </a:bodyPr>
          <a:lstStyle/>
          <a:p>
            <a:pPr algn="ctr">
              <a:defRPr sz="1400" b="1">
                <a:solidFill>
                  <a:srgbClr val="06B6D4"/>
                </a:solidFill>
                <a:latin typeface="Calibri"/>
              </a:defRPr>
            </a:pPr>
            <a:r>
              <a:t>MODULE 7 — ALGORITHMS</a:t>
            </a:r>
          </a:p>
        </p:txBody>
      </p:sp>
      <p:sp>
        <p:nvSpPr>
          <p:cNvPr id="4" name="TextBox 3"/>
          <p:cNvSpPr txBox="1"/>
          <p:nvPr/>
        </p:nvSpPr>
        <p:spPr>
          <a:xfrm>
            <a:off x="914400" y="1371600"/>
            <a:ext cx="10362895" cy="914400"/>
          </a:xfrm>
          <a:prstGeom prst="rect">
            <a:avLst/>
          </a:prstGeom>
          <a:noFill/>
        </p:spPr>
        <p:txBody>
          <a:bodyPr wrap="square">
            <a:spAutoFit/>
          </a:bodyPr>
          <a:lstStyle/>
          <a:p>
            <a:pPr algn="ctr">
              <a:defRPr sz="7200" b="0">
                <a:solidFill>
                  <a:srgbClr val="FFFFFF"/>
                </a:solidFill>
                <a:latin typeface="Calibri"/>
              </a:defRPr>
            </a:pPr>
            <a:r>
              <a:t>📊</a:t>
            </a:r>
          </a:p>
        </p:txBody>
      </p:sp>
      <p:sp>
        <p:nvSpPr>
          <p:cNvPr id="5" name="TextBox 4"/>
          <p:cNvSpPr txBox="1"/>
          <p:nvPr/>
        </p:nvSpPr>
        <p:spPr>
          <a:xfrm>
            <a:off x="914400" y="2377440"/>
            <a:ext cx="10362895" cy="914400"/>
          </a:xfrm>
          <a:prstGeom prst="rect">
            <a:avLst/>
          </a:prstGeom>
          <a:noFill/>
        </p:spPr>
        <p:txBody>
          <a:bodyPr wrap="square">
            <a:spAutoFit/>
          </a:bodyPr>
          <a:lstStyle/>
          <a:p>
            <a:pPr algn="ctr">
              <a:defRPr sz="4800" b="1">
                <a:solidFill>
                  <a:srgbClr val="A855F7"/>
                </a:solidFill>
                <a:latin typeface="Calibri"/>
              </a:defRPr>
            </a:pPr>
            <a:r>
              <a:t>Outsmarting the Algorithm</a:t>
            </a:r>
          </a:p>
        </p:txBody>
      </p:sp>
      <p:sp>
        <p:nvSpPr>
          <p:cNvPr id="6" name="TextBox 5"/>
          <p:cNvSpPr txBox="1"/>
          <p:nvPr/>
        </p:nvSpPr>
        <p:spPr>
          <a:xfrm>
            <a:off x="1371600" y="3291840"/>
            <a:ext cx="9448495" cy="1371600"/>
          </a:xfrm>
          <a:prstGeom prst="rect">
            <a:avLst/>
          </a:prstGeom>
          <a:noFill/>
        </p:spPr>
        <p:txBody>
          <a:bodyPr wrap="square">
            <a:spAutoFit/>
          </a:bodyPr>
          <a:lstStyle/>
          <a:p>
            <a:pPr algn="ctr">
              <a:defRPr sz="2600" b="0">
                <a:solidFill>
                  <a:srgbClr val="A7A9BE"/>
                </a:solidFill>
                <a:latin typeface="Calibri"/>
              </a:defRPr>
            </a:pPr>
            <a:r>
              <a:t>Your feed is not random.</a:t>
            </a:r>
            <a:br/>
            <a:r>
              <a:t>It's engineered.</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61</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How Algorithms Work</a:t>
            </a:r>
          </a:p>
        </p:txBody>
      </p:sp>
      <p:sp>
        <p:nvSpPr>
          <p:cNvPr id="5" name="TextBox 4"/>
          <p:cNvSpPr txBox="1"/>
          <p:nvPr/>
        </p:nvSpPr>
        <p:spPr>
          <a:xfrm>
            <a:off x="1371600" y="1737360"/>
            <a:ext cx="9448495" cy="731520"/>
          </a:xfrm>
          <a:prstGeom prst="rect">
            <a:avLst/>
          </a:prstGeom>
          <a:noFill/>
        </p:spPr>
        <p:txBody>
          <a:bodyPr wrap="square">
            <a:spAutoFit/>
          </a:bodyPr>
          <a:lstStyle/>
          <a:p>
            <a:pPr algn="ctr">
              <a:defRPr sz="2800" b="0">
                <a:solidFill>
                  <a:srgbClr val="A7A9BE"/>
                </a:solidFill>
                <a:latin typeface="Calibri"/>
              </a:defRPr>
            </a:pPr>
            <a:r>
              <a:t>Every app tracks what you do and shows you more of it:</a:t>
            </a:r>
          </a:p>
        </p:txBody>
      </p:sp>
      <p:sp>
        <p:nvSpPr>
          <p:cNvPr id="6" name="TextBox 5"/>
          <p:cNvSpPr txBox="1"/>
          <p:nvPr/>
        </p:nvSpPr>
        <p:spPr>
          <a:xfrm>
            <a:off x="1371600" y="2468880"/>
            <a:ext cx="9448495" cy="4114800"/>
          </a:xfrm>
          <a:prstGeom prst="rect">
            <a:avLst/>
          </a:prstGeom>
          <a:noFill/>
        </p:spPr>
        <p:txBody>
          <a:bodyPr wrap="square">
            <a:spAutoFit/>
          </a:bodyPr>
          <a:lstStyle/>
          <a:p>
            <a:pPr>
              <a:spcBef>
                <a:spcPts val="200"/>
              </a:spcBef>
              <a:spcAft>
                <a:spcPts val="600"/>
              </a:spcAft>
            </a:pPr>
            <a:r>
              <a:rPr sz="2600">
                <a:solidFill>
                  <a:srgbClr val="FFFFFF"/>
                </a:solidFill>
                <a:latin typeface="Calibri"/>
              </a:rPr>
              <a:t>👀  What you watch (and how long)</a:t>
            </a:r>
          </a:p>
          <a:p>
            <a:pPr>
              <a:spcBef>
                <a:spcPts val="200"/>
              </a:spcBef>
              <a:spcAft>
                <a:spcPts val="600"/>
              </a:spcAft>
            </a:pPr>
            <a:r>
              <a:rPr sz="2600">
                <a:solidFill>
                  <a:srgbClr val="FFFFFF"/>
                </a:solidFill>
                <a:latin typeface="Calibri"/>
              </a:rPr>
              <a:t>❤️  What you like, comment on, and share</a:t>
            </a:r>
          </a:p>
          <a:p>
            <a:pPr>
              <a:spcBef>
                <a:spcPts val="200"/>
              </a:spcBef>
              <a:spcAft>
                <a:spcPts val="600"/>
              </a:spcAft>
            </a:pPr>
            <a:r>
              <a:rPr sz="2600">
                <a:solidFill>
                  <a:srgbClr val="FFFFFF"/>
                </a:solidFill>
                <a:latin typeface="Calibri"/>
              </a:rPr>
              <a:t>🔍  What you search for</a:t>
            </a:r>
          </a:p>
          <a:p>
            <a:pPr>
              <a:spcBef>
                <a:spcPts val="200"/>
              </a:spcBef>
              <a:spcAft>
                <a:spcPts val="600"/>
              </a:spcAft>
            </a:pPr>
            <a:r>
              <a:rPr sz="2600">
                <a:solidFill>
                  <a:srgbClr val="FFFFFF"/>
                </a:solidFill>
                <a:latin typeface="Calibri"/>
              </a:rPr>
              <a:t>⏱️  Where you pause while scrolling</a:t>
            </a:r>
          </a:p>
          <a:p>
            <a:pPr>
              <a:spcBef>
                <a:spcPts val="200"/>
              </a:spcBef>
              <a:spcAft>
                <a:spcPts val="600"/>
              </a:spcAft>
            </a:pPr>
            <a:r>
              <a:rPr sz="2600">
                <a:solidFill>
                  <a:srgbClr val="FFFFFF"/>
                </a:solidFill>
                <a:latin typeface="Calibri"/>
              </a:rPr>
              <a:t>📍  Your location and time of day</a:t>
            </a:r>
          </a:p>
        </p:txBody>
      </p:sp>
      <p:sp>
        <p:nvSpPr>
          <p:cNvPr id="7" name="TextBox 6"/>
          <p:cNvSpPr txBox="1"/>
          <p:nvPr/>
        </p:nvSpPr>
        <p:spPr>
          <a:xfrm>
            <a:off x="1371600" y="4206240"/>
            <a:ext cx="9448495" cy="457200"/>
          </a:xfrm>
          <a:prstGeom prst="rect">
            <a:avLst/>
          </a:prstGeom>
          <a:noFill/>
        </p:spPr>
        <p:txBody>
          <a:bodyPr wrap="square">
            <a:spAutoFit/>
          </a:bodyPr>
          <a:lstStyle/>
          <a:p>
            <a:pPr algn="ctr">
              <a:defRPr sz="1800" b="0">
                <a:solidFill>
                  <a:srgbClr val="A855F7"/>
                </a:solidFill>
                <a:latin typeface="Calibri"/>
              </a:defRPr>
            </a:pPr>
            <a:r>
              <a:t>The goal? Keep you on the app as long as possible so they can show you more ads.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62</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TikTok's Algorithm: The Most Powerful One</a:t>
            </a:r>
          </a:p>
        </p:txBody>
      </p:sp>
      <p:sp>
        <p:nvSpPr>
          <p:cNvPr id="5" name="TextBox 4"/>
          <p:cNvSpPr txBox="1"/>
          <p:nvPr/>
        </p:nvSpPr>
        <p:spPr>
          <a:xfrm>
            <a:off x="1371600" y="1737360"/>
            <a:ext cx="9448495" cy="731520"/>
          </a:xfrm>
          <a:prstGeom prst="rect">
            <a:avLst/>
          </a:prstGeom>
          <a:noFill/>
        </p:spPr>
        <p:txBody>
          <a:bodyPr wrap="square">
            <a:spAutoFit/>
          </a:bodyPr>
          <a:lstStyle/>
          <a:p>
            <a:pPr algn="ctr">
              <a:defRPr sz="2800" b="0">
                <a:solidFill>
                  <a:srgbClr val="A7A9BE"/>
                </a:solidFill>
                <a:latin typeface="Calibri"/>
              </a:defRPr>
            </a:pPr>
            <a:r>
              <a:t>Elli, TikTok deserves a special callout because its algorithm is extremely powerful:</a:t>
            </a:r>
          </a:p>
        </p:txBody>
      </p:sp>
      <p:sp>
        <p:nvSpPr>
          <p:cNvPr id="6" name="TextBox 5"/>
          <p:cNvSpPr txBox="1"/>
          <p:nvPr/>
        </p:nvSpPr>
        <p:spPr>
          <a:xfrm>
            <a:off x="1371600" y="2468880"/>
            <a:ext cx="9448495" cy="4114800"/>
          </a:xfrm>
          <a:prstGeom prst="rect">
            <a:avLst/>
          </a:prstGeom>
          <a:noFill/>
        </p:spPr>
        <p:txBody>
          <a:bodyPr wrap="square">
            <a:spAutoFit/>
          </a:bodyPr>
          <a:lstStyle/>
          <a:p>
            <a:pPr>
              <a:spcBef>
                <a:spcPts val="200"/>
              </a:spcBef>
              <a:spcAft>
                <a:spcPts val="600"/>
              </a:spcAft>
            </a:pPr>
            <a:r>
              <a:rPr sz="2600">
                <a:solidFill>
                  <a:srgbClr val="FFFFFF"/>
                </a:solidFill>
                <a:latin typeface="Calibri"/>
              </a:rPr>
              <a:t>🧠  It learns what you like within minutes — faster than any other app</a:t>
            </a:r>
          </a:p>
          <a:p>
            <a:pPr>
              <a:spcBef>
                <a:spcPts val="200"/>
              </a:spcBef>
              <a:spcAft>
                <a:spcPts val="600"/>
              </a:spcAft>
            </a:pPr>
            <a:r>
              <a:rPr sz="2600">
                <a:solidFill>
                  <a:srgbClr val="FFFFFF"/>
                </a:solidFill>
                <a:latin typeface="Calibri"/>
              </a:rPr>
              <a:t>⏰  It's designed to be a massive time sink — "just 5 more minutes" becomes 2 hours</a:t>
            </a:r>
          </a:p>
          <a:p>
            <a:pPr>
              <a:spcBef>
                <a:spcPts val="200"/>
              </a:spcBef>
              <a:spcAft>
                <a:spcPts val="600"/>
              </a:spcAft>
            </a:pPr>
            <a:r>
              <a:rPr sz="2600">
                <a:solidFill>
                  <a:srgbClr val="FFFFFF"/>
                </a:solidFill>
                <a:latin typeface="Calibri"/>
              </a:rPr>
              <a:t>🕳️  Algorithm rabbit holes — it can pull you into extreme or upsetting content</a:t>
            </a:r>
          </a:p>
          <a:p>
            <a:pPr>
              <a:spcBef>
                <a:spcPts val="200"/>
              </a:spcBef>
              <a:spcAft>
                <a:spcPts val="600"/>
              </a:spcAft>
            </a:pPr>
            <a:r>
              <a:rPr sz="2600">
                <a:solidFill>
                  <a:srgbClr val="FFFFFF"/>
                </a:solidFill>
                <a:latin typeface="Calibri"/>
              </a:rPr>
              <a:t>📩  If your account isn't private, strangers can send you DMs</a:t>
            </a:r>
          </a:p>
          <a:p>
            <a:pPr>
              <a:spcBef>
                <a:spcPts val="200"/>
              </a:spcBef>
              <a:spcAft>
                <a:spcPts val="600"/>
              </a:spcAft>
            </a:pPr>
            <a:r>
              <a:rPr sz="2600">
                <a:solidFill>
                  <a:srgbClr val="FFFFFF"/>
                </a:solidFill>
                <a:latin typeface="Calibri"/>
              </a:rPr>
              <a:t>⚠️  Dangerous trends go viral and pressure teens into risky behavior</a:t>
            </a:r>
          </a:p>
          <a:p>
            <a:pPr>
              <a:spcBef>
                <a:spcPts val="200"/>
              </a:spcBef>
              <a:spcAft>
                <a:spcPts val="600"/>
              </a:spcAft>
            </a:pPr>
            <a:r>
              <a:rPr sz="2600">
                <a:solidFill>
                  <a:srgbClr val="FFFFFF"/>
                </a:solidFill>
                <a:latin typeface="Calibri"/>
              </a:rPr>
              <a:t>🔒  Keep your account PRIVATE, set time limits, and be aware</a:t>
            </a:r>
          </a:p>
        </p:txBody>
      </p:sp>
      <p:sp>
        <p:nvSpPr>
          <p:cNvPr id="7" name="Rounded Rectangle 6"/>
          <p:cNvSpPr/>
          <p:nvPr/>
        </p:nvSpPr>
        <p:spPr>
          <a:xfrm>
            <a:off x="1371600" y="4553712"/>
            <a:ext cx="9448495" cy="914400"/>
          </a:xfrm>
          <a:prstGeom prst="round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71600" y="4599432"/>
            <a:ext cx="73152" cy="822960"/>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00200" y="4645152"/>
            <a:ext cx="9082735" cy="274320"/>
          </a:xfrm>
          <a:prstGeom prst="rect">
            <a:avLst/>
          </a:prstGeom>
          <a:noFill/>
        </p:spPr>
        <p:txBody>
          <a:bodyPr wrap="square">
            <a:spAutoFit/>
          </a:bodyPr>
          <a:lstStyle/>
          <a:p>
            <a:pPr algn="l">
              <a:defRPr sz="1200" b="1">
                <a:solidFill>
                  <a:srgbClr val="E056A0"/>
                </a:solidFill>
                <a:latin typeface="Calibri"/>
              </a:defRPr>
            </a:pPr>
            <a:r>
              <a:t>REAL TALK</a:t>
            </a:r>
          </a:p>
        </p:txBody>
      </p:sp>
      <p:sp>
        <p:nvSpPr>
          <p:cNvPr id="10" name="TextBox 9"/>
          <p:cNvSpPr txBox="1"/>
          <p:nvPr/>
        </p:nvSpPr>
        <p:spPr>
          <a:xfrm>
            <a:off x="1600200" y="4901184"/>
            <a:ext cx="9082735" cy="457200"/>
          </a:xfrm>
          <a:prstGeom prst="rect">
            <a:avLst/>
          </a:prstGeom>
          <a:noFill/>
        </p:spPr>
        <p:txBody>
          <a:bodyPr wrap="square">
            <a:spAutoFit/>
          </a:bodyPr>
          <a:lstStyle/>
          <a:p>
            <a:pPr algn="l">
              <a:defRPr sz="1800" b="0">
                <a:solidFill>
                  <a:srgbClr val="A7A9BE"/>
                </a:solidFill>
                <a:latin typeface="Calibri"/>
              </a:defRPr>
            </a:pPr>
            <a:r>
              <a:t>TikTok is fun. But it's also the app most likely to steal hours of your day without you even noticing. Set a daily time limit and stick to it.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63</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YouTube: The Rabbit Hole Machine</a:t>
            </a:r>
          </a:p>
        </p:txBody>
      </p:sp>
      <p:sp>
        <p:nvSpPr>
          <p:cNvPr id="5" name="TextBox 4"/>
          <p:cNvSpPr txBox="1"/>
          <p:nvPr/>
        </p:nvSpPr>
        <p:spPr>
          <a:xfrm>
            <a:off x="1371600" y="1737360"/>
            <a:ext cx="9448495" cy="731520"/>
          </a:xfrm>
          <a:prstGeom prst="rect">
            <a:avLst/>
          </a:prstGeom>
          <a:noFill/>
        </p:spPr>
        <p:txBody>
          <a:bodyPr wrap="square">
            <a:spAutoFit/>
          </a:bodyPr>
          <a:lstStyle/>
          <a:p>
            <a:pPr algn="ctr">
              <a:defRPr sz="2800" b="0">
                <a:solidFill>
                  <a:srgbClr val="A7A9BE"/>
                </a:solidFill>
                <a:latin typeface="Calibri"/>
              </a:defRPr>
            </a:pPr>
            <a:r>
              <a:t>YouTube is amazing for learning and entertainment, but watch out for:</a:t>
            </a:r>
          </a:p>
        </p:txBody>
      </p:sp>
      <p:sp>
        <p:nvSpPr>
          <p:cNvPr id="6" name="TextBox 5"/>
          <p:cNvSpPr txBox="1"/>
          <p:nvPr/>
        </p:nvSpPr>
        <p:spPr>
          <a:xfrm>
            <a:off x="1371600" y="2468880"/>
            <a:ext cx="9448495" cy="4114800"/>
          </a:xfrm>
          <a:prstGeom prst="rect">
            <a:avLst/>
          </a:prstGeom>
          <a:noFill/>
        </p:spPr>
        <p:txBody>
          <a:bodyPr wrap="square">
            <a:spAutoFit/>
          </a:bodyPr>
          <a:lstStyle/>
          <a:p>
            <a:pPr>
              <a:spcBef>
                <a:spcPts val="200"/>
              </a:spcBef>
              <a:spcAft>
                <a:spcPts val="600"/>
              </a:spcAft>
            </a:pPr>
            <a:r>
              <a:rPr sz="2600">
                <a:solidFill>
                  <a:srgbClr val="FFFFFF"/>
                </a:solidFill>
                <a:latin typeface="Calibri"/>
              </a:rPr>
              <a:t>🕳️  Autoplay rabbit holes — one video leads to another, and suddenly it's 2 AM</a:t>
            </a:r>
          </a:p>
          <a:p>
            <a:pPr>
              <a:spcBef>
                <a:spcPts val="200"/>
              </a:spcBef>
              <a:spcAft>
                <a:spcPts val="600"/>
              </a:spcAft>
            </a:pPr>
            <a:r>
              <a:rPr sz="2600">
                <a:solidFill>
                  <a:srgbClr val="FFFFFF"/>
                </a:solidFill>
                <a:latin typeface="Calibri"/>
              </a:rPr>
              <a:t>💬  Comments section — can be toxic, hateful, or full of misinformation</a:t>
            </a:r>
          </a:p>
          <a:p>
            <a:pPr>
              <a:spcBef>
                <a:spcPts val="200"/>
              </a:spcBef>
              <a:spcAft>
                <a:spcPts val="600"/>
              </a:spcAft>
            </a:pPr>
            <a:r>
              <a:rPr sz="2600">
                <a:solidFill>
                  <a:srgbClr val="FFFFFF"/>
                </a:solidFill>
                <a:latin typeface="Calibri"/>
              </a:rPr>
              <a:t>🔞  Age-restricted content — exists for a reason; don't bypass age gates</a:t>
            </a:r>
          </a:p>
          <a:p>
            <a:pPr>
              <a:spcBef>
                <a:spcPts val="200"/>
              </a:spcBef>
              <a:spcAft>
                <a:spcPts val="600"/>
              </a:spcAft>
            </a:pPr>
            <a:r>
              <a:rPr sz="2600">
                <a:solidFill>
                  <a:srgbClr val="FFFFFF"/>
                </a:solidFill>
                <a:latin typeface="Calibri"/>
              </a:rPr>
              <a:t>📊  The algorithm wants you to keep watching — it'll recommend increasingly extreme content</a:t>
            </a:r>
          </a:p>
          <a:p>
            <a:pPr>
              <a:spcBef>
                <a:spcPts val="200"/>
              </a:spcBef>
              <a:spcAft>
                <a:spcPts val="600"/>
              </a:spcAft>
            </a:pPr>
            <a:r>
              <a:rPr sz="2600">
                <a:solidFill>
                  <a:srgbClr val="FFFFFF"/>
                </a:solidFill>
                <a:latin typeface="Calibri"/>
              </a:rPr>
              <a:t>✅  Use it intentionally — search for what you want to learn</a:t>
            </a:r>
          </a:p>
        </p:txBody>
      </p:sp>
      <p:sp>
        <p:nvSpPr>
          <p:cNvPr id="7" name="Rounded Rectangle 6"/>
          <p:cNvSpPr/>
          <p:nvPr/>
        </p:nvSpPr>
        <p:spPr>
          <a:xfrm>
            <a:off x="1371600" y="4206240"/>
            <a:ext cx="9448495" cy="914400"/>
          </a:xfrm>
          <a:prstGeom prst="round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71600" y="4251960"/>
            <a:ext cx="73152" cy="822960"/>
          </a:xfrm>
          <a:prstGeom prst="rect">
            <a:avLst/>
          </a:prstGeom>
          <a:solidFill>
            <a:srgbClr val="2CB6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00200" y="4297680"/>
            <a:ext cx="9082735" cy="274320"/>
          </a:xfrm>
          <a:prstGeom prst="rect">
            <a:avLst/>
          </a:prstGeom>
          <a:noFill/>
        </p:spPr>
        <p:txBody>
          <a:bodyPr wrap="square">
            <a:spAutoFit/>
          </a:bodyPr>
          <a:lstStyle/>
          <a:p>
            <a:pPr algn="l">
              <a:defRPr sz="1200" b="1">
                <a:solidFill>
                  <a:srgbClr val="2CB67D"/>
                </a:solidFill>
                <a:latin typeface="Calibri"/>
              </a:defRPr>
            </a:pPr>
            <a:r>
              <a:t>PRO TIP</a:t>
            </a:r>
          </a:p>
        </p:txBody>
      </p:sp>
      <p:sp>
        <p:nvSpPr>
          <p:cNvPr id="10" name="TextBox 9"/>
          <p:cNvSpPr txBox="1"/>
          <p:nvPr/>
        </p:nvSpPr>
        <p:spPr>
          <a:xfrm>
            <a:off x="1600200" y="4553712"/>
            <a:ext cx="9082735" cy="457200"/>
          </a:xfrm>
          <a:prstGeom prst="rect">
            <a:avLst/>
          </a:prstGeom>
          <a:noFill/>
        </p:spPr>
        <p:txBody>
          <a:bodyPr wrap="square">
            <a:spAutoFit/>
          </a:bodyPr>
          <a:lstStyle/>
          <a:p>
            <a:pPr algn="l">
              <a:defRPr sz="1800" b="0">
                <a:solidFill>
                  <a:srgbClr val="A7A9BE"/>
                </a:solidFill>
                <a:latin typeface="Calibri"/>
              </a:defRPr>
            </a:pPr>
            <a:r>
              <a:t>Turn OFF autoplay. Search for specific things. Use YouTube to learn and be inspired, not as a mindless scroll machine.</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64</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Filter Bubbles</a:t>
            </a:r>
          </a:p>
        </p:txBody>
      </p:sp>
      <p:sp>
        <p:nvSpPr>
          <p:cNvPr id="5" name="TextBox 4"/>
          <p:cNvSpPr txBox="1"/>
          <p:nvPr/>
        </p:nvSpPr>
        <p:spPr>
          <a:xfrm>
            <a:off x="1371600" y="1737360"/>
            <a:ext cx="9448495" cy="731520"/>
          </a:xfrm>
          <a:prstGeom prst="rect">
            <a:avLst/>
          </a:prstGeom>
          <a:noFill/>
        </p:spPr>
        <p:txBody>
          <a:bodyPr wrap="square">
            <a:spAutoFit/>
          </a:bodyPr>
          <a:lstStyle/>
          <a:p>
            <a:pPr algn="ctr">
              <a:defRPr sz="2800" b="0">
                <a:solidFill>
                  <a:srgbClr val="A7A9BE"/>
                </a:solidFill>
                <a:latin typeface="Calibri"/>
              </a:defRPr>
            </a:pPr>
            <a:r>
              <a:t>When algorithms only show you things you agree with, you end up in a bubble.</a:t>
            </a:r>
          </a:p>
        </p:txBody>
      </p:sp>
      <p:sp>
        <p:nvSpPr>
          <p:cNvPr id="6" name="TextBox 5"/>
          <p:cNvSpPr txBox="1"/>
          <p:nvPr/>
        </p:nvSpPr>
        <p:spPr>
          <a:xfrm>
            <a:off x="1371600" y="2468880"/>
            <a:ext cx="9448495" cy="4114800"/>
          </a:xfrm>
          <a:prstGeom prst="rect">
            <a:avLst/>
          </a:prstGeom>
          <a:noFill/>
        </p:spPr>
        <p:txBody>
          <a:bodyPr wrap="square">
            <a:spAutoFit/>
          </a:bodyPr>
          <a:lstStyle/>
          <a:p>
            <a:pPr>
              <a:spcBef>
                <a:spcPts val="200"/>
              </a:spcBef>
              <a:spcAft>
                <a:spcPts val="600"/>
              </a:spcAft>
            </a:pPr>
            <a:r>
              <a:rPr sz="2600">
                <a:solidFill>
                  <a:srgbClr val="FFFFFF"/>
                </a:solidFill>
                <a:latin typeface="Calibri"/>
              </a:rPr>
              <a:t>🔄  You only see one perspective on issues</a:t>
            </a:r>
          </a:p>
          <a:p>
            <a:pPr>
              <a:spcBef>
                <a:spcPts val="200"/>
              </a:spcBef>
              <a:spcAft>
                <a:spcPts val="600"/>
              </a:spcAft>
            </a:pPr>
            <a:r>
              <a:rPr sz="2600">
                <a:solidFill>
                  <a:srgbClr val="FFFFFF"/>
                </a:solidFill>
                <a:latin typeface="Calibri"/>
              </a:rPr>
              <a:t>🤝  You start to think "everyone" agrees with you</a:t>
            </a:r>
          </a:p>
          <a:p>
            <a:pPr>
              <a:spcBef>
                <a:spcPts val="200"/>
              </a:spcBef>
              <a:spcAft>
                <a:spcPts val="600"/>
              </a:spcAft>
            </a:pPr>
            <a:r>
              <a:rPr sz="2600">
                <a:solidFill>
                  <a:srgbClr val="FFFFFF"/>
                </a:solidFill>
                <a:latin typeface="Calibri"/>
              </a:rPr>
              <a:t>😡  Anyone who disagrees seems crazy or wrong</a:t>
            </a:r>
          </a:p>
          <a:p>
            <a:pPr>
              <a:spcBef>
                <a:spcPts val="200"/>
              </a:spcBef>
              <a:spcAft>
                <a:spcPts val="600"/>
              </a:spcAft>
            </a:pPr>
            <a:r>
              <a:rPr sz="2600">
                <a:solidFill>
                  <a:srgbClr val="FFFFFF"/>
                </a:solidFill>
                <a:latin typeface="Calibri"/>
              </a:rPr>
              <a:t>🌍  The real world is much more diverse than your feed</a:t>
            </a:r>
          </a:p>
        </p:txBody>
      </p:sp>
      <p:sp>
        <p:nvSpPr>
          <p:cNvPr id="7" name="TextBox 6"/>
          <p:cNvSpPr txBox="1"/>
          <p:nvPr/>
        </p:nvSpPr>
        <p:spPr>
          <a:xfrm>
            <a:off x="1371600" y="3858768"/>
            <a:ext cx="9448495" cy="457200"/>
          </a:xfrm>
          <a:prstGeom prst="rect">
            <a:avLst/>
          </a:prstGeom>
          <a:noFill/>
        </p:spPr>
        <p:txBody>
          <a:bodyPr wrap="square">
            <a:spAutoFit/>
          </a:bodyPr>
          <a:lstStyle/>
          <a:p>
            <a:pPr algn="ctr">
              <a:defRPr sz="1800" b="0">
                <a:solidFill>
                  <a:srgbClr val="A855F7"/>
                </a:solidFill>
                <a:latin typeface="Calibri"/>
              </a:defRPr>
            </a:pPr>
            <a:r>
              <a:t>Deliberately follow people with different viewpoints. It makes you smarter.</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65</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Spotting Misinformation</a:t>
            </a:r>
          </a:p>
        </p:txBody>
      </p:sp>
      <p:sp>
        <p:nvSpPr>
          <p:cNvPr id="5" name="TextBox 4"/>
          <p:cNvSpPr txBox="1"/>
          <p:nvPr/>
        </p:nvSpPr>
        <p:spPr>
          <a:xfrm>
            <a:off x="1371600" y="1737360"/>
            <a:ext cx="9448495" cy="4114800"/>
          </a:xfrm>
          <a:prstGeom prst="rect">
            <a:avLst/>
          </a:prstGeom>
          <a:noFill/>
        </p:spPr>
        <p:txBody>
          <a:bodyPr wrap="square">
            <a:spAutoFit/>
          </a:bodyPr>
          <a:lstStyle/>
          <a:p>
            <a:pPr>
              <a:spcBef>
                <a:spcPts val="200"/>
              </a:spcBef>
              <a:spcAft>
                <a:spcPts val="600"/>
              </a:spcAft>
            </a:pPr>
            <a:r>
              <a:rPr sz="2600">
                <a:solidFill>
                  <a:srgbClr val="FFFFFF"/>
                </a:solidFill>
                <a:latin typeface="Calibri"/>
              </a:rPr>
              <a:t>🤔  Check the source — who published this? Are they credible?</a:t>
            </a:r>
          </a:p>
          <a:p>
            <a:pPr>
              <a:spcBef>
                <a:spcPts val="200"/>
              </a:spcBef>
              <a:spcAft>
                <a:spcPts val="600"/>
              </a:spcAft>
            </a:pPr>
            <a:r>
              <a:rPr sz="2600">
                <a:solidFill>
                  <a:srgbClr val="FFFFFF"/>
                </a:solidFill>
                <a:latin typeface="Calibri"/>
              </a:rPr>
              <a:t>📅  Check the date — is this old news being recycled?</a:t>
            </a:r>
          </a:p>
          <a:p>
            <a:pPr>
              <a:spcBef>
                <a:spcPts val="200"/>
              </a:spcBef>
              <a:spcAft>
                <a:spcPts val="600"/>
              </a:spcAft>
            </a:pPr>
            <a:r>
              <a:rPr sz="2600">
                <a:solidFill>
                  <a:srgbClr val="FFFFFF"/>
                </a:solidFill>
                <a:latin typeface="Calibri"/>
              </a:rPr>
              <a:t>🔎  Read beyond the headline — articles often don't match clickbait titles</a:t>
            </a:r>
          </a:p>
          <a:p>
            <a:pPr>
              <a:spcBef>
                <a:spcPts val="200"/>
              </a:spcBef>
              <a:spcAft>
                <a:spcPts val="600"/>
              </a:spcAft>
            </a:pPr>
            <a:r>
              <a:rPr sz="2600">
                <a:solidFill>
                  <a:srgbClr val="FFFFFF"/>
                </a:solidFill>
                <a:latin typeface="Calibri"/>
              </a:rPr>
              <a:t>📰  Cross-reference — do other reliable sources report the same thing?</a:t>
            </a:r>
          </a:p>
          <a:p>
            <a:pPr>
              <a:spcBef>
                <a:spcPts val="200"/>
              </a:spcBef>
              <a:spcAft>
                <a:spcPts val="600"/>
              </a:spcAft>
            </a:pPr>
            <a:r>
              <a:rPr sz="2600">
                <a:solidFill>
                  <a:srgbClr val="FFFFFF"/>
                </a:solidFill>
                <a:latin typeface="Calibri"/>
              </a:rPr>
              <a:t>😡  Check your emotions — if it makes you furious, that might be the point</a:t>
            </a:r>
          </a:p>
          <a:p>
            <a:pPr>
              <a:spcBef>
                <a:spcPts val="200"/>
              </a:spcBef>
              <a:spcAft>
                <a:spcPts val="600"/>
              </a:spcAft>
            </a:pPr>
            <a:r>
              <a:rPr sz="2600">
                <a:solidFill>
                  <a:srgbClr val="FFFFFF"/>
                </a:solidFill>
                <a:latin typeface="Calibri"/>
              </a:rPr>
              <a:t>🤷  When in doubt, don't share — spreading false info is almost as bad as creating it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66</a:t>
            </a:r>
          </a:p>
        </p:txBody>
      </p:sp>
      <p:sp>
        <p:nvSpPr>
          <p:cNvPr id="3" name="TextBox 2"/>
          <p:cNvSpPr txBox="1"/>
          <p:nvPr/>
        </p:nvSpPr>
        <p:spPr>
          <a:xfrm>
            <a:off x="731520" y="274320"/>
            <a:ext cx="10728655" cy="548640"/>
          </a:xfrm>
          <a:prstGeom prst="rect">
            <a:avLst/>
          </a:prstGeom>
          <a:noFill/>
        </p:spPr>
        <p:txBody>
          <a:bodyPr wrap="square">
            <a:spAutoFit/>
          </a:bodyPr>
          <a:lstStyle/>
          <a:p>
            <a:pPr algn="ctr">
              <a:defRPr sz="3600" b="1">
                <a:solidFill>
                  <a:srgbClr val="A855F7"/>
                </a:solidFill>
                <a:latin typeface="Calibri"/>
              </a:defRPr>
            </a:pPr>
            <a:r>
              <a:t>🎣 Clickbait &amp; Rage Bait</a:t>
            </a:r>
          </a:p>
        </p:txBody>
      </p:sp>
      <p:sp>
        <p:nvSpPr>
          <p:cNvPr id="4" name="Rounded Rectangle 3"/>
          <p:cNvSpPr/>
          <p:nvPr/>
        </p:nvSpPr>
        <p:spPr>
          <a:xfrm>
            <a:off x="1097280" y="1097280"/>
            <a:ext cx="9966960" cy="1371600"/>
          </a:xfrm>
          <a:prstGeom prst="round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 y="1143000"/>
            <a:ext cx="73152" cy="128016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25880" y="1188720"/>
            <a:ext cx="9601200" cy="274320"/>
          </a:xfrm>
          <a:prstGeom prst="rect">
            <a:avLst/>
          </a:prstGeom>
          <a:noFill/>
        </p:spPr>
        <p:txBody>
          <a:bodyPr wrap="square">
            <a:spAutoFit/>
          </a:bodyPr>
          <a:lstStyle/>
          <a:p>
            <a:pPr algn="l">
              <a:defRPr sz="1200" b="1">
                <a:solidFill>
                  <a:srgbClr val="FF6B6B"/>
                </a:solidFill>
                <a:latin typeface="Calibri"/>
              </a:defRPr>
            </a:pPr>
            <a:r>
              <a:t>CLICKBAIT</a:t>
            </a:r>
          </a:p>
        </p:txBody>
      </p:sp>
      <p:sp>
        <p:nvSpPr>
          <p:cNvPr id="7" name="TextBox 6"/>
          <p:cNvSpPr txBox="1"/>
          <p:nvPr/>
        </p:nvSpPr>
        <p:spPr>
          <a:xfrm>
            <a:off x="1325880" y="1444752"/>
            <a:ext cx="9601200" cy="914400"/>
          </a:xfrm>
          <a:prstGeom prst="rect">
            <a:avLst/>
          </a:prstGeom>
          <a:noFill/>
        </p:spPr>
        <p:txBody>
          <a:bodyPr wrap="square">
            <a:spAutoFit/>
          </a:bodyPr>
          <a:lstStyle/>
          <a:p>
            <a:pPr algn="l">
              <a:defRPr sz="1800" b="0">
                <a:solidFill>
                  <a:srgbClr val="A7A9BE"/>
                </a:solidFill>
                <a:latin typeface="Calibri"/>
              </a:defRPr>
            </a:pPr>
            <a:r>
              <a:t>Headlines designed to make you click: "You won't BELIEVE what happened next!" "This one trick doctors HATE!" — The content almost never matches the hype.</a:t>
            </a:r>
          </a:p>
        </p:txBody>
      </p:sp>
      <p:sp>
        <p:nvSpPr>
          <p:cNvPr id="8" name="Rounded Rectangle 7"/>
          <p:cNvSpPr/>
          <p:nvPr/>
        </p:nvSpPr>
        <p:spPr>
          <a:xfrm>
            <a:off x="1097280" y="2743200"/>
            <a:ext cx="9966960" cy="1371600"/>
          </a:xfrm>
          <a:prstGeom prst="round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7280" y="2788920"/>
            <a:ext cx="73152" cy="128016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25880" y="2834640"/>
            <a:ext cx="9601200" cy="274320"/>
          </a:xfrm>
          <a:prstGeom prst="rect">
            <a:avLst/>
          </a:prstGeom>
          <a:noFill/>
        </p:spPr>
        <p:txBody>
          <a:bodyPr wrap="square">
            <a:spAutoFit/>
          </a:bodyPr>
          <a:lstStyle/>
          <a:p>
            <a:pPr algn="l">
              <a:defRPr sz="1200" b="1">
                <a:solidFill>
                  <a:srgbClr val="FF6B6B"/>
                </a:solidFill>
                <a:latin typeface="Calibri"/>
              </a:defRPr>
            </a:pPr>
            <a:r>
              <a:t>RAGE BAIT</a:t>
            </a:r>
          </a:p>
        </p:txBody>
      </p:sp>
      <p:sp>
        <p:nvSpPr>
          <p:cNvPr id="11" name="TextBox 10"/>
          <p:cNvSpPr txBox="1"/>
          <p:nvPr/>
        </p:nvSpPr>
        <p:spPr>
          <a:xfrm>
            <a:off x="1325880" y="3090672"/>
            <a:ext cx="9601200" cy="914400"/>
          </a:xfrm>
          <a:prstGeom prst="rect">
            <a:avLst/>
          </a:prstGeom>
          <a:noFill/>
        </p:spPr>
        <p:txBody>
          <a:bodyPr wrap="square">
            <a:spAutoFit/>
          </a:bodyPr>
          <a:lstStyle/>
          <a:p>
            <a:pPr algn="l">
              <a:defRPr sz="1800" b="0">
                <a:solidFill>
                  <a:srgbClr val="A7A9BE"/>
                </a:solidFill>
                <a:latin typeface="Calibri"/>
              </a:defRPr>
            </a:pPr>
            <a:r>
              <a:t>Content designed to make you angry so you engage: controversial takes, outrage posts. The algorithm LOVES anger because angry people comment more.</a:t>
            </a:r>
          </a:p>
        </p:txBody>
      </p:sp>
      <p:sp>
        <p:nvSpPr>
          <p:cNvPr id="12" name="TextBox 11"/>
          <p:cNvSpPr txBox="1"/>
          <p:nvPr/>
        </p:nvSpPr>
        <p:spPr>
          <a:xfrm>
            <a:off x="1371600" y="4389120"/>
            <a:ext cx="9448495" cy="457200"/>
          </a:xfrm>
          <a:prstGeom prst="rect">
            <a:avLst/>
          </a:prstGeom>
          <a:noFill/>
        </p:spPr>
        <p:txBody>
          <a:bodyPr wrap="square">
            <a:spAutoFit/>
          </a:bodyPr>
          <a:lstStyle/>
          <a:p>
            <a:pPr algn="ctr">
              <a:defRPr sz="2600" b="0">
                <a:solidFill>
                  <a:srgbClr val="A855F7"/>
                </a:solidFill>
                <a:latin typeface="Calibri"/>
              </a:defRPr>
            </a:pPr>
            <a:r>
              <a:t>When you feel manipulated — that's because you ARE being manipulated. Scroll past.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67</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Curate Your Feed</a:t>
            </a:r>
          </a:p>
        </p:txBody>
      </p:sp>
      <p:sp>
        <p:nvSpPr>
          <p:cNvPr id="5" name="TextBox 4"/>
          <p:cNvSpPr txBox="1"/>
          <p:nvPr/>
        </p:nvSpPr>
        <p:spPr>
          <a:xfrm>
            <a:off x="1371600" y="1737360"/>
            <a:ext cx="9448495" cy="731520"/>
          </a:xfrm>
          <a:prstGeom prst="rect">
            <a:avLst/>
          </a:prstGeom>
          <a:noFill/>
        </p:spPr>
        <p:txBody>
          <a:bodyPr wrap="square">
            <a:spAutoFit/>
          </a:bodyPr>
          <a:lstStyle/>
          <a:p>
            <a:pPr algn="ctr">
              <a:defRPr sz="2800" b="0">
                <a:solidFill>
                  <a:srgbClr val="A7A9BE"/>
                </a:solidFill>
                <a:latin typeface="Calibri"/>
              </a:defRPr>
            </a:pPr>
            <a:r>
              <a:t>You have more control than you think:</a:t>
            </a:r>
          </a:p>
        </p:txBody>
      </p:sp>
      <p:sp>
        <p:nvSpPr>
          <p:cNvPr id="6" name="TextBox 5"/>
          <p:cNvSpPr txBox="1"/>
          <p:nvPr/>
        </p:nvSpPr>
        <p:spPr>
          <a:xfrm>
            <a:off x="1371600" y="2468880"/>
            <a:ext cx="9448495" cy="4114800"/>
          </a:xfrm>
          <a:prstGeom prst="rect">
            <a:avLst/>
          </a:prstGeom>
          <a:noFill/>
        </p:spPr>
        <p:txBody>
          <a:bodyPr wrap="square">
            <a:spAutoFit/>
          </a:bodyPr>
          <a:lstStyle/>
          <a:p>
            <a:pPr>
              <a:spcBef>
                <a:spcPts val="200"/>
              </a:spcBef>
              <a:spcAft>
                <a:spcPts val="600"/>
              </a:spcAft>
            </a:pPr>
            <a:r>
              <a:rPr sz="2600">
                <a:solidFill>
                  <a:srgbClr val="FFFFFF"/>
                </a:solidFill>
                <a:latin typeface="Calibri"/>
              </a:rPr>
              <a:t>🚫  Unfollow/mute accounts that make you feel bad</a:t>
            </a:r>
          </a:p>
          <a:p>
            <a:pPr>
              <a:spcBef>
                <a:spcPts val="200"/>
              </a:spcBef>
              <a:spcAft>
                <a:spcPts val="600"/>
              </a:spcAft>
            </a:pPr>
            <a:r>
              <a:rPr sz="2600">
                <a:solidFill>
                  <a:srgbClr val="FFFFFF"/>
                </a:solidFill>
                <a:latin typeface="Calibri"/>
              </a:rPr>
              <a:t>🔍  Search for content that inspires, educates, or makes you laugh</a:t>
            </a:r>
          </a:p>
          <a:p>
            <a:pPr>
              <a:spcBef>
                <a:spcPts val="200"/>
              </a:spcBef>
              <a:spcAft>
                <a:spcPts val="600"/>
              </a:spcAft>
            </a:pPr>
            <a:r>
              <a:rPr sz="2600">
                <a:solidFill>
                  <a:srgbClr val="FFFFFF"/>
                </a:solidFill>
                <a:latin typeface="Calibri"/>
              </a:rPr>
              <a:t>⏱️  Engage with the good stuff — the algorithm will learn</a:t>
            </a:r>
          </a:p>
          <a:p>
            <a:pPr>
              <a:spcBef>
                <a:spcPts val="200"/>
              </a:spcBef>
              <a:spcAft>
                <a:spcPts val="600"/>
              </a:spcAft>
            </a:pPr>
            <a:r>
              <a:rPr sz="2600">
                <a:solidFill>
                  <a:srgbClr val="FFFFFF"/>
                </a:solidFill>
                <a:latin typeface="Calibri"/>
              </a:rPr>
              <a:t>❌  Use "Not Interested" on content you don't want</a:t>
            </a:r>
          </a:p>
          <a:p>
            <a:pPr>
              <a:spcBef>
                <a:spcPts val="200"/>
              </a:spcBef>
              <a:spcAft>
                <a:spcPts val="600"/>
              </a:spcAft>
            </a:pPr>
            <a:r>
              <a:rPr sz="2600">
                <a:solidFill>
                  <a:srgbClr val="FFFFFF"/>
                </a:solidFill>
                <a:latin typeface="Calibri"/>
              </a:rPr>
              <a:t>🌟  Follow creators who teach you something new</a:t>
            </a:r>
          </a:p>
        </p:txBody>
      </p:sp>
      <p:sp>
        <p:nvSpPr>
          <p:cNvPr id="7" name="TextBox 6"/>
          <p:cNvSpPr txBox="1"/>
          <p:nvPr/>
        </p:nvSpPr>
        <p:spPr>
          <a:xfrm>
            <a:off x="1371600" y="4206240"/>
            <a:ext cx="9448495" cy="457200"/>
          </a:xfrm>
          <a:prstGeom prst="rect">
            <a:avLst/>
          </a:prstGeom>
          <a:noFill/>
        </p:spPr>
        <p:txBody>
          <a:bodyPr wrap="square">
            <a:spAutoFit/>
          </a:bodyPr>
          <a:lstStyle/>
          <a:p>
            <a:pPr algn="ctr">
              <a:defRPr sz="1800" b="0">
                <a:solidFill>
                  <a:srgbClr val="A855F7"/>
                </a:solidFill>
                <a:latin typeface="Calibri"/>
              </a:defRPr>
            </a:pPr>
            <a:r>
              <a:t>YOUR feed should reflect the person you want to become, Elli.</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68</a:t>
            </a:r>
          </a:p>
        </p:txBody>
      </p:sp>
      <p:sp>
        <p:nvSpPr>
          <p:cNvPr id="3" name="Rounded Rectangle 2"/>
          <p:cNvSpPr/>
          <p:nvPr/>
        </p:nvSpPr>
        <p:spPr>
          <a:xfrm>
            <a:off x="1371600" y="1371600"/>
            <a:ext cx="9448495" cy="4114800"/>
          </a:xfrm>
          <a:prstGeom prst="roundRect">
            <a:avLst/>
          </a:prstGeom>
          <a:solidFill>
            <a:srgbClr val="1F1A3E"/>
          </a:solidFill>
          <a:ln w="254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45920" y="1554480"/>
            <a:ext cx="8899855" cy="365760"/>
          </a:xfrm>
          <a:prstGeom prst="rect">
            <a:avLst/>
          </a:prstGeom>
          <a:noFill/>
        </p:spPr>
        <p:txBody>
          <a:bodyPr wrap="square">
            <a:spAutoFit/>
          </a:bodyPr>
          <a:lstStyle/>
          <a:p>
            <a:pPr algn="l">
              <a:defRPr sz="1900" b="1">
                <a:solidFill>
                  <a:srgbClr val="A855F7"/>
                </a:solidFill>
                <a:latin typeface="Calibri"/>
              </a:defRPr>
            </a:pPr>
            <a:r>
              <a:t>💬 DISCUSSION PROMPT</a:t>
            </a:r>
          </a:p>
        </p:txBody>
      </p:sp>
      <p:sp>
        <p:nvSpPr>
          <p:cNvPr id="5" name="TextBox 4"/>
          <p:cNvSpPr txBox="1"/>
          <p:nvPr/>
        </p:nvSpPr>
        <p:spPr>
          <a:xfrm>
            <a:off x="1645920" y="1874520"/>
            <a:ext cx="8899855" cy="3474720"/>
          </a:xfrm>
          <a:prstGeom prst="rect">
            <a:avLst/>
          </a:prstGeom>
          <a:noFill/>
        </p:spPr>
        <p:txBody>
          <a:bodyPr wrap="square">
            <a:spAutoFit/>
          </a:bodyPr>
          <a:lstStyle/>
          <a:p>
            <a:pPr algn="l">
              <a:defRPr sz="2800" b="0">
                <a:solidFill>
                  <a:srgbClr val="FFFFFF"/>
                </a:solidFill>
                <a:latin typeface="Calibri"/>
              </a:defRPr>
            </a:pPr>
            <a:r>
              <a:t>Can you think of a time you saw something online that turned out to be false? How would you fact-check a wild claim you see on TikTok or YouTube?</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69</a:t>
            </a:r>
          </a:p>
        </p:txBody>
      </p:sp>
      <p:sp>
        <p:nvSpPr>
          <p:cNvPr id="3" name="TextBox 2"/>
          <p:cNvSpPr txBox="1"/>
          <p:nvPr/>
        </p:nvSpPr>
        <p:spPr>
          <a:xfrm>
            <a:off x="914400" y="914400"/>
            <a:ext cx="10362895" cy="365760"/>
          </a:xfrm>
          <a:prstGeom prst="rect">
            <a:avLst/>
          </a:prstGeom>
          <a:noFill/>
        </p:spPr>
        <p:txBody>
          <a:bodyPr wrap="square">
            <a:spAutoFit/>
          </a:bodyPr>
          <a:lstStyle/>
          <a:p>
            <a:pPr algn="ctr">
              <a:defRPr sz="1400" b="1">
                <a:solidFill>
                  <a:srgbClr val="06B6D4"/>
                </a:solidFill>
                <a:latin typeface="Calibri"/>
              </a:defRPr>
            </a:pPr>
            <a:r>
              <a:t>MODULE 8 — SOCIAL MEDIA</a:t>
            </a:r>
          </a:p>
        </p:txBody>
      </p:sp>
      <p:sp>
        <p:nvSpPr>
          <p:cNvPr id="4" name="TextBox 3"/>
          <p:cNvSpPr txBox="1"/>
          <p:nvPr/>
        </p:nvSpPr>
        <p:spPr>
          <a:xfrm>
            <a:off x="914400" y="1371600"/>
            <a:ext cx="10362895" cy="914400"/>
          </a:xfrm>
          <a:prstGeom prst="rect">
            <a:avLst/>
          </a:prstGeom>
          <a:noFill/>
        </p:spPr>
        <p:txBody>
          <a:bodyPr wrap="square">
            <a:spAutoFit/>
          </a:bodyPr>
          <a:lstStyle/>
          <a:p>
            <a:pPr algn="ctr">
              <a:defRPr sz="7200" b="0">
                <a:solidFill>
                  <a:srgbClr val="FFFFFF"/>
                </a:solidFill>
                <a:latin typeface="Calibri"/>
              </a:defRPr>
            </a:pPr>
            <a:r>
              <a:t>📱</a:t>
            </a:r>
          </a:p>
        </p:txBody>
      </p:sp>
      <p:sp>
        <p:nvSpPr>
          <p:cNvPr id="5" name="TextBox 4"/>
          <p:cNvSpPr txBox="1"/>
          <p:nvPr/>
        </p:nvSpPr>
        <p:spPr>
          <a:xfrm>
            <a:off x="914400" y="2377440"/>
            <a:ext cx="10362895" cy="914400"/>
          </a:xfrm>
          <a:prstGeom prst="rect">
            <a:avLst/>
          </a:prstGeom>
          <a:noFill/>
        </p:spPr>
        <p:txBody>
          <a:bodyPr wrap="square">
            <a:spAutoFit/>
          </a:bodyPr>
          <a:lstStyle/>
          <a:p>
            <a:pPr algn="ctr">
              <a:defRPr sz="4800" b="1">
                <a:solidFill>
                  <a:srgbClr val="A855F7"/>
                </a:solidFill>
                <a:latin typeface="Calibri"/>
              </a:defRPr>
            </a:pPr>
            <a:r>
              <a:t>Social Media: The Real Talk</a:t>
            </a:r>
          </a:p>
        </p:txBody>
      </p:sp>
      <p:sp>
        <p:nvSpPr>
          <p:cNvPr id="6" name="TextBox 5"/>
          <p:cNvSpPr txBox="1"/>
          <p:nvPr/>
        </p:nvSpPr>
        <p:spPr>
          <a:xfrm>
            <a:off x="1371600" y="3291840"/>
            <a:ext cx="9448495" cy="1371600"/>
          </a:xfrm>
          <a:prstGeom prst="rect">
            <a:avLst/>
          </a:prstGeom>
          <a:noFill/>
        </p:spPr>
        <p:txBody>
          <a:bodyPr wrap="square">
            <a:spAutoFit/>
          </a:bodyPr>
          <a:lstStyle/>
          <a:p>
            <a:pPr algn="ctr">
              <a:defRPr sz="2600" b="0">
                <a:solidFill>
                  <a:srgbClr val="A7A9BE"/>
                </a:solidFill>
                <a:latin typeface="Calibri"/>
              </a:defRPr>
            </a:pPr>
            <a:r>
              <a:t>It can be fun, creative, and connecting.</a:t>
            </a:r>
            <a:br/>
            <a:r>
              <a:t>It can also be toxic, addictive, and dangerous.</a:t>
            </a:r>
            <a:br/>
            <a:r>
              <a:t>The difference is how you use it.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70</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Your Apps — The Honest Breakdown</a:t>
            </a:r>
          </a:p>
        </p:txBody>
      </p:sp>
      <p:sp>
        <p:nvSpPr>
          <p:cNvPr id="5" name="TextBox 4"/>
          <p:cNvSpPr txBox="1"/>
          <p:nvPr/>
        </p:nvSpPr>
        <p:spPr>
          <a:xfrm>
            <a:off x="1371600" y="1737360"/>
            <a:ext cx="9448495" cy="731520"/>
          </a:xfrm>
          <a:prstGeom prst="rect">
            <a:avLst/>
          </a:prstGeom>
          <a:noFill/>
        </p:spPr>
        <p:txBody>
          <a:bodyPr wrap="square">
            <a:spAutoFit/>
          </a:bodyPr>
          <a:lstStyle/>
          <a:p>
            <a:pPr algn="ctr">
              <a:defRPr sz="2800" b="0">
                <a:solidFill>
                  <a:srgbClr val="A7A9BE"/>
                </a:solidFill>
                <a:latin typeface="Calibri"/>
              </a:defRPr>
            </a:pPr>
            <a:r>
              <a:t>Let's go through the apps you actually use, Elli:</a:t>
            </a:r>
          </a:p>
        </p:txBody>
      </p:sp>
      <p:sp>
        <p:nvSpPr>
          <p:cNvPr id="6" name="TextBox 5"/>
          <p:cNvSpPr txBox="1"/>
          <p:nvPr/>
        </p:nvSpPr>
        <p:spPr>
          <a:xfrm>
            <a:off x="1371600" y="2468880"/>
            <a:ext cx="9448495" cy="4114800"/>
          </a:xfrm>
          <a:prstGeom prst="rect">
            <a:avLst/>
          </a:prstGeom>
          <a:noFill/>
        </p:spPr>
        <p:txBody>
          <a:bodyPr wrap="square">
            <a:spAutoFit/>
          </a:bodyPr>
          <a:lstStyle/>
          <a:p>
            <a:pPr>
              <a:spcBef>
                <a:spcPts val="200"/>
              </a:spcBef>
              <a:spcAft>
                <a:spcPts val="600"/>
              </a:spcAft>
            </a:pPr>
            <a:r>
              <a:rPr sz="2600">
                <a:solidFill>
                  <a:srgbClr val="FFFFFF"/>
                </a:solidFill>
                <a:latin typeface="Calibri"/>
              </a:rPr>
              <a:t>🎵  TikTok — Fun but the most addictive algorithm. Keep private, set time limits.</a:t>
            </a:r>
          </a:p>
          <a:p>
            <a:pPr>
              <a:spcBef>
                <a:spcPts val="200"/>
              </a:spcBef>
              <a:spcAft>
                <a:spcPts val="600"/>
              </a:spcAft>
            </a:pPr>
            <a:r>
              <a:rPr sz="2600">
                <a:solidFill>
                  <a:srgbClr val="FFFFFF"/>
                </a:solidFill>
                <a:latin typeface="Calibri"/>
              </a:rPr>
              <a:t>📌  Pinterest — Great for inspiration! Watch out for comparison traps.</a:t>
            </a:r>
          </a:p>
          <a:p>
            <a:pPr>
              <a:spcBef>
                <a:spcPts val="200"/>
              </a:spcBef>
              <a:spcAft>
                <a:spcPts val="600"/>
              </a:spcAft>
            </a:pPr>
            <a:r>
              <a:rPr sz="2600">
                <a:solidFill>
                  <a:srgbClr val="FFFFFF"/>
                </a:solidFill>
                <a:latin typeface="Calibri"/>
              </a:rPr>
              <a:t>🔴  YouTube — Amazing for learning. Beware autoplay rabbit holes.</a:t>
            </a:r>
          </a:p>
          <a:p>
            <a:pPr>
              <a:spcBef>
                <a:spcPts val="200"/>
              </a:spcBef>
              <a:spcAft>
                <a:spcPts val="600"/>
              </a:spcAft>
            </a:pPr>
            <a:r>
              <a:rPr sz="2600">
                <a:solidFill>
                  <a:srgbClr val="FFFFFF"/>
                </a:solidFill>
                <a:latin typeface="Calibri"/>
              </a:rPr>
              <a:t>🎬  CapCut — Creative and fun! Be careful with what you share publicly.</a:t>
            </a:r>
          </a:p>
          <a:p>
            <a:pPr>
              <a:spcBef>
                <a:spcPts val="200"/>
              </a:spcBef>
              <a:spcAft>
                <a:spcPts val="600"/>
              </a:spcAft>
            </a:pPr>
            <a:r>
              <a:rPr sz="2600">
                <a:solidFill>
                  <a:srgbClr val="FFFFFF"/>
                </a:solidFill>
                <a:latin typeface="Calibri"/>
              </a:rPr>
              <a:t>🤖  ChatGPT — A great writing tool! Use it wisely.</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71</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CapCut: Creative &amp; Fun — With Caution</a:t>
            </a:r>
          </a:p>
        </p:txBody>
      </p:sp>
      <p:sp>
        <p:nvSpPr>
          <p:cNvPr id="5" name="TextBox 4"/>
          <p:cNvSpPr txBox="1"/>
          <p:nvPr/>
        </p:nvSpPr>
        <p:spPr>
          <a:xfrm>
            <a:off x="1371600" y="1737360"/>
            <a:ext cx="9448495" cy="731520"/>
          </a:xfrm>
          <a:prstGeom prst="rect">
            <a:avLst/>
          </a:prstGeom>
          <a:noFill/>
        </p:spPr>
        <p:txBody>
          <a:bodyPr wrap="square">
            <a:spAutoFit/>
          </a:bodyPr>
          <a:lstStyle/>
          <a:p>
            <a:pPr algn="ctr">
              <a:defRPr sz="2800" b="0">
                <a:solidFill>
                  <a:srgbClr val="A7A9BE"/>
                </a:solidFill>
                <a:latin typeface="Calibri"/>
              </a:defRPr>
            </a:pPr>
            <a:r>
              <a:t>Elli, CapCut is a great creative tool! Here's how to use it safely:</a:t>
            </a:r>
          </a:p>
        </p:txBody>
      </p:sp>
      <p:sp>
        <p:nvSpPr>
          <p:cNvPr id="6" name="TextBox 5"/>
          <p:cNvSpPr txBox="1"/>
          <p:nvPr/>
        </p:nvSpPr>
        <p:spPr>
          <a:xfrm>
            <a:off x="1371600" y="2468880"/>
            <a:ext cx="9448495" cy="4114800"/>
          </a:xfrm>
          <a:prstGeom prst="rect">
            <a:avLst/>
          </a:prstGeom>
          <a:noFill/>
        </p:spPr>
        <p:txBody>
          <a:bodyPr wrap="square">
            <a:spAutoFit/>
          </a:bodyPr>
          <a:lstStyle/>
          <a:p>
            <a:pPr>
              <a:spcBef>
                <a:spcPts val="200"/>
              </a:spcBef>
              <a:spcAft>
                <a:spcPts val="600"/>
              </a:spcAft>
            </a:pPr>
            <a:r>
              <a:rPr sz="2600">
                <a:solidFill>
                  <a:srgbClr val="FFFFFF"/>
                </a:solidFill>
                <a:latin typeface="Calibri"/>
              </a:rPr>
              <a:t>✅  Making videos for yourself and close friends — awesome!</a:t>
            </a:r>
          </a:p>
          <a:p>
            <a:pPr>
              <a:spcBef>
                <a:spcPts val="200"/>
              </a:spcBef>
              <a:spcAft>
                <a:spcPts val="600"/>
              </a:spcAft>
            </a:pPr>
            <a:r>
              <a:rPr sz="2600">
                <a:solidFill>
                  <a:srgbClr val="FFFFFF"/>
                </a:solidFill>
                <a:latin typeface="Calibri"/>
              </a:rPr>
              <a:t>✅  Learning editing skills — this is a real, valuable skill!</a:t>
            </a:r>
          </a:p>
          <a:p>
            <a:pPr>
              <a:spcBef>
                <a:spcPts val="200"/>
              </a:spcBef>
              <a:spcAft>
                <a:spcPts val="600"/>
              </a:spcAft>
            </a:pPr>
            <a:r>
              <a:rPr sz="2600">
                <a:solidFill>
                  <a:srgbClr val="FFFFFF"/>
                </a:solidFill>
                <a:latin typeface="Calibri"/>
              </a:rPr>
              <a:t>⚠️  Don't include personal info in videos — no school name, address, location clues</a:t>
            </a:r>
          </a:p>
          <a:p>
            <a:pPr>
              <a:spcBef>
                <a:spcPts val="200"/>
              </a:spcBef>
              <a:spcAft>
                <a:spcPts val="600"/>
              </a:spcAft>
            </a:pPr>
            <a:r>
              <a:rPr sz="2600">
                <a:solidFill>
                  <a:srgbClr val="FFFFFF"/>
                </a:solidFill>
                <a:latin typeface="Calibri"/>
              </a:rPr>
              <a:t>⚠️  Be careful sharing publicly — once a video is out there, you can't take it back</a:t>
            </a:r>
          </a:p>
          <a:p>
            <a:pPr>
              <a:spcBef>
                <a:spcPts val="200"/>
              </a:spcBef>
              <a:spcAft>
                <a:spcPts val="600"/>
              </a:spcAft>
            </a:pPr>
            <a:r>
              <a:rPr sz="2600">
                <a:solidFill>
                  <a:srgbClr val="FFFFFF"/>
                </a:solidFill>
                <a:latin typeface="Calibri"/>
              </a:rPr>
              <a:t>🚫  Don't show your face + location together</a:t>
            </a:r>
          </a:p>
          <a:p>
            <a:pPr>
              <a:spcBef>
                <a:spcPts val="200"/>
              </a:spcBef>
              <a:spcAft>
                <a:spcPts val="600"/>
              </a:spcAft>
            </a:pPr>
            <a:r>
              <a:rPr sz="2600">
                <a:solidFill>
                  <a:srgbClr val="FFFFFF"/>
                </a:solidFill>
                <a:latin typeface="Calibri"/>
              </a:rPr>
              <a:t>💡  Watermark your work — credit your creations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72</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ALWAYS Private</a:t>
            </a:r>
          </a:p>
        </p:txBody>
      </p:sp>
      <p:sp>
        <p:nvSpPr>
          <p:cNvPr id="5" name="TextBox 4"/>
          <p:cNvSpPr txBox="1"/>
          <p:nvPr/>
        </p:nvSpPr>
        <p:spPr>
          <a:xfrm>
            <a:off x="1371600" y="1737360"/>
            <a:ext cx="9448495" cy="731520"/>
          </a:xfrm>
          <a:prstGeom prst="rect">
            <a:avLst/>
          </a:prstGeom>
          <a:noFill/>
        </p:spPr>
        <p:txBody>
          <a:bodyPr wrap="square">
            <a:spAutoFit/>
          </a:bodyPr>
          <a:lstStyle/>
          <a:p>
            <a:pPr algn="ctr">
              <a:defRPr sz="2800" b="0">
                <a:solidFill>
                  <a:srgbClr val="A7A9BE"/>
                </a:solidFill>
                <a:latin typeface="Calibri"/>
              </a:defRPr>
            </a:pPr>
            <a:r>
              <a:t>Every single social media account should be set to PRIVATE.</a:t>
            </a:r>
          </a:p>
        </p:txBody>
      </p:sp>
      <p:sp>
        <p:nvSpPr>
          <p:cNvPr id="6" name="TextBox 5"/>
          <p:cNvSpPr txBox="1"/>
          <p:nvPr/>
        </p:nvSpPr>
        <p:spPr>
          <a:xfrm>
            <a:off x="1371600" y="2468880"/>
            <a:ext cx="9448495" cy="4114800"/>
          </a:xfrm>
          <a:prstGeom prst="rect">
            <a:avLst/>
          </a:prstGeom>
          <a:noFill/>
        </p:spPr>
        <p:txBody>
          <a:bodyPr wrap="square">
            <a:spAutoFit/>
          </a:bodyPr>
          <a:lstStyle/>
          <a:p>
            <a:pPr>
              <a:spcBef>
                <a:spcPts val="200"/>
              </a:spcBef>
              <a:spcAft>
                <a:spcPts val="600"/>
              </a:spcAft>
            </a:pPr>
            <a:r>
              <a:rPr sz="2600">
                <a:solidFill>
                  <a:srgbClr val="FFFFFF"/>
                </a:solidFill>
                <a:latin typeface="Calibri"/>
              </a:rPr>
              <a:t>✅  Only approved followers can see your posts</a:t>
            </a:r>
          </a:p>
          <a:p>
            <a:pPr>
              <a:spcBef>
                <a:spcPts val="200"/>
              </a:spcBef>
              <a:spcAft>
                <a:spcPts val="600"/>
              </a:spcAft>
            </a:pPr>
            <a:r>
              <a:rPr sz="2600">
                <a:solidFill>
                  <a:srgbClr val="FFFFFF"/>
                </a:solidFill>
                <a:latin typeface="Calibri"/>
              </a:rPr>
              <a:t>✅  Strangers can't see your photos or info</a:t>
            </a:r>
          </a:p>
          <a:p>
            <a:pPr>
              <a:spcBef>
                <a:spcPts val="200"/>
              </a:spcBef>
              <a:spcAft>
                <a:spcPts val="600"/>
              </a:spcAft>
            </a:pPr>
            <a:r>
              <a:rPr sz="2600">
                <a:solidFill>
                  <a:srgbClr val="FFFFFF"/>
                </a:solidFill>
                <a:latin typeface="Calibri"/>
              </a:rPr>
              <a:t>✅  You control who's in your audience</a:t>
            </a:r>
          </a:p>
          <a:p>
            <a:pPr>
              <a:spcBef>
                <a:spcPts val="200"/>
              </a:spcBef>
              <a:spcAft>
                <a:spcPts val="600"/>
              </a:spcAft>
            </a:pPr>
            <a:r>
              <a:rPr sz="2600">
                <a:solidFill>
                  <a:srgbClr val="FFFFFF"/>
                </a:solidFill>
                <a:latin typeface="Calibri"/>
              </a:rPr>
              <a:t>❌  Public accounts = anyone in the world can see everything</a:t>
            </a:r>
          </a:p>
        </p:txBody>
      </p:sp>
      <p:sp>
        <p:nvSpPr>
          <p:cNvPr id="7" name="TextBox 6"/>
          <p:cNvSpPr txBox="1"/>
          <p:nvPr/>
        </p:nvSpPr>
        <p:spPr>
          <a:xfrm>
            <a:off x="1371600" y="3858768"/>
            <a:ext cx="9448495" cy="457200"/>
          </a:xfrm>
          <a:prstGeom prst="rect">
            <a:avLst/>
          </a:prstGeom>
          <a:noFill/>
        </p:spPr>
        <p:txBody>
          <a:bodyPr wrap="square">
            <a:spAutoFit/>
          </a:bodyPr>
          <a:lstStyle/>
          <a:p>
            <a:pPr algn="ctr">
              <a:defRPr sz="1800" b="0">
                <a:solidFill>
                  <a:srgbClr val="A855F7"/>
                </a:solidFill>
                <a:latin typeface="Calibri"/>
              </a:defRPr>
            </a:pPr>
            <a:r>
              <a:t>This is non-negotiable, Elli. Private. Always.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73</a:t>
            </a:r>
          </a:p>
        </p:txBody>
      </p:sp>
      <p:sp>
        <p:nvSpPr>
          <p:cNvPr id="3" name="TextBox 2"/>
          <p:cNvSpPr txBox="1"/>
          <p:nvPr/>
        </p:nvSpPr>
        <p:spPr>
          <a:xfrm>
            <a:off x="731520" y="274320"/>
            <a:ext cx="10728655" cy="548640"/>
          </a:xfrm>
          <a:prstGeom prst="rect">
            <a:avLst/>
          </a:prstGeom>
          <a:noFill/>
        </p:spPr>
        <p:txBody>
          <a:bodyPr wrap="square">
            <a:spAutoFit/>
          </a:bodyPr>
          <a:lstStyle/>
          <a:p>
            <a:pPr algn="ctr">
              <a:defRPr sz="3400" b="1">
                <a:solidFill>
                  <a:srgbClr val="A855F7"/>
                </a:solidFill>
                <a:latin typeface="Calibri"/>
              </a:defRPr>
            </a:pPr>
            <a:r>
              <a:t>✅ What to Post / ❌ What NOT to Post</a:t>
            </a:r>
          </a:p>
        </p:txBody>
      </p:sp>
      <p:sp>
        <p:nvSpPr>
          <p:cNvPr id="4" name="Rounded Rectangle 3"/>
          <p:cNvSpPr/>
          <p:nvPr/>
        </p:nvSpPr>
        <p:spPr>
          <a:xfrm>
            <a:off x="1097280" y="1097280"/>
            <a:ext cx="4937760" cy="4114800"/>
          </a:xfrm>
          <a:prstGeom prst="roundRect">
            <a:avLst/>
          </a:prstGeom>
          <a:solidFill>
            <a:srgbClr val="152A1F"/>
          </a:solidFill>
          <a:ln w="25400">
            <a:solidFill>
              <a:srgbClr val="2CB67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1280160"/>
            <a:ext cx="4389120" cy="457200"/>
          </a:xfrm>
          <a:prstGeom prst="rect">
            <a:avLst/>
          </a:prstGeom>
          <a:noFill/>
        </p:spPr>
        <p:txBody>
          <a:bodyPr wrap="square">
            <a:spAutoFit/>
          </a:bodyPr>
          <a:lstStyle/>
          <a:p>
            <a:pPr algn="l">
              <a:defRPr sz="2800" b="1">
                <a:solidFill>
                  <a:srgbClr val="2CB67D"/>
                </a:solidFill>
                <a:latin typeface="Calibri"/>
              </a:defRPr>
            </a:pPr>
            <a:r>
              <a:t>✅ OK to Post</a:t>
            </a:r>
          </a:p>
        </p:txBody>
      </p:sp>
      <p:sp>
        <p:nvSpPr>
          <p:cNvPr id="6" name="TextBox 5"/>
          <p:cNvSpPr txBox="1"/>
          <p:nvPr/>
        </p:nvSpPr>
        <p:spPr>
          <a:xfrm>
            <a:off x="1371600" y="1828800"/>
            <a:ext cx="4389120" cy="3200400"/>
          </a:xfrm>
          <a:prstGeom prst="rect">
            <a:avLst/>
          </a:prstGeom>
          <a:noFill/>
        </p:spPr>
        <p:txBody>
          <a:bodyPr wrap="square">
            <a:spAutoFit/>
          </a:bodyPr>
          <a:lstStyle/>
          <a:p>
            <a:pPr algn="l">
              <a:defRPr sz="2600" b="0">
                <a:solidFill>
                  <a:srgbClr val="A7A9BE"/>
                </a:solidFill>
                <a:latin typeface="Calibri"/>
              </a:defRPr>
            </a:pPr>
            <a:r>
              <a:t>Creative work, hobbies, CapCut edits, group photos (with permission), funny memes, achievements, positive vibes</a:t>
            </a:r>
          </a:p>
        </p:txBody>
      </p:sp>
      <p:sp>
        <p:nvSpPr>
          <p:cNvPr id="7" name="Rounded Rectangle 6"/>
          <p:cNvSpPr/>
          <p:nvPr/>
        </p:nvSpPr>
        <p:spPr>
          <a:xfrm>
            <a:off x="6309360" y="1097280"/>
            <a:ext cx="4937760" cy="4114800"/>
          </a:xfrm>
          <a:prstGeom prst="roundRect">
            <a:avLst/>
          </a:prstGeom>
          <a:solidFill>
            <a:srgbClr val="2E1A1A"/>
          </a:solidFill>
          <a:ln w="2540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0" y="1280160"/>
            <a:ext cx="4389120" cy="457200"/>
          </a:xfrm>
          <a:prstGeom prst="rect">
            <a:avLst/>
          </a:prstGeom>
          <a:noFill/>
        </p:spPr>
        <p:txBody>
          <a:bodyPr wrap="square">
            <a:spAutoFit/>
          </a:bodyPr>
          <a:lstStyle/>
          <a:p>
            <a:pPr algn="l">
              <a:defRPr sz="2800" b="1">
                <a:solidFill>
                  <a:srgbClr val="FF6B6B"/>
                </a:solidFill>
                <a:latin typeface="Calibri"/>
              </a:defRPr>
            </a:pPr>
            <a:r>
              <a:t>❌ NEVER Post</a:t>
            </a:r>
          </a:p>
        </p:txBody>
      </p:sp>
      <p:sp>
        <p:nvSpPr>
          <p:cNvPr id="9" name="TextBox 8"/>
          <p:cNvSpPr txBox="1"/>
          <p:nvPr/>
        </p:nvSpPr>
        <p:spPr>
          <a:xfrm>
            <a:off x="6583680" y="1828800"/>
            <a:ext cx="4389120" cy="3200400"/>
          </a:xfrm>
          <a:prstGeom prst="rect">
            <a:avLst/>
          </a:prstGeom>
          <a:noFill/>
        </p:spPr>
        <p:txBody>
          <a:bodyPr wrap="square">
            <a:spAutoFit/>
          </a:bodyPr>
          <a:lstStyle/>
          <a:p>
            <a:pPr algn="l">
              <a:defRPr sz="2600" b="0">
                <a:solidFill>
                  <a:srgbClr val="A7A9BE"/>
                </a:solidFill>
                <a:latin typeface="Calibri"/>
              </a:defRPr>
            </a:pPr>
            <a:r>
              <a:t>Location/address, school uniform/logo, personal drama, anything you'd regret, other people's photos without asking, angry rants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74</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Screenshots Are Forever</a:t>
            </a:r>
          </a:p>
        </p:txBody>
      </p:sp>
      <p:sp>
        <p:nvSpPr>
          <p:cNvPr id="5" name="TextBox 4"/>
          <p:cNvSpPr txBox="1"/>
          <p:nvPr/>
        </p:nvSpPr>
        <p:spPr>
          <a:xfrm>
            <a:off x="1371600" y="1737360"/>
            <a:ext cx="9448495" cy="731520"/>
          </a:xfrm>
          <a:prstGeom prst="rect">
            <a:avLst/>
          </a:prstGeom>
          <a:noFill/>
        </p:spPr>
        <p:txBody>
          <a:bodyPr wrap="square">
            <a:spAutoFit/>
          </a:bodyPr>
          <a:lstStyle/>
          <a:p>
            <a:pPr algn="ctr">
              <a:defRPr sz="2800" b="0">
                <a:solidFill>
                  <a:srgbClr val="A7A9BE"/>
                </a:solidFill>
                <a:latin typeface="Calibri"/>
              </a:defRPr>
            </a:pPr>
            <a:r>
              <a:t>Disappearing messages don't really disappear.</a:t>
            </a:r>
          </a:p>
        </p:txBody>
      </p:sp>
      <p:sp>
        <p:nvSpPr>
          <p:cNvPr id="6" name="TextBox 5"/>
          <p:cNvSpPr txBox="1"/>
          <p:nvPr/>
        </p:nvSpPr>
        <p:spPr>
          <a:xfrm>
            <a:off x="1371600" y="2468880"/>
            <a:ext cx="9448495" cy="4114800"/>
          </a:xfrm>
          <a:prstGeom prst="rect">
            <a:avLst/>
          </a:prstGeom>
          <a:noFill/>
        </p:spPr>
        <p:txBody>
          <a:bodyPr wrap="square">
            <a:spAutoFit/>
          </a:bodyPr>
          <a:lstStyle/>
          <a:p>
            <a:pPr>
              <a:spcBef>
                <a:spcPts val="200"/>
              </a:spcBef>
              <a:spcAft>
                <a:spcPts val="600"/>
              </a:spcAft>
            </a:pPr>
            <a:r>
              <a:rPr sz="2600">
                <a:solidFill>
                  <a:srgbClr val="FFFFFF"/>
                </a:solidFill>
                <a:latin typeface="Calibri"/>
              </a:rPr>
              <a:t>📱  Anyone can screenshot before it's gone</a:t>
            </a:r>
          </a:p>
          <a:p>
            <a:pPr>
              <a:spcBef>
                <a:spcPts val="200"/>
              </a:spcBef>
              <a:spcAft>
                <a:spcPts val="600"/>
              </a:spcAft>
            </a:pPr>
            <a:r>
              <a:rPr sz="2600">
                <a:solidFill>
                  <a:srgbClr val="FFFFFF"/>
                </a:solidFill>
                <a:latin typeface="Calibri"/>
              </a:rPr>
              <a:t>🔄  Screenshots get shared, saved, and forwarded</a:t>
            </a:r>
          </a:p>
          <a:p>
            <a:pPr>
              <a:spcBef>
                <a:spcPts val="200"/>
              </a:spcBef>
              <a:spcAft>
                <a:spcPts val="600"/>
              </a:spcAft>
            </a:pPr>
            <a:r>
              <a:rPr sz="2600">
                <a:solidFill>
                  <a:srgbClr val="FFFFFF"/>
                </a:solidFill>
                <a:latin typeface="Calibri"/>
              </a:rPr>
              <a:t>💬  Private conversations can become very public very fast</a:t>
            </a:r>
          </a:p>
          <a:p>
            <a:pPr>
              <a:spcBef>
                <a:spcPts val="200"/>
              </a:spcBef>
              <a:spcAft>
                <a:spcPts val="600"/>
              </a:spcAft>
            </a:pPr>
            <a:r>
              <a:rPr sz="2600">
                <a:solidFill>
                  <a:srgbClr val="FFFFFF"/>
                </a:solidFill>
                <a:latin typeface="Calibri"/>
              </a:rPr>
              <a:t>🤔  Before you send ANYTHING: assume it could be seen by everyone</a:t>
            </a:r>
          </a:p>
        </p:txBody>
      </p:sp>
      <p:sp>
        <p:nvSpPr>
          <p:cNvPr id="7" name="Rounded Rectangle 6"/>
          <p:cNvSpPr/>
          <p:nvPr/>
        </p:nvSpPr>
        <p:spPr>
          <a:xfrm>
            <a:off x="1371600" y="3858768"/>
            <a:ext cx="9448495" cy="914400"/>
          </a:xfrm>
          <a:prstGeom prst="round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371600" y="3904488"/>
            <a:ext cx="73152" cy="822960"/>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00200" y="3950208"/>
            <a:ext cx="9082735" cy="274320"/>
          </a:xfrm>
          <a:prstGeom prst="rect">
            <a:avLst/>
          </a:prstGeom>
          <a:noFill/>
        </p:spPr>
        <p:txBody>
          <a:bodyPr wrap="square">
            <a:spAutoFit/>
          </a:bodyPr>
          <a:lstStyle/>
          <a:p>
            <a:pPr algn="l">
              <a:defRPr sz="1200" b="1">
                <a:solidFill>
                  <a:srgbClr val="E056A0"/>
                </a:solidFill>
                <a:latin typeface="Calibri"/>
              </a:defRPr>
            </a:pPr>
            <a:r>
              <a:t>REAL TALK</a:t>
            </a:r>
          </a:p>
        </p:txBody>
      </p:sp>
      <p:sp>
        <p:nvSpPr>
          <p:cNvPr id="10" name="TextBox 9"/>
          <p:cNvSpPr txBox="1"/>
          <p:nvPr/>
        </p:nvSpPr>
        <p:spPr>
          <a:xfrm>
            <a:off x="1600200" y="4206240"/>
            <a:ext cx="9082735" cy="457200"/>
          </a:xfrm>
          <a:prstGeom prst="rect">
            <a:avLst/>
          </a:prstGeom>
          <a:noFill/>
        </p:spPr>
        <p:txBody>
          <a:bodyPr wrap="square">
            <a:spAutoFit/>
          </a:bodyPr>
          <a:lstStyle/>
          <a:p>
            <a:pPr algn="l">
              <a:defRPr sz="1800" b="0">
                <a:solidFill>
                  <a:srgbClr val="A7A9BE"/>
                </a:solidFill>
                <a:latin typeface="Calibri"/>
              </a:defRPr>
            </a:pPr>
            <a:r>
              <a:t>Every year, teens have their lives turned upside down because a "private" photo or message was screenshotted and shared. Once it's out there, you can't take it back. Ever.</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75</a:t>
            </a:r>
          </a:p>
        </p:txBody>
      </p:sp>
      <p:sp>
        <p:nvSpPr>
          <p:cNvPr id="3" name="TextBox 2"/>
          <p:cNvSpPr txBox="1"/>
          <p:nvPr/>
        </p:nvSpPr>
        <p:spPr>
          <a:xfrm>
            <a:off x="731520" y="457200"/>
            <a:ext cx="10728655" cy="731520"/>
          </a:xfrm>
          <a:prstGeom prst="rect">
            <a:avLst/>
          </a:prstGeom>
          <a:noFill/>
        </p:spPr>
        <p:txBody>
          <a:bodyPr wrap="square">
            <a:spAutoFit/>
          </a:bodyPr>
          <a:lstStyle/>
          <a:p>
            <a:pPr algn="ctr">
              <a:defRPr sz="3600" b="1">
                <a:solidFill>
                  <a:srgbClr val="A855F7"/>
                </a:solidFill>
                <a:latin typeface="Calibri"/>
              </a:defRPr>
            </a:pPr>
            <a:r>
              <a:t>👵 The Grandma Test</a:t>
            </a:r>
          </a:p>
        </p:txBody>
      </p:sp>
      <p:sp>
        <p:nvSpPr>
          <p:cNvPr id="4" name="Rounded Rectangle 3"/>
          <p:cNvSpPr/>
          <p:nvPr/>
        </p:nvSpPr>
        <p:spPr>
          <a:xfrm>
            <a:off x="2286000" y="1645920"/>
            <a:ext cx="7619695" cy="3200400"/>
          </a:xfrm>
          <a:prstGeom prst="round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0" y="1828800"/>
            <a:ext cx="6705295" cy="548640"/>
          </a:xfrm>
          <a:prstGeom prst="rect">
            <a:avLst/>
          </a:prstGeom>
          <a:noFill/>
        </p:spPr>
        <p:txBody>
          <a:bodyPr wrap="square">
            <a:spAutoFit/>
          </a:bodyPr>
          <a:lstStyle/>
          <a:p>
            <a:pPr algn="ctr">
              <a:defRPr sz="2600" b="1">
                <a:solidFill>
                  <a:srgbClr val="FFFFFF"/>
                </a:solidFill>
                <a:latin typeface="Calibri"/>
              </a:defRPr>
            </a:pPr>
            <a:r>
              <a:t>Before you post anything, ask:</a:t>
            </a:r>
          </a:p>
        </p:txBody>
      </p:sp>
      <p:sp>
        <p:nvSpPr>
          <p:cNvPr id="6" name="TextBox 5"/>
          <p:cNvSpPr txBox="1"/>
          <p:nvPr/>
        </p:nvSpPr>
        <p:spPr>
          <a:xfrm>
            <a:off x="2743200" y="2560320"/>
            <a:ext cx="6705295" cy="914400"/>
          </a:xfrm>
          <a:prstGeom prst="rect">
            <a:avLst/>
          </a:prstGeom>
          <a:noFill/>
        </p:spPr>
        <p:txBody>
          <a:bodyPr wrap="square">
            <a:spAutoFit/>
          </a:bodyPr>
          <a:lstStyle/>
          <a:p>
            <a:pPr algn="ctr">
              <a:defRPr sz="3600" b="1">
                <a:solidFill>
                  <a:srgbClr val="A855F7"/>
                </a:solidFill>
                <a:latin typeface="Calibri"/>
              </a:defRPr>
            </a:pPr>
            <a:r>
              <a:t>"Would I be comfortable showing this to Grandma?"</a:t>
            </a:r>
          </a:p>
        </p:txBody>
      </p:sp>
      <p:sp>
        <p:nvSpPr>
          <p:cNvPr id="7" name="TextBox 6"/>
          <p:cNvSpPr txBox="1"/>
          <p:nvPr/>
        </p:nvSpPr>
        <p:spPr>
          <a:xfrm>
            <a:off x="2743200" y="3657600"/>
            <a:ext cx="6705295" cy="914400"/>
          </a:xfrm>
          <a:prstGeom prst="rect">
            <a:avLst/>
          </a:prstGeom>
          <a:noFill/>
        </p:spPr>
        <p:txBody>
          <a:bodyPr wrap="square">
            <a:spAutoFit/>
          </a:bodyPr>
          <a:lstStyle/>
          <a:p>
            <a:pPr algn="ctr">
              <a:defRPr sz="2600" b="0">
                <a:solidFill>
                  <a:srgbClr val="A7A9BE"/>
                </a:solidFill>
                <a:latin typeface="Calibri"/>
              </a:defRPr>
            </a:pPr>
            <a:r>
              <a:t>If no → don't post it.</a:t>
            </a:r>
            <a:br/>
            <a:r>
              <a:t>Simple as that. 😊</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76</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Handling Online Drama</a:t>
            </a:r>
          </a:p>
        </p:txBody>
      </p:sp>
      <p:sp>
        <p:nvSpPr>
          <p:cNvPr id="5" name="TextBox 4"/>
          <p:cNvSpPr txBox="1"/>
          <p:nvPr/>
        </p:nvSpPr>
        <p:spPr>
          <a:xfrm>
            <a:off x="1371600" y="1737360"/>
            <a:ext cx="9448495" cy="4114800"/>
          </a:xfrm>
          <a:prstGeom prst="rect">
            <a:avLst/>
          </a:prstGeom>
          <a:noFill/>
        </p:spPr>
        <p:txBody>
          <a:bodyPr wrap="square">
            <a:spAutoFit/>
          </a:bodyPr>
          <a:lstStyle/>
          <a:p>
            <a:pPr>
              <a:spcBef>
                <a:spcPts val="200"/>
              </a:spcBef>
              <a:spcAft>
                <a:spcPts val="600"/>
              </a:spcAft>
            </a:pPr>
            <a:r>
              <a:rPr sz="2600">
                <a:solidFill>
                  <a:srgbClr val="FFFFFF"/>
                </a:solidFill>
                <a:latin typeface="Calibri"/>
              </a:rPr>
              <a:t>🧊  Don't respond when you're angry — wait at least an hour</a:t>
            </a:r>
          </a:p>
          <a:p>
            <a:pPr>
              <a:spcBef>
                <a:spcPts val="200"/>
              </a:spcBef>
              <a:spcAft>
                <a:spcPts val="600"/>
              </a:spcAft>
            </a:pPr>
            <a:r>
              <a:rPr sz="2600">
                <a:solidFill>
                  <a:srgbClr val="FFFFFF"/>
                </a:solidFill>
                <a:latin typeface="Calibri"/>
              </a:rPr>
              <a:t>📵  Take it offline — real conflicts are better resolved face-to-face</a:t>
            </a:r>
          </a:p>
          <a:p>
            <a:pPr>
              <a:spcBef>
                <a:spcPts val="200"/>
              </a:spcBef>
              <a:spcAft>
                <a:spcPts val="600"/>
              </a:spcAft>
            </a:pPr>
            <a:r>
              <a:rPr sz="2600">
                <a:solidFill>
                  <a:srgbClr val="FFFFFF"/>
                </a:solidFill>
                <a:latin typeface="Calibri"/>
              </a:rPr>
              <a:t>🚫  Don't get involved in other people's drama</a:t>
            </a:r>
          </a:p>
          <a:p>
            <a:pPr>
              <a:spcBef>
                <a:spcPts val="200"/>
              </a:spcBef>
              <a:spcAft>
                <a:spcPts val="600"/>
              </a:spcAft>
            </a:pPr>
            <a:r>
              <a:rPr sz="2600">
                <a:solidFill>
                  <a:srgbClr val="FFFFFF"/>
                </a:solidFill>
                <a:latin typeface="Calibri"/>
              </a:rPr>
              <a:t>📸  Don't screenshot and share private arguments</a:t>
            </a:r>
          </a:p>
          <a:p>
            <a:pPr>
              <a:spcBef>
                <a:spcPts val="200"/>
              </a:spcBef>
              <a:spcAft>
                <a:spcPts val="600"/>
              </a:spcAft>
            </a:pPr>
            <a:r>
              <a:rPr sz="2600">
                <a:solidFill>
                  <a:srgbClr val="FFFFFF"/>
                </a:solidFill>
                <a:latin typeface="Calibri"/>
              </a:rPr>
              <a:t>🗣️  Talk to a parent if it's serious</a:t>
            </a:r>
          </a:p>
          <a:p>
            <a:pPr>
              <a:spcBef>
                <a:spcPts val="200"/>
              </a:spcBef>
              <a:spcAft>
                <a:spcPts val="600"/>
              </a:spcAft>
            </a:pPr>
            <a:r>
              <a:rPr sz="2600">
                <a:solidFill>
                  <a:srgbClr val="FFFFFF"/>
                </a:solidFill>
                <a:latin typeface="Calibri"/>
              </a:rPr>
              <a:t>💡  Remember: What you say online has real consequences for real people</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77</a:t>
            </a:r>
          </a:p>
        </p:txBody>
      </p:sp>
      <p:sp>
        <p:nvSpPr>
          <p:cNvPr id="3" name="Rounded Rectangle 2"/>
          <p:cNvSpPr/>
          <p:nvPr/>
        </p:nvSpPr>
        <p:spPr>
          <a:xfrm>
            <a:off x="1371600" y="1371600"/>
            <a:ext cx="9448495" cy="4114800"/>
          </a:xfrm>
          <a:prstGeom prst="roundRect">
            <a:avLst/>
          </a:prstGeom>
          <a:solidFill>
            <a:srgbClr val="1F1A3E"/>
          </a:solidFill>
          <a:ln w="254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45920" y="1554480"/>
            <a:ext cx="8899855" cy="365760"/>
          </a:xfrm>
          <a:prstGeom prst="rect">
            <a:avLst/>
          </a:prstGeom>
          <a:noFill/>
        </p:spPr>
        <p:txBody>
          <a:bodyPr wrap="square">
            <a:spAutoFit/>
          </a:bodyPr>
          <a:lstStyle/>
          <a:p>
            <a:pPr algn="l">
              <a:defRPr sz="1900" b="1">
                <a:solidFill>
                  <a:srgbClr val="A855F7"/>
                </a:solidFill>
                <a:latin typeface="Calibri"/>
              </a:defRPr>
            </a:pPr>
            <a:r>
              <a:t>💬 DISCUSSION PROMPT</a:t>
            </a:r>
          </a:p>
        </p:txBody>
      </p:sp>
      <p:sp>
        <p:nvSpPr>
          <p:cNvPr id="5" name="TextBox 4"/>
          <p:cNvSpPr txBox="1"/>
          <p:nvPr/>
        </p:nvSpPr>
        <p:spPr>
          <a:xfrm>
            <a:off x="1645920" y="1874520"/>
            <a:ext cx="8899855" cy="3474720"/>
          </a:xfrm>
          <a:prstGeom prst="rect">
            <a:avLst/>
          </a:prstGeom>
          <a:noFill/>
        </p:spPr>
        <p:txBody>
          <a:bodyPr wrap="square">
            <a:spAutoFit/>
          </a:bodyPr>
          <a:lstStyle/>
          <a:p>
            <a:pPr algn="l">
              <a:defRPr sz="2800" b="0">
                <a:solidFill>
                  <a:srgbClr val="FFFFFF"/>
                </a:solidFill>
                <a:latin typeface="Calibri"/>
              </a:defRPr>
            </a:pPr>
            <a:r>
              <a:t>Elli, let's review your social media accounts together. Are they all set to private? What kind of content do you want to be known for posting?</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78</a:t>
            </a:r>
          </a:p>
        </p:txBody>
      </p:sp>
      <p:sp>
        <p:nvSpPr>
          <p:cNvPr id="3" name="TextBox 2"/>
          <p:cNvSpPr txBox="1"/>
          <p:nvPr/>
        </p:nvSpPr>
        <p:spPr>
          <a:xfrm>
            <a:off x="914400" y="914400"/>
            <a:ext cx="10362895" cy="365760"/>
          </a:xfrm>
          <a:prstGeom prst="rect">
            <a:avLst/>
          </a:prstGeom>
          <a:noFill/>
        </p:spPr>
        <p:txBody>
          <a:bodyPr wrap="square">
            <a:spAutoFit/>
          </a:bodyPr>
          <a:lstStyle/>
          <a:p>
            <a:pPr algn="ctr">
              <a:defRPr sz="1400" b="1">
                <a:solidFill>
                  <a:srgbClr val="06B6D4"/>
                </a:solidFill>
                <a:latin typeface="Calibri"/>
              </a:defRPr>
            </a:pPr>
            <a:r>
              <a:t>MODULE 9 — LEVEL UP</a:t>
            </a:r>
          </a:p>
        </p:txBody>
      </p:sp>
      <p:sp>
        <p:nvSpPr>
          <p:cNvPr id="4" name="TextBox 3"/>
          <p:cNvSpPr txBox="1"/>
          <p:nvPr/>
        </p:nvSpPr>
        <p:spPr>
          <a:xfrm>
            <a:off x="914400" y="1371600"/>
            <a:ext cx="10362895" cy="914400"/>
          </a:xfrm>
          <a:prstGeom prst="rect">
            <a:avLst/>
          </a:prstGeom>
          <a:noFill/>
        </p:spPr>
        <p:txBody>
          <a:bodyPr wrap="square">
            <a:spAutoFit/>
          </a:bodyPr>
          <a:lstStyle/>
          <a:p>
            <a:pPr algn="ctr">
              <a:defRPr sz="7200" b="0">
                <a:solidFill>
                  <a:srgbClr val="FFFFFF"/>
                </a:solidFill>
                <a:latin typeface="Calibri"/>
              </a:defRPr>
            </a:pPr>
            <a:r>
              <a:t>🌟</a:t>
            </a:r>
          </a:p>
        </p:txBody>
      </p:sp>
      <p:sp>
        <p:nvSpPr>
          <p:cNvPr id="5" name="TextBox 4"/>
          <p:cNvSpPr txBox="1"/>
          <p:nvPr/>
        </p:nvSpPr>
        <p:spPr>
          <a:xfrm>
            <a:off x="914400" y="2377440"/>
            <a:ext cx="10362895" cy="914400"/>
          </a:xfrm>
          <a:prstGeom prst="rect">
            <a:avLst/>
          </a:prstGeom>
          <a:noFill/>
        </p:spPr>
        <p:txBody>
          <a:bodyPr wrap="square">
            <a:spAutoFit/>
          </a:bodyPr>
          <a:lstStyle/>
          <a:p>
            <a:pPr algn="ctr">
              <a:defRPr sz="4800" b="1">
                <a:solidFill>
                  <a:srgbClr val="A855F7"/>
                </a:solidFill>
                <a:latin typeface="Calibri"/>
              </a:defRPr>
            </a:pPr>
            <a:r>
              <a:t>Using Your Phone to IMPROVE Your Life</a:t>
            </a:r>
          </a:p>
        </p:txBody>
      </p:sp>
      <p:sp>
        <p:nvSpPr>
          <p:cNvPr id="6" name="TextBox 5"/>
          <p:cNvSpPr txBox="1"/>
          <p:nvPr/>
        </p:nvSpPr>
        <p:spPr>
          <a:xfrm>
            <a:off x="1371600" y="3291840"/>
            <a:ext cx="9448495" cy="1371600"/>
          </a:xfrm>
          <a:prstGeom prst="rect">
            <a:avLst/>
          </a:prstGeom>
          <a:noFill/>
        </p:spPr>
        <p:txBody>
          <a:bodyPr wrap="square">
            <a:spAutoFit/>
          </a:bodyPr>
          <a:lstStyle/>
          <a:p>
            <a:pPr algn="ctr">
              <a:defRPr sz="2600" b="0">
                <a:solidFill>
                  <a:srgbClr val="A7A9BE"/>
                </a:solidFill>
                <a:latin typeface="Calibri"/>
              </a:defRPr>
            </a:pPr>
            <a:r>
              <a:t>Your phone is an incredibly powerful tool.</a:t>
            </a:r>
            <a:br/>
            <a:r>
              <a:t>Let's use it for good, Elli.</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79</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The Good Stuff</a:t>
            </a:r>
          </a:p>
        </p:txBody>
      </p:sp>
      <p:sp>
        <p:nvSpPr>
          <p:cNvPr id="5" name="TextBox 4"/>
          <p:cNvSpPr txBox="1"/>
          <p:nvPr/>
        </p:nvSpPr>
        <p:spPr>
          <a:xfrm>
            <a:off x="1371600" y="1737360"/>
            <a:ext cx="9448495" cy="4114800"/>
          </a:xfrm>
          <a:prstGeom prst="rect">
            <a:avLst/>
          </a:prstGeom>
          <a:noFill/>
        </p:spPr>
        <p:txBody>
          <a:bodyPr wrap="square">
            <a:spAutoFit/>
          </a:bodyPr>
          <a:lstStyle/>
          <a:p>
            <a:pPr>
              <a:spcBef>
                <a:spcPts val="200"/>
              </a:spcBef>
              <a:spcAft>
                <a:spcPts val="600"/>
              </a:spcAft>
            </a:pPr>
            <a:r>
              <a:rPr sz="2600">
                <a:solidFill>
                  <a:srgbClr val="FFFFFF"/>
                </a:solidFill>
                <a:latin typeface="Calibri"/>
              </a:rPr>
              <a:t>💬  Stay connected — text/call family and friends easily</a:t>
            </a:r>
          </a:p>
          <a:p>
            <a:pPr>
              <a:spcBef>
                <a:spcPts val="200"/>
              </a:spcBef>
              <a:spcAft>
                <a:spcPts val="600"/>
              </a:spcAft>
            </a:pPr>
            <a:r>
              <a:rPr sz="2600">
                <a:solidFill>
                  <a:srgbClr val="FFFFFF"/>
                </a:solidFill>
                <a:latin typeface="Calibri"/>
              </a:rPr>
              <a:t>📚  Learn anything — Khan Academy, YouTube tutorials, podcasts, Duolingo</a:t>
            </a:r>
          </a:p>
          <a:p>
            <a:pPr>
              <a:spcBef>
                <a:spcPts val="200"/>
              </a:spcBef>
              <a:spcAft>
                <a:spcPts val="600"/>
              </a:spcAft>
            </a:pPr>
            <a:r>
              <a:rPr sz="2600">
                <a:solidFill>
                  <a:srgbClr val="FFFFFF"/>
                </a:solidFill>
                <a:latin typeface="Calibri"/>
              </a:rPr>
              <a:t>🎨  Create — CapCut videos, writing with ChatGPT, Pinterest boards, music, art</a:t>
            </a:r>
          </a:p>
          <a:p>
            <a:pPr>
              <a:spcBef>
                <a:spcPts val="200"/>
              </a:spcBef>
              <a:spcAft>
                <a:spcPts val="600"/>
              </a:spcAft>
            </a:pPr>
            <a:r>
              <a:rPr sz="2600">
                <a:solidFill>
                  <a:srgbClr val="FFFFFF"/>
                </a:solidFill>
                <a:latin typeface="Calibri"/>
              </a:rPr>
              <a:t>📅  Stay organized — calendar, reminders, to-do lists, notes</a:t>
            </a:r>
          </a:p>
          <a:p>
            <a:pPr>
              <a:spcBef>
                <a:spcPts val="200"/>
              </a:spcBef>
              <a:spcAft>
                <a:spcPts val="600"/>
              </a:spcAft>
            </a:pPr>
            <a:r>
              <a:rPr sz="2600">
                <a:solidFill>
                  <a:srgbClr val="FFFFFF"/>
                </a:solidFill>
                <a:latin typeface="Calibri"/>
              </a:rPr>
              <a:t>🆘  Emergency help — always have a way to reach your parents or call 911</a:t>
            </a:r>
          </a:p>
          <a:p>
            <a:pPr>
              <a:spcBef>
                <a:spcPts val="200"/>
              </a:spcBef>
              <a:spcAft>
                <a:spcPts val="600"/>
              </a:spcAft>
            </a:pPr>
            <a:r>
              <a:rPr sz="2600">
                <a:solidFill>
                  <a:srgbClr val="FFFFFF"/>
                </a:solidFill>
                <a:latin typeface="Calibri"/>
              </a:rPr>
              <a:t>🗺️  Navigate — maps, transit, never get lost</a:t>
            </a:r>
          </a:p>
          <a:p>
            <a:pPr>
              <a:spcBef>
                <a:spcPts val="200"/>
              </a:spcBef>
              <a:spcAft>
                <a:spcPts val="600"/>
              </a:spcAft>
            </a:pPr>
            <a:r>
              <a:rPr sz="2600">
                <a:solidFill>
                  <a:srgbClr val="FFFFFF"/>
                </a:solidFill>
                <a:latin typeface="Calibri"/>
              </a:rPr>
              <a:t>🌍  Be a good digital citizen — spread kindness, support friends, share knowledge</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80</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Recommended Apps to Start With</a:t>
            </a:r>
          </a:p>
        </p:txBody>
      </p:sp>
      <p:sp>
        <p:nvSpPr>
          <p:cNvPr id="5" name="TextBox 4"/>
          <p:cNvSpPr txBox="1"/>
          <p:nvPr/>
        </p:nvSpPr>
        <p:spPr>
          <a:xfrm>
            <a:off x="1371600" y="1737360"/>
            <a:ext cx="9448495" cy="4114800"/>
          </a:xfrm>
          <a:prstGeom prst="rect">
            <a:avLst/>
          </a:prstGeom>
          <a:noFill/>
        </p:spPr>
        <p:txBody>
          <a:bodyPr wrap="square">
            <a:spAutoFit/>
          </a:bodyPr>
          <a:lstStyle/>
          <a:p>
            <a:pPr>
              <a:spcBef>
                <a:spcPts val="200"/>
              </a:spcBef>
              <a:spcAft>
                <a:spcPts val="600"/>
              </a:spcAft>
            </a:pPr>
            <a:r>
              <a:rPr sz="2600">
                <a:solidFill>
                  <a:srgbClr val="FFFFFF"/>
                </a:solidFill>
                <a:latin typeface="Calibri"/>
              </a:rPr>
              <a:t>📚  Learning: Khan Academy, Duolingo, Google Arts &amp; Culture</a:t>
            </a:r>
          </a:p>
          <a:p>
            <a:pPr>
              <a:spcBef>
                <a:spcPts val="200"/>
              </a:spcBef>
              <a:spcAft>
                <a:spcPts val="600"/>
              </a:spcAft>
            </a:pPr>
            <a:r>
              <a:rPr sz="2600">
                <a:solidFill>
                  <a:srgbClr val="FFFFFF"/>
                </a:solidFill>
                <a:latin typeface="Calibri"/>
              </a:rPr>
              <a:t>🎨  Creativity: CapCut, Canva, GarageBand, Procreate</a:t>
            </a:r>
          </a:p>
          <a:p>
            <a:pPr>
              <a:spcBef>
                <a:spcPts val="200"/>
              </a:spcBef>
              <a:spcAft>
                <a:spcPts val="600"/>
              </a:spcAft>
            </a:pPr>
            <a:r>
              <a:rPr sz="2600">
                <a:solidFill>
                  <a:srgbClr val="FFFFFF"/>
                </a:solidFill>
                <a:latin typeface="Calibri"/>
              </a:rPr>
              <a:t>📅  Organization: Google Calendar, Notion, Reminders</a:t>
            </a:r>
          </a:p>
          <a:p>
            <a:pPr>
              <a:spcBef>
                <a:spcPts val="200"/>
              </a:spcBef>
              <a:spcAft>
                <a:spcPts val="600"/>
              </a:spcAft>
            </a:pPr>
            <a:r>
              <a:rPr sz="2600">
                <a:solidFill>
                  <a:srgbClr val="FFFFFF"/>
                </a:solidFill>
                <a:latin typeface="Calibri"/>
              </a:rPr>
              <a:t>🧘  Wellbeing: Headspace, Forest (focus timer)</a:t>
            </a:r>
          </a:p>
          <a:p>
            <a:pPr>
              <a:spcBef>
                <a:spcPts val="200"/>
              </a:spcBef>
              <a:spcAft>
                <a:spcPts val="600"/>
              </a:spcAft>
            </a:pPr>
            <a:r>
              <a:rPr sz="2600">
                <a:solidFill>
                  <a:srgbClr val="FFFFFF"/>
                </a:solidFill>
                <a:latin typeface="Calibri"/>
              </a:rPr>
              <a:t>📖  Reading: Kindle, Libby (free library books!)</a:t>
            </a:r>
          </a:p>
          <a:p>
            <a:pPr>
              <a:spcBef>
                <a:spcPts val="200"/>
              </a:spcBef>
              <a:spcAft>
                <a:spcPts val="600"/>
              </a:spcAft>
            </a:pPr>
            <a:r>
              <a:rPr sz="2600">
                <a:solidFill>
                  <a:srgbClr val="FFFFFF"/>
                </a:solidFill>
                <a:latin typeface="Calibri"/>
              </a:rPr>
              <a:t>🎵  Music: Spotify, Apple Music</a:t>
            </a:r>
          </a:p>
          <a:p>
            <a:pPr>
              <a:spcBef>
                <a:spcPts val="200"/>
              </a:spcBef>
              <a:spcAft>
                <a:spcPts val="600"/>
              </a:spcAft>
            </a:pPr>
            <a:r>
              <a:rPr sz="2600">
                <a:solidFill>
                  <a:srgbClr val="FFFFFF"/>
                </a:solidFill>
                <a:latin typeface="Calibri"/>
              </a:rPr>
              <a:t>✍️  Writing: ChatGPT (for brainstorming!), Google Docs</a:t>
            </a:r>
          </a:p>
        </p:txBody>
      </p:sp>
      <p:sp>
        <p:nvSpPr>
          <p:cNvPr id="6" name="TextBox 5"/>
          <p:cNvSpPr txBox="1"/>
          <p:nvPr/>
        </p:nvSpPr>
        <p:spPr>
          <a:xfrm>
            <a:off x="1371600" y="4169664"/>
            <a:ext cx="9448495" cy="457200"/>
          </a:xfrm>
          <a:prstGeom prst="rect">
            <a:avLst/>
          </a:prstGeom>
          <a:noFill/>
        </p:spPr>
        <p:txBody>
          <a:bodyPr wrap="square">
            <a:spAutoFit/>
          </a:bodyPr>
          <a:lstStyle/>
          <a:p>
            <a:pPr algn="ctr">
              <a:defRPr sz="1800" b="0">
                <a:solidFill>
                  <a:srgbClr val="A855F7"/>
                </a:solidFill>
                <a:latin typeface="Calibri"/>
              </a:defRPr>
            </a:pPr>
            <a:r>
              <a:t>Fill your phone with tools that help you grow. 🌱</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81</a:t>
            </a:r>
          </a:p>
        </p:txBody>
      </p:sp>
      <p:sp>
        <p:nvSpPr>
          <p:cNvPr id="3" name="Rounded Rectangle 2"/>
          <p:cNvSpPr/>
          <p:nvPr/>
        </p:nvSpPr>
        <p:spPr>
          <a:xfrm>
            <a:off x="1371600" y="1371600"/>
            <a:ext cx="9448495" cy="4114800"/>
          </a:xfrm>
          <a:prstGeom prst="roundRect">
            <a:avLst/>
          </a:prstGeom>
          <a:solidFill>
            <a:srgbClr val="1F1A3E"/>
          </a:solidFill>
          <a:ln w="254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45920" y="1554480"/>
            <a:ext cx="8899855" cy="365760"/>
          </a:xfrm>
          <a:prstGeom prst="rect">
            <a:avLst/>
          </a:prstGeom>
          <a:noFill/>
        </p:spPr>
        <p:txBody>
          <a:bodyPr wrap="square">
            <a:spAutoFit/>
          </a:bodyPr>
          <a:lstStyle/>
          <a:p>
            <a:pPr algn="l">
              <a:defRPr sz="1900" b="1">
                <a:solidFill>
                  <a:srgbClr val="A855F7"/>
                </a:solidFill>
                <a:latin typeface="Calibri"/>
              </a:defRPr>
            </a:pPr>
            <a:r>
              <a:t>💬 DISCUSSION PROMPT</a:t>
            </a:r>
          </a:p>
        </p:txBody>
      </p:sp>
      <p:sp>
        <p:nvSpPr>
          <p:cNvPr id="5" name="TextBox 4"/>
          <p:cNvSpPr txBox="1"/>
          <p:nvPr/>
        </p:nvSpPr>
        <p:spPr>
          <a:xfrm>
            <a:off x="1645920" y="1874520"/>
            <a:ext cx="8899855" cy="3474720"/>
          </a:xfrm>
          <a:prstGeom prst="rect">
            <a:avLst/>
          </a:prstGeom>
          <a:noFill/>
        </p:spPr>
        <p:txBody>
          <a:bodyPr wrap="square">
            <a:spAutoFit/>
          </a:bodyPr>
          <a:lstStyle/>
          <a:p>
            <a:pPr algn="l">
              <a:defRPr sz="2800" b="0">
                <a:solidFill>
                  <a:srgbClr val="FFFFFF"/>
                </a:solidFill>
                <a:latin typeface="Calibri"/>
              </a:defRPr>
            </a:pPr>
            <a:r>
              <a:t>Elli, what are 3 ways you want to use your phone to improve your life? Let's set up those apps together!</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82</a:t>
            </a:r>
          </a:p>
        </p:txBody>
      </p:sp>
      <p:sp>
        <p:nvSpPr>
          <p:cNvPr id="3" name="TextBox 2"/>
          <p:cNvSpPr txBox="1"/>
          <p:nvPr/>
        </p:nvSpPr>
        <p:spPr>
          <a:xfrm>
            <a:off x="914400" y="914400"/>
            <a:ext cx="10362895" cy="365760"/>
          </a:xfrm>
          <a:prstGeom prst="rect">
            <a:avLst/>
          </a:prstGeom>
          <a:noFill/>
        </p:spPr>
        <p:txBody>
          <a:bodyPr wrap="square">
            <a:spAutoFit/>
          </a:bodyPr>
          <a:lstStyle/>
          <a:p>
            <a:pPr algn="ctr">
              <a:defRPr sz="1400" b="1">
                <a:solidFill>
                  <a:srgbClr val="06B6D4"/>
                </a:solidFill>
                <a:latin typeface="Calibri"/>
              </a:defRPr>
            </a:pPr>
            <a:r>
              <a:t>MODULE 10 — FINAL</a:t>
            </a:r>
          </a:p>
        </p:txBody>
      </p:sp>
      <p:sp>
        <p:nvSpPr>
          <p:cNvPr id="4" name="TextBox 3"/>
          <p:cNvSpPr txBox="1"/>
          <p:nvPr/>
        </p:nvSpPr>
        <p:spPr>
          <a:xfrm>
            <a:off x="914400" y="1371600"/>
            <a:ext cx="10362895" cy="914400"/>
          </a:xfrm>
          <a:prstGeom prst="rect">
            <a:avLst/>
          </a:prstGeom>
          <a:noFill/>
        </p:spPr>
        <p:txBody>
          <a:bodyPr wrap="square">
            <a:spAutoFit/>
          </a:bodyPr>
          <a:lstStyle/>
          <a:p>
            <a:pPr algn="ctr">
              <a:defRPr sz="7200" b="0">
                <a:solidFill>
                  <a:srgbClr val="FFFFFF"/>
                </a:solidFill>
                <a:latin typeface="Calibri"/>
              </a:defRPr>
            </a:pPr>
            <a:r>
              <a:t>🏁</a:t>
            </a:r>
          </a:p>
        </p:txBody>
      </p:sp>
      <p:sp>
        <p:nvSpPr>
          <p:cNvPr id="5" name="TextBox 4"/>
          <p:cNvSpPr txBox="1"/>
          <p:nvPr/>
        </p:nvSpPr>
        <p:spPr>
          <a:xfrm>
            <a:off x="914400" y="2377440"/>
            <a:ext cx="10362895" cy="914400"/>
          </a:xfrm>
          <a:prstGeom prst="rect">
            <a:avLst/>
          </a:prstGeom>
          <a:noFill/>
        </p:spPr>
        <p:txBody>
          <a:bodyPr wrap="square">
            <a:spAutoFit/>
          </a:bodyPr>
          <a:lstStyle/>
          <a:p>
            <a:pPr algn="ctr">
              <a:defRPr sz="4800" b="1">
                <a:solidFill>
                  <a:srgbClr val="A855F7"/>
                </a:solidFill>
                <a:latin typeface="Calibri"/>
              </a:defRPr>
            </a:pPr>
            <a:r>
              <a:t>Family Agreement &amp; Quiz</a:t>
            </a:r>
          </a:p>
        </p:txBody>
      </p:sp>
      <p:sp>
        <p:nvSpPr>
          <p:cNvPr id="6" name="TextBox 5"/>
          <p:cNvSpPr txBox="1"/>
          <p:nvPr/>
        </p:nvSpPr>
        <p:spPr>
          <a:xfrm>
            <a:off x="1371600" y="3291840"/>
            <a:ext cx="9448495" cy="1371600"/>
          </a:xfrm>
          <a:prstGeom prst="rect">
            <a:avLst/>
          </a:prstGeom>
          <a:noFill/>
        </p:spPr>
        <p:txBody>
          <a:bodyPr wrap="square">
            <a:spAutoFit/>
          </a:bodyPr>
          <a:lstStyle/>
          <a:p>
            <a:pPr algn="ctr">
              <a:defRPr sz="2600" b="0">
                <a:solidFill>
                  <a:srgbClr val="A7A9BE"/>
                </a:solidFill>
                <a:latin typeface="Calibri"/>
              </a:defRPr>
            </a:pPr>
            <a:r>
              <a:t>Almost there, Elli! Let's review what you've learned</a:t>
            </a:r>
            <a:br/>
            <a:r>
              <a:t>and make it official.</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83</a:t>
            </a:r>
          </a:p>
        </p:txBody>
      </p:sp>
      <p:sp>
        <p:nvSpPr>
          <p:cNvPr id="3" name="TextBox 2"/>
          <p:cNvSpPr txBox="1"/>
          <p:nvPr/>
        </p:nvSpPr>
        <p:spPr>
          <a:xfrm>
            <a:off x="914400" y="365760"/>
            <a:ext cx="10362895" cy="731520"/>
          </a:xfrm>
          <a:prstGeom prst="rect">
            <a:avLst/>
          </a:prstGeom>
          <a:noFill/>
        </p:spPr>
        <p:txBody>
          <a:bodyPr wrap="square">
            <a:spAutoFit/>
          </a:bodyPr>
          <a:lstStyle/>
          <a:p>
            <a:pPr algn="ctr">
              <a:defRPr sz="5200" b="0">
                <a:solidFill>
                  <a:srgbClr val="FFFFFF"/>
                </a:solidFill>
                <a:latin typeface="Calibri"/>
              </a:defRPr>
            </a:pPr>
            <a:r>
              <a:t>🔑</a:t>
            </a:r>
          </a:p>
        </p:txBody>
      </p:sp>
      <p:sp>
        <p:nvSpPr>
          <p:cNvPr id="4" name="TextBox 3"/>
          <p:cNvSpPr txBox="1"/>
          <p:nvPr/>
        </p:nvSpPr>
        <p:spPr>
          <a:xfrm>
            <a:off x="731520" y="1097280"/>
            <a:ext cx="10728655" cy="548640"/>
          </a:xfrm>
          <a:prstGeom prst="rect">
            <a:avLst/>
          </a:prstGeom>
          <a:noFill/>
        </p:spPr>
        <p:txBody>
          <a:bodyPr wrap="square">
            <a:spAutoFit/>
          </a:bodyPr>
          <a:lstStyle/>
          <a:p>
            <a:pPr algn="ctr">
              <a:defRPr sz="3600" b="1">
                <a:solidFill>
                  <a:srgbClr val="A855F7"/>
                </a:solidFill>
                <a:latin typeface="Calibri"/>
              </a:defRPr>
            </a:pPr>
            <a:r>
              <a:t>Key Takeaways</a:t>
            </a:r>
          </a:p>
        </p:txBody>
      </p:sp>
      <p:sp>
        <p:nvSpPr>
          <p:cNvPr id="5" name="TextBox 4"/>
          <p:cNvSpPr txBox="1"/>
          <p:nvPr/>
        </p:nvSpPr>
        <p:spPr>
          <a:xfrm>
            <a:off x="1371600" y="1737360"/>
            <a:ext cx="9448495" cy="4114800"/>
          </a:xfrm>
          <a:prstGeom prst="rect">
            <a:avLst/>
          </a:prstGeom>
          <a:noFill/>
        </p:spPr>
        <p:txBody>
          <a:bodyPr wrap="square">
            <a:spAutoFit/>
          </a:bodyPr>
          <a:lstStyle/>
          <a:p>
            <a:pPr>
              <a:spcBef>
                <a:spcPts val="200"/>
              </a:spcBef>
              <a:spcAft>
                <a:spcPts val="600"/>
              </a:spcAft>
            </a:pPr>
            <a:r>
              <a:rPr sz="2600">
                <a:solidFill>
                  <a:srgbClr val="FFFFFF"/>
                </a:solidFill>
                <a:latin typeface="Calibri"/>
              </a:rPr>
              <a:t>⏰  You control your phone — set boundaries and stick to them</a:t>
            </a:r>
          </a:p>
          <a:p>
            <a:pPr>
              <a:spcBef>
                <a:spcPts val="200"/>
              </a:spcBef>
              <a:spcAft>
                <a:spcPts val="600"/>
              </a:spcAft>
            </a:pPr>
            <a:r>
              <a:rPr sz="2600">
                <a:solidFill>
                  <a:srgbClr val="FFFFFF"/>
                </a:solidFill>
                <a:latin typeface="Calibri"/>
              </a:rPr>
              <a:t>🛡️  Never share personal info with strangers online</a:t>
            </a:r>
          </a:p>
          <a:p>
            <a:pPr>
              <a:spcBef>
                <a:spcPts val="200"/>
              </a:spcBef>
              <a:spcAft>
                <a:spcPts val="600"/>
              </a:spcAft>
            </a:pPr>
            <a:r>
              <a:rPr sz="2600">
                <a:solidFill>
                  <a:srgbClr val="FFFFFF"/>
                </a:solidFill>
                <a:latin typeface="Calibri"/>
              </a:rPr>
              <a:t>🆘  If something feels wrong, tell a parent — NO EXCEPTIONS, no trouble</a:t>
            </a:r>
          </a:p>
          <a:p>
            <a:pPr>
              <a:spcBef>
                <a:spcPts val="200"/>
              </a:spcBef>
              <a:spcAft>
                <a:spcPts val="600"/>
              </a:spcAft>
            </a:pPr>
            <a:r>
              <a:rPr sz="2600">
                <a:solidFill>
                  <a:srgbClr val="FFFFFF"/>
                </a:solidFill>
                <a:latin typeface="Calibri"/>
              </a:rPr>
              <a:t>🔒  Privacy settings on, accounts private, passwords strong</a:t>
            </a:r>
          </a:p>
          <a:p>
            <a:pPr>
              <a:spcBef>
                <a:spcPts val="200"/>
              </a:spcBef>
              <a:spcAft>
                <a:spcPts val="600"/>
              </a:spcAft>
            </a:pPr>
            <a:r>
              <a:rPr sz="2600">
                <a:solidFill>
                  <a:srgbClr val="FFFFFF"/>
                </a:solidFill>
                <a:latin typeface="Calibri"/>
              </a:rPr>
              <a:t>🧠  Protect your mental health — take breaks when you need them</a:t>
            </a:r>
          </a:p>
          <a:p>
            <a:pPr>
              <a:spcBef>
                <a:spcPts val="200"/>
              </a:spcBef>
              <a:spcAft>
                <a:spcPts val="600"/>
              </a:spcAft>
            </a:pPr>
            <a:r>
              <a:rPr sz="2600">
                <a:solidFill>
                  <a:srgbClr val="FFFFFF"/>
                </a:solidFill>
                <a:latin typeface="Calibri"/>
              </a:rPr>
              <a:t>🤖  AI is a tool, not a substitute for your own thinking</a:t>
            </a:r>
          </a:p>
          <a:p>
            <a:pPr>
              <a:spcBef>
                <a:spcPts val="200"/>
              </a:spcBef>
              <a:spcAft>
                <a:spcPts val="600"/>
              </a:spcAft>
            </a:pPr>
            <a:r>
              <a:rPr sz="2600">
                <a:solidFill>
                  <a:srgbClr val="FFFFFF"/>
                </a:solidFill>
                <a:latin typeface="Calibri"/>
              </a:rPr>
              <a:t>📊  The algorithm is designed to manipulate you — especially TikTok's</a:t>
            </a:r>
          </a:p>
          <a:p>
            <a:pPr>
              <a:spcBef>
                <a:spcPts val="200"/>
              </a:spcBef>
              <a:spcAft>
                <a:spcPts val="600"/>
              </a:spcAft>
            </a:pPr>
            <a:r>
              <a:rPr sz="2600">
                <a:solidFill>
                  <a:srgbClr val="FFFFFF"/>
                </a:solidFill>
                <a:latin typeface="Calibri"/>
              </a:rPr>
              <a:t>📱  Social media: private accounts, grandma test, think before you post</a:t>
            </a:r>
          </a:p>
          <a:p>
            <a:pPr>
              <a:spcBef>
                <a:spcPts val="200"/>
              </a:spcBef>
              <a:spcAft>
                <a:spcPts val="600"/>
              </a:spcAft>
            </a:pPr>
            <a:r>
              <a:rPr sz="2600">
                <a:solidFill>
                  <a:srgbClr val="FFFFFF"/>
                </a:solidFill>
                <a:latin typeface="Calibri"/>
              </a:rPr>
              <a:t>🔞  If you see explicit content, close it and tell a parent</a:t>
            </a:r>
          </a:p>
          <a:p>
            <a:pPr>
              <a:spcBef>
                <a:spcPts val="200"/>
              </a:spcBef>
              <a:spcAft>
                <a:spcPts val="600"/>
              </a:spcAft>
            </a:pPr>
            <a:r>
              <a:rPr sz="2600">
                <a:solidFill>
                  <a:srgbClr val="FFFFFF"/>
                </a:solidFill>
                <a:latin typeface="Calibri"/>
              </a:rPr>
              <a:t>💚  Use your phone to connect, learn, create, and grow</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84</a:t>
            </a:r>
          </a:p>
        </p:txBody>
      </p:sp>
      <p:sp>
        <p:nvSpPr>
          <p:cNvPr id="3" name="TextBox 2"/>
          <p:cNvSpPr txBox="1"/>
          <p:nvPr/>
        </p:nvSpPr>
        <p:spPr>
          <a:xfrm>
            <a:off x="731520" y="274320"/>
            <a:ext cx="10728655" cy="548640"/>
          </a:xfrm>
          <a:prstGeom prst="rect">
            <a:avLst/>
          </a:prstGeom>
          <a:noFill/>
        </p:spPr>
        <p:txBody>
          <a:bodyPr wrap="square">
            <a:spAutoFit/>
          </a:bodyPr>
          <a:lstStyle/>
          <a:p>
            <a:pPr algn="ctr">
              <a:defRPr sz="3400" b="1">
                <a:solidFill>
                  <a:srgbClr val="A855F7"/>
                </a:solidFill>
                <a:latin typeface="Calibri"/>
              </a:defRPr>
            </a:pPr>
            <a:r>
              <a:t>📝 Quiz — Part 1</a:t>
            </a:r>
          </a:p>
        </p:txBody>
      </p:sp>
      <p:sp>
        <p:nvSpPr>
          <p:cNvPr id="4" name="TextBox 3"/>
          <p:cNvSpPr txBox="1"/>
          <p:nvPr/>
        </p:nvSpPr>
        <p:spPr>
          <a:xfrm>
            <a:off x="1097280" y="914400"/>
            <a:ext cx="9966960" cy="457200"/>
          </a:xfrm>
          <a:prstGeom prst="rect">
            <a:avLst/>
          </a:prstGeom>
          <a:noFill/>
        </p:spPr>
        <p:txBody>
          <a:bodyPr wrap="square">
            <a:spAutoFit/>
          </a:bodyPr>
          <a:lstStyle/>
          <a:p>
            <a:pPr algn="l">
              <a:defRPr sz="2600" b="1">
                <a:solidFill>
                  <a:srgbClr val="FFFFFF"/>
                </a:solidFill>
                <a:latin typeface="Calibri"/>
              </a:defRPr>
            </a:pPr>
            <a:r>
              <a:t>Someone online says 'You're so mature for your age' and asks you to keep the friendship secret. What do you do?</a:t>
            </a:r>
          </a:p>
        </p:txBody>
      </p:sp>
      <p:sp>
        <p:nvSpPr>
          <p:cNvPr id="5" name="TextBox 4"/>
          <p:cNvSpPr txBox="1"/>
          <p:nvPr/>
        </p:nvSpPr>
        <p:spPr>
          <a:xfrm>
            <a:off x="1463040" y="1325880"/>
            <a:ext cx="9601200" cy="274320"/>
          </a:xfrm>
          <a:prstGeom prst="rect">
            <a:avLst/>
          </a:prstGeom>
          <a:noFill/>
        </p:spPr>
        <p:txBody>
          <a:bodyPr wrap="square">
            <a:spAutoFit/>
          </a:bodyPr>
          <a:lstStyle/>
          <a:p>
            <a:pPr algn="l">
              <a:defRPr sz="1600" b="0">
                <a:solidFill>
                  <a:srgbClr val="A7A9BE"/>
                </a:solidFill>
                <a:latin typeface="Calibri"/>
              </a:defRPr>
            </a:pPr>
            <a:r>
              <a:t>○ Keep the secret — they seem nice</a:t>
            </a:r>
          </a:p>
        </p:txBody>
      </p:sp>
      <p:sp>
        <p:nvSpPr>
          <p:cNvPr id="6" name="TextBox 5"/>
          <p:cNvSpPr txBox="1"/>
          <p:nvPr/>
        </p:nvSpPr>
        <p:spPr>
          <a:xfrm>
            <a:off x="1463040" y="1581912"/>
            <a:ext cx="9601200" cy="274320"/>
          </a:xfrm>
          <a:prstGeom prst="rect">
            <a:avLst/>
          </a:prstGeom>
          <a:noFill/>
        </p:spPr>
        <p:txBody>
          <a:bodyPr wrap="square">
            <a:spAutoFit/>
          </a:bodyPr>
          <a:lstStyle/>
          <a:p>
            <a:pPr algn="l">
              <a:defRPr sz="1600" b="0">
                <a:solidFill>
                  <a:srgbClr val="2CB67D"/>
                </a:solidFill>
                <a:latin typeface="Calibri"/>
              </a:defRPr>
            </a:pPr>
            <a:r>
              <a:t>✅ Tell a parent immediately</a:t>
            </a:r>
          </a:p>
        </p:txBody>
      </p:sp>
      <p:sp>
        <p:nvSpPr>
          <p:cNvPr id="7" name="TextBox 6"/>
          <p:cNvSpPr txBox="1"/>
          <p:nvPr/>
        </p:nvSpPr>
        <p:spPr>
          <a:xfrm>
            <a:off x="1463040" y="1837944"/>
            <a:ext cx="9601200" cy="274320"/>
          </a:xfrm>
          <a:prstGeom prst="rect">
            <a:avLst/>
          </a:prstGeom>
          <a:noFill/>
        </p:spPr>
        <p:txBody>
          <a:bodyPr wrap="square">
            <a:spAutoFit/>
          </a:bodyPr>
          <a:lstStyle/>
          <a:p>
            <a:pPr algn="l">
              <a:defRPr sz="1600" b="0">
                <a:solidFill>
                  <a:srgbClr val="A7A9BE"/>
                </a:solidFill>
                <a:latin typeface="Calibri"/>
              </a:defRPr>
            </a:pPr>
            <a:r>
              <a:t>○ Ask a friend for advice</a:t>
            </a:r>
          </a:p>
        </p:txBody>
      </p:sp>
      <p:sp>
        <p:nvSpPr>
          <p:cNvPr id="8" name="TextBox 7"/>
          <p:cNvSpPr txBox="1"/>
          <p:nvPr/>
        </p:nvSpPr>
        <p:spPr>
          <a:xfrm>
            <a:off x="1463040" y="2093976"/>
            <a:ext cx="9601200" cy="274320"/>
          </a:xfrm>
          <a:prstGeom prst="rect">
            <a:avLst/>
          </a:prstGeom>
          <a:noFill/>
        </p:spPr>
        <p:txBody>
          <a:bodyPr wrap="square">
            <a:spAutoFit/>
          </a:bodyPr>
          <a:lstStyle/>
          <a:p>
            <a:pPr algn="l">
              <a:defRPr sz="1600" b="0">
                <a:solidFill>
                  <a:srgbClr val="A7A9BE"/>
                </a:solidFill>
                <a:latin typeface="Calibri"/>
              </a:defRPr>
            </a:pPr>
            <a:r>
              <a:t>○ Block them and forget about it</a:t>
            </a:r>
          </a:p>
        </p:txBody>
      </p:sp>
      <p:sp>
        <p:nvSpPr>
          <p:cNvPr id="9" name="TextBox 8"/>
          <p:cNvSpPr txBox="1"/>
          <p:nvPr/>
        </p:nvSpPr>
        <p:spPr>
          <a:xfrm>
            <a:off x="1097280" y="2487168"/>
            <a:ext cx="9966960" cy="457200"/>
          </a:xfrm>
          <a:prstGeom prst="rect">
            <a:avLst/>
          </a:prstGeom>
          <a:noFill/>
        </p:spPr>
        <p:txBody>
          <a:bodyPr wrap="square">
            <a:spAutoFit/>
          </a:bodyPr>
          <a:lstStyle/>
          <a:p>
            <a:pPr algn="l">
              <a:defRPr sz="2600" b="1">
                <a:solidFill>
                  <a:srgbClr val="FFFFFF"/>
                </a:solidFill>
                <a:latin typeface="Calibri"/>
              </a:defRPr>
            </a:pPr>
            <a:r>
              <a:t>What should ALL your social media accounts be set to?</a:t>
            </a:r>
          </a:p>
        </p:txBody>
      </p:sp>
      <p:sp>
        <p:nvSpPr>
          <p:cNvPr id="10" name="TextBox 9"/>
          <p:cNvSpPr txBox="1"/>
          <p:nvPr/>
        </p:nvSpPr>
        <p:spPr>
          <a:xfrm>
            <a:off x="1463040" y="2898648"/>
            <a:ext cx="9601200" cy="274320"/>
          </a:xfrm>
          <a:prstGeom prst="rect">
            <a:avLst/>
          </a:prstGeom>
          <a:noFill/>
        </p:spPr>
        <p:txBody>
          <a:bodyPr wrap="square">
            <a:spAutoFit/>
          </a:bodyPr>
          <a:lstStyle/>
          <a:p>
            <a:pPr algn="l">
              <a:defRPr sz="1600" b="0">
                <a:solidFill>
                  <a:srgbClr val="A7A9BE"/>
                </a:solidFill>
                <a:latin typeface="Calibri"/>
              </a:defRPr>
            </a:pPr>
            <a:r>
              <a:t>○ Public — more followers</a:t>
            </a:r>
          </a:p>
        </p:txBody>
      </p:sp>
      <p:sp>
        <p:nvSpPr>
          <p:cNvPr id="11" name="TextBox 10"/>
          <p:cNvSpPr txBox="1"/>
          <p:nvPr/>
        </p:nvSpPr>
        <p:spPr>
          <a:xfrm>
            <a:off x="1463040" y="3154680"/>
            <a:ext cx="9601200" cy="274320"/>
          </a:xfrm>
          <a:prstGeom prst="rect">
            <a:avLst/>
          </a:prstGeom>
          <a:noFill/>
        </p:spPr>
        <p:txBody>
          <a:bodyPr wrap="square">
            <a:spAutoFit/>
          </a:bodyPr>
          <a:lstStyle/>
          <a:p>
            <a:pPr algn="l">
              <a:defRPr sz="1600" b="0">
                <a:solidFill>
                  <a:srgbClr val="2CB67D"/>
                </a:solidFill>
                <a:latin typeface="Calibri"/>
              </a:defRPr>
            </a:pPr>
            <a:r>
              <a:t>✅ Private</a:t>
            </a:r>
          </a:p>
        </p:txBody>
      </p:sp>
      <p:sp>
        <p:nvSpPr>
          <p:cNvPr id="12" name="TextBox 11"/>
          <p:cNvSpPr txBox="1"/>
          <p:nvPr/>
        </p:nvSpPr>
        <p:spPr>
          <a:xfrm>
            <a:off x="1463040" y="3410712"/>
            <a:ext cx="9601200" cy="274320"/>
          </a:xfrm>
          <a:prstGeom prst="rect">
            <a:avLst/>
          </a:prstGeom>
          <a:noFill/>
        </p:spPr>
        <p:txBody>
          <a:bodyPr wrap="square">
            <a:spAutoFit/>
          </a:bodyPr>
          <a:lstStyle/>
          <a:p>
            <a:pPr algn="l">
              <a:defRPr sz="1600" b="0">
                <a:solidFill>
                  <a:srgbClr val="A7A9BE"/>
                </a:solidFill>
                <a:latin typeface="Calibri"/>
              </a:defRPr>
            </a:pPr>
            <a:r>
              <a:t>○ It doesn't matter</a:t>
            </a:r>
          </a:p>
        </p:txBody>
      </p:sp>
      <p:sp>
        <p:nvSpPr>
          <p:cNvPr id="13" name="TextBox 12"/>
          <p:cNvSpPr txBox="1"/>
          <p:nvPr/>
        </p:nvSpPr>
        <p:spPr>
          <a:xfrm>
            <a:off x="1463040" y="3666744"/>
            <a:ext cx="9601200" cy="274320"/>
          </a:xfrm>
          <a:prstGeom prst="rect">
            <a:avLst/>
          </a:prstGeom>
          <a:noFill/>
        </p:spPr>
        <p:txBody>
          <a:bodyPr wrap="square">
            <a:spAutoFit/>
          </a:bodyPr>
          <a:lstStyle/>
          <a:p>
            <a:pPr algn="l">
              <a:defRPr sz="1600" b="0">
                <a:solidFill>
                  <a:srgbClr val="A7A9BE"/>
                </a:solidFill>
                <a:latin typeface="Calibri"/>
              </a:defRPr>
            </a:pPr>
            <a:r>
              <a:t>○ Whatever friends use</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85</a:t>
            </a:r>
          </a:p>
        </p:txBody>
      </p:sp>
      <p:sp>
        <p:nvSpPr>
          <p:cNvPr id="3" name="TextBox 2"/>
          <p:cNvSpPr txBox="1"/>
          <p:nvPr/>
        </p:nvSpPr>
        <p:spPr>
          <a:xfrm>
            <a:off x="731520" y="274320"/>
            <a:ext cx="10728655" cy="548640"/>
          </a:xfrm>
          <a:prstGeom prst="rect">
            <a:avLst/>
          </a:prstGeom>
          <a:noFill/>
        </p:spPr>
        <p:txBody>
          <a:bodyPr wrap="square">
            <a:spAutoFit/>
          </a:bodyPr>
          <a:lstStyle/>
          <a:p>
            <a:pPr algn="ctr">
              <a:defRPr sz="3400" b="1">
                <a:solidFill>
                  <a:srgbClr val="A855F7"/>
                </a:solidFill>
                <a:latin typeface="Calibri"/>
              </a:defRPr>
            </a:pPr>
            <a:r>
              <a:t>📝 Quiz — Part 2</a:t>
            </a:r>
          </a:p>
        </p:txBody>
      </p:sp>
      <p:sp>
        <p:nvSpPr>
          <p:cNvPr id="4" name="TextBox 3"/>
          <p:cNvSpPr txBox="1"/>
          <p:nvPr/>
        </p:nvSpPr>
        <p:spPr>
          <a:xfrm>
            <a:off x="1097280" y="914400"/>
            <a:ext cx="9966960" cy="457200"/>
          </a:xfrm>
          <a:prstGeom prst="rect">
            <a:avLst/>
          </a:prstGeom>
          <a:noFill/>
        </p:spPr>
        <p:txBody>
          <a:bodyPr wrap="square">
            <a:spAutoFit/>
          </a:bodyPr>
          <a:lstStyle/>
          <a:p>
            <a:pPr algn="l">
              <a:defRPr sz="2600" b="1">
                <a:solidFill>
                  <a:srgbClr val="FFFFFF"/>
                </a:solidFill>
                <a:latin typeface="Calibri"/>
              </a:defRPr>
            </a:pPr>
            <a:r>
              <a:t>A text says your Snapchat will be deleted unless you click a link. What do you do?</a:t>
            </a:r>
          </a:p>
        </p:txBody>
      </p:sp>
      <p:sp>
        <p:nvSpPr>
          <p:cNvPr id="5" name="TextBox 4"/>
          <p:cNvSpPr txBox="1"/>
          <p:nvPr/>
        </p:nvSpPr>
        <p:spPr>
          <a:xfrm>
            <a:off x="1463040" y="1325880"/>
            <a:ext cx="9601200" cy="274320"/>
          </a:xfrm>
          <a:prstGeom prst="rect">
            <a:avLst/>
          </a:prstGeom>
          <a:noFill/>
        </p:spPr>
        <p:txBody>
          <a:bodyPr wrap="square">
            <a:spAutoFit/>
          </a:bodyPr>
          <a:lstStyle/>
          <a:p>
            <a:pPr algn="l">
              <a:defRPr sz="1600" b="0">
                <a:solidFill>
                  <a:srgbClr val="A7A9BE"/>
                </a:solidFill>
                <a:latin typeface="Calibri"/>
              </a:defRPr>
            </a:pPr>
            <a:r>
              <a:t>○ Click the link quickly</a:t>
            </a:r>
          </a:p>
        </p:txBody>
      </p:sp>
      <p:sp>
        <p:nvSpPr>
          <p:cNvPr id="6" name="TextBox 5"/>
          <p:cNvSpPr txBox="1"/>
          <p:nvPr/>
        </p:nvSpPr>
        <p:spPr>
          <a:xfrm>
            <a:off x="1463040" y="1581912"/>
            <a:ext cx="9601200" cy="274320"/>
          </a:xfrm>
          <a:prstGeom prst="rect">
            <a:avLst/>
          </a:prstGeom>
          <a:noFill/>
        </p:spPr>
        <p:txBody>
          <a:bodyPr wrap="square">
            <a:spAutoFit/>
          </a:bodyPr>
          <a:lstStyle/>
          <a:p>
            <a:pPr algn="l">
              <a:defRPr sz="1600" b="0">
                <a:solidFill>
                  <a:srgbClr val="A7A9BE"/>
                </a:solidFill>
                <a:latin typeface="Calibri"/>
              </a:defRPr>
            </a:pPr>
            <a:r>
              <a:t>○ Forward it to friends</a:t>
            </a:r>
          </a:p>
        </p:txBody>
      </p:sp>
      <p:sp>
        <p:nvSpPr>
          <p:cNvPr id="7" name="TextBox 6"/>
          <p:cNvSpPr txBox="1"/>
          <p:nvPr/>
        </p:nvSpPr>
        <p:spPr>
          <a:xfrm>
            <a:off x="1463040" y="1837944"/>
            <a:ext cx="9601200" cy="274320"/>
          </a:xfrm>
          <a:prstGeom prst="rect">
            <a:avLst/>
          </a:prstGeom>
          <a:noFill/>
        </p:spPr>
        <p:txBody>
          <a:bodyPr wrap="square">
            <a:spAutoFit/>
          </a:bodyPr>
          <a:lstStyle/>
          <a:p>
            <a:pPr algn="l">
              <a:defRPr sz="1600" b="0">
                <a:solidFill>
                  <a:srgbClr val="2CB67D"/>
                </a:solidFill>
                <a:latin typeface="Calibri"/>
              </a:defRPr>
            </a:pPr>
            <a:r>
              <a:t>✅ Ignore it — it's a phishing scam</a:t>
            </a:r>
          </a:p>
        </p:txBody>
      </p:sp>
      <p:sp>
        <p:nvSpPr>
          <p:cNvPr id="8" name="TextBox 7"/>
          <p:cNvSpPr txBox="1"/>
          <p:nvPr/>
        </p:nvSpPr>
        <p:spPr>
          <a:xfrm>
            <a:off x="1463040" y="2093976"/>
            <a:ext cx="9601200" cy="274320"/>
          </a:xfrm>
          <a:prstGeom prst="rect">
            <a:avLst/>
          </a:prstGeom>
          <a:noFill/>
        </p:spPr>
        <p:txBody>
          <a:bodyPr wrap="square">
            <a:spAutoFit/>
          </a:bodyPr>
          <a:lstStyle/>
          <a:p>
            <a:pPr algn="l">
              <a:defRPr sz="1600" b="0">
                <a:solidFill>
                  <a:srgbClr val="A7A9BE"/>
                </a:solidFill>
                <a:latin typeface="Calibri"/>
              </a:defRPr>
            </a:pPr>
            <a:r>
              <a:t>○ Reply asking for info</a:t>
            </a:r>
          </a:p>
        </p:txBody>
      </p:sp>
      <p:sp>
        <p:nvSpPr>
          <p:cNvPr id="9" name="TextBox 8"/>
          <p:cNvSpPr txBox="1"/>
          <p:nvPr/>
        </p:nvSpPr>
        <p:spPr>
          <a:xfrm>
            <a:off x="1097280" y="2487168"/>
            <a:ext cx="9966960" cy="457200"/>
          </a:xfrm>
          <a:prstGeom prst="rect">
            <a:avLst/>
          </a:prstGeom>
          <a:noFill/>
        </p:spPr>
        <p:txBody>
          <a:bodyPr wrap="square">
            <a:spAutoFit/>
          </a:bodyPr>
          <a:lstStyle/>
          <a:p>
            <a:pPr algn="l">
              <a:defRPr sz="2600" b="1">
                <a:solidFill>
                  <a:srgbClr val="FFFFFF"/>
                </a:solidFill>
                <a:latin typeface="Calibri"/>
              </a:defRPr>
            </a:pPr>
            <a:r>
              <a:t>What's the 'Grandma Test'?</a:t>
            </a:r>
          </a:p>
        </p:txBody>
      </p:sp>
      <p:sp>
        <p:nvSpPr>
          <p:cNvPr id="10" name="TextBox 9"/>
          <p:cNvSpPr txBox="1"/>
          <p:nvPr/>
        </p:nvSpPr>
        <p:spPr>
          <a:xfrm>
            <a:off x="1463040" y="2898648"/>
            <a:ext cx="9601200" cy="274320"/>
          </a:xfrm>
          <a:prstGeom prst="rect">
            <a:avLst/>
          </a:prstGeom>
          <a:noFill/>
        </p:spPr>
        <p:txBody>
          <a:bodyPr wrap="square">
            <a:spAutoFit/>
          </a:bodyPr>
          <a:lstStyle/>
          <a:p>
            <a:pPr algn="l">
              <a:defRPr sz="1600" b="0">
                <a:solidFill>
                  <a:srgbClr val="A7A9BE"/>
                </a:solidFill>
                <a:latin typeface="Calibri"/>
              </a:defRPr>
            </a:pPr>
            <a:r>
              <a:t>○ Asking grandma to check your phone</a:t>
            </a:r>
          </a:p>
        </p:txBody>
      </p:sp>
      <p:sp>
        <p:nvSpPr>
          <p:cNvPr id="11" name="TextBox 10"/>
          <p:cNvSpPr txBox="1"/>
          <p:nvPr/>
        </p:nvSpPr>
        <p:spPr>
          <a:xfrm>
            <a:off x="1463040" y="3154680"/>
            <a:ext cx="9601200" cy="274320"/>
          </a:xfrm>
          <a:prstGeom prst="rect">
            <a:avLst/>
          </a:prstGeom>
          <a:noFill/>
        </p:spPr>
        <p:txBody>
          <a:bodyPr wrap="square">
            <a:spAutoFit/>
          </a:bodyPr>
          <a:lstStyle/>
          <a:p>
            <a:pPr algn="l">
              <a:defRPr sz="1600" b="0">
                <a:solidFill>
                  <a:srgbClr val="2CB67D"/>
                </a:solidFill>
                <a:latin typeface="Calibri"/>
              </a:defRPr>
            </a:pPr>
            <a:r>
              <a:t>✅ Only posting things you'd show grandma</a:t>
            </a:r>
          </a:p>
        </p:txBody>
      </p:sp>
      <p:sp>
        <p:nvSpPr>
          <p:cNvPr id="12" name="TextBox 11"/>
          <p:cNvSpPr txBox="1"/>
          <p:nvPr/>
        </p:nvSpPr>
        <p:spPr>
          <a:xfrm>
            <a:off x="1463040" y="3410712"/>
            <a:ext cx="9601200" cy="274320"/>
          </a:xfrm>
          <a:prstGeom prst="rect">
            <a:avLst/>
          </a:prstGeom>
          <a:noFill/>
        </p:spPr>
        <p:txBody>
          <a:bodyPr wrap="square">
            <a:spAutoFit/>
          </a:bodyPr>
          <a:lstStyle/>
          <a:p>
            <a:pPr algn="l">
              <a:defRPr sz="1600" b="0">
                <a:solidFill>
                  <a:srgbClr val="A7A9BE"/>
                </a:solidFill>
                <a:latin typeface="Calibri"/>
              </a:defRPr>
            </a:pPr>
            <a:r>
              <a:t>○ A TikTok trend</a:t>
            </a:r>
          </a:p>
        </p:txBody>
      </p:sp>
      <p:sp>
        <p:nvSpPr>
          <p:cNvPr id="13" name="TextBox 12"/>
          <p:cNvSpPr txBox="1"/>
          <p:nvPr/>
        </p:nvSpPr>
        <p:spPr>
          <a:xfrm>
            <a:off x="1463040" y="3666744"/>
            <a:ext cx="9601200" cy="274320"/>
          </a:xfrm>
          <a:prstGeom prst="rect">
            <a:avLst/>
          </a:prstGeom>
          <a:noFill/>
        </p:spPr>
        <p:txBody>
          <a:bodyPr wrap="square">
            <a:spAutoFit/>
          </a:bodyPr>
          <a:lstStyle/>
          <a:p>
            <a:pPr algn="l">
              <a:defRPr sz="1600" b="0">
                <a:solidFill>
                  <a:srgbClr val="A7A9BE"/>
                </a:solidFill>
                <a:latin typeface="Calibri"/>
              </a:defRPr>
            </a:pPr>
            <a:r>
              <a:t>○ A phone setting</a:t>
            </a:r>
          </a:p>
        </p:txBody>
      </p:sp>
      <p:sp>
        <p:nvSpPr>
          <p:cNvPr id="14" name="TextBox 13"/>
          <p:cNvSpPr txBox="1"/>
          <p:nvPr/>
        </p:nvSpPr>
        <p:spPr>
          <a:xfrm>
            <a:off x="1097280" y="4059936"/>
            <a:ext cx="9966960" cy="457200"/>
          </a:xfrm>
          <a:prstGeom prst="rect">
            <a:avLst/>
          </a:prstGeom>
          <a:noFill/>
        </p:spPr>
        <p:txBody>
          <a:bodyPr wrap="square">
            <a:spAutoFit/>
          </a:bodyPr>
          <a:lstStyle/>
          <a:p>
            <a:pPr algn="l">
              <a:defRPr sz="2600" b="1">
                <a:solidFill>
                  <a:srgbClr val="FFFFFF"/>
                </a:solidFill>
                <a:latin typeface="Calibri"/>
              </a:defRPr>
            </a:pPr>
            <a:r>
              <a:t>Why can't you stop scrolling TikTok?</a:t>
            </a:r>
          </a:p>
        </p:txBody>
      </p:sp>
      <p:sp>
        <p:nvSpPr>
          <p:cNvPr id="15" name="TextBox 14"/>
          <p:cNvSpPr txBox="1"/>
          <p:nvPr/>
        </p:nvSpPr>
        <p:spPr>
          <a:xfrm>
            <a:off x="1463040" y="4471416"/>
            <a:ext cx="9601200" cy="274320"/>
          </a:xfrm>
          <a:prstGeom prst="rect">
            <a:avLst/>
          </a:prstGeom>
          <a:noFill/>
        </p:spPr>
        <p:txBody>
          <a:bodyPr wrap="square">
            <a:spAutoFit/>
          </a:bodyPr>
          <a:lstStyle/>
          <a:p>
            <a:pPr algn="l">
              <a:defRPr sz="1600" b="0">
                <a:solidFill>
                  <a:srgbClr val="A7A9BE"/>
                </a:solidFill>
                <a:latin typeface="Calibri"/>
              </a:defRPr>
            </a:pPr>
            <a:r>
              <a:t>○ Content is just that good</a:t>
            </a:r>
          </a:p>
        </p:txBody>
      </p:sp>
      <p:sp>
        <p:nvSpPr>
          <p:cNvPr id="16" name="TextBox 15"/>
          <p:cNvSpPr txBox="1"/>
          <p:nvPr/>
        </p:nvSpPr>
        <p:spPr>
          <a:xfrm>
            <a:off x="1463040" y="4727448"/>
            <a:ext cx="9601200" cy="274320"/>
          </a:xfrm>
          <a:prstGeom prst="rect">
            <a:avLst/>
          </a:prstGeom>
          <a:noFill/>
        </p:spPr>
        <p:txBody>
          <a:bodyPr wrap="square">
            <a:spAutoFit/>
          </a:bodyPr>
          <a:lstStyle/>
          <a:p>
            <a:pPr algn="l">
              <a:defRPr sz="1600" b="0">
                <a:solidFill>
                  <a:srgbClr val="2CB67D"/>
                </a:solidFill>
                <a:latin typeface="Calibri"/>
              </a:defRPr>
            </a:pPr>
            <a:r>
              <a:t>✅ Dopamine loop — apps are designed to be addictive</a:t>
            </a:r>
          </a:p>
        </p:txBody>
      </p:sp>
      <p:sp>
        <p:nvSpPr>
          <p:cNvPr id="17" name="TextBox 16"/>
          <p:cNvSpPr txBox="1"/>
          <p:nvPr/>
        </p:nvSpPr>
        <p:spPr>
          <a:xfrm>
            <a:off x="1463040" y="4983480"/>
            <a:ext cx="9601200" cy="274320"/>
          </a:xfrm>
          <a:prstGeom prst="rect">
            <a:avLst/>
          </a:prstGeom>
          <a:noFill/>
        </p:spPr>
        <p:txBody>
          <a:bodyPr wrap="square">
            <a:spAutoFit/>
          </a:bodyPr>
          <a:lstStyle/>
          <a:p>
            <a:pPr algn="l">
              <a:defRPr sz="1600" b="0">
                <a:solidFill>
                  <a:srgbClr val="A7A9BE"/>
                </a:solidFill>
                <a:latin typeface="Calibri"/>
              </a:defRPr>
            </a:pPr>
            <a:r>
              <a:t>○ Nothing better to do</a:t>
            </a:r>
          </a:p>
        </p:txBody>
      </p:sp>
      <p:sp>
        <p:nvSpPr>
          <p:cNvPr id="18" name="TextBox 17"/>
          <p:cNvSpPr txBox="1"/>
          <p:nvPr/>
        </p:nvSpPr>
        <p:spPr>
          <a:xfrm>
            <a:off x="1463040" y="5239512"/>
            <a:ext cx="9601200" cy="274320"/>
          </a:xfrm>
          <a:prstGeom prst="rect">
            <a:avLst/>
          </a:prstGeom>
          <a:noFill/>
        </p:spPr>
        <p:txBody>
          <a:bodyPr wrap="square">
            <a:spAutoFit/>
          </a:bodyPr>
          <a:lstStyle/>
          <a:p>
            <a:pPr algn="l">
              <a:defRPr sz="1600" b="0">
                <a:solidFill>
                  <a:srgbClr val="A7A9BE"/>
                </a:solidFill>
                <a:latin typeface="Calibri"/>
              </a:defRPr>
            </a:pPr>
            <a:r>
              <a:t>○ Phone is broken</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86</a:t>
            </a:r>
          </a:p>
        </p:txBody>
      </p:sp>
      <p:sp>
        <p:nvSpPr>
          <p:cNvPr id="3" name="TextBox 2"/>
          <p:cNvSpPr txBox="1"/>
          <p:nvPr/>
        </p:nvSpPr>
        <p:spPr>
          <a:xfrm>
            <a:off x="731520" y="274320"/>
            <a:ext cx="10728655" cy="548640"/>
          </a:xfrm>
          <a:prstGeom prst="rect">
            <a:avLst/>
          </a:prstGeom>
          <a:noFill/>
        </p:spPr>
        <p:txBody>
          <a:bodyPr wrap="square">
            <a:spAutoFit/>
          </a:bodyPr>
          <a:lstStyle/>
          <a:p>
            <a:pPr algn="ctr">
              <a:defRPr sz="3400" b="1">
                <a:solidFill>
                  <a:srgbClr val="A855F7"/>
                </a:solidFill>
                <a:latin typeface="Calibri"/>
              </a:defRPr>
            </a:pPr>
            <a:r>
              <a:t>📝 Quiz — Part 3</a:t>
            </a:r>
          </a:p>
        </p:txBody>
      </p:sp>
      <p:sp>
        <p:nvSpPr>
          <p:cNvPr id="4" name="TextBox 3"/>
          <p:cNvSpPr txBox="1"/>
          <p:nvPr/>
        </p:nvSpPr>
        <p:spPr>
          <a:xfrm>
            <a:off x="1097280" y="914400"/>
            <a:ext cx="9966960" cy="457200"/>
          </a:xfrm>
          <a:prstGeom prst="rect">
            <a:avLst/>
          </a:prstGeom>
          <a:noFill/>
        </p:spPr>
        <p:txBody>
          <a:bodyPr wrap="square">
            <a:spAutoFit/>
          </a:bodyPr>
          <a:lstStyle/>
          <a:p>
            <a:pPr algn="l">
              <a:defRPr sz="2600" b="1">
                <a:solidFill>
                  <a:srgbClr val="FFFFFF"/>
                </a:solidFill>
                <a:latin typeface="Calibri"/>
              </a:defRPr>
            </a:pPr>
            <a:r>
              <a:t>AI-generated homework answers are:</a:t>
            </a:r>
          </a:p>
        </p:txBody>
      </p:sp>
      <p:sp>
        <p:nvSpPr>
          <p:cNvPr id="5" name="TextBox 4"/>
          <p:cNvSpPr txBox="1"/>
          <p:nvPr/>
        </p:nvSpPr>
        <p:spPr>
          <a:xfrm>
            <a:off x="1463040" y="1325880"/>
            <a:ext cx="9601200" cy="274320"/>
          </a:xfrm>
          <a:prstGeom prst="rect">
            <a:avLst/>
          </a:prstGeom>
          <a:noFill/>
        </p:spPr>
        <p:txBody>
          <a:bodyPr wrap="square">
            <a:spAutoFit/>
          </a:bodyPr>
          <a:lstStyle/>
          <a:p>
            <a:pPr algn="l">
              <a:defRPr sz="1600" b="0">
                <a:solidFill>
                  <a:srgbClr val="A7A9BE"/>
                </a:solidFill>
                <a:latin typeface="Calibri"/>
              </a:defRPr>
            </a:pPr>
            <a:r>
              <a:t>○ A great shortcut</a:t>
            </a:r>
          </a:p>
        </p:txBody>
      </p:sp>
      <p:sp>
        <p:nvSpPr>
          <p:cNvPr id="6" name="TextBox 5"/>
          <p:cNvSpPr txBox="1"/>
          <p:nvPr/>
        </p:nvSpPr>
        <p:spPr>
          <a:xfrm>
            <a:off x="1463040" y="1581912"/>
            <a:ext cx="9601200" cy="274320"/>
          </a:xfrm>
          <a:prstGeom prst="rect">
            <a:avLst/>
          </a:prstGeom>
          <a:noFill/>
        </p:spPr>
        <p:txBody>
          <a:bodyPr wrap="square">
            <a:spAutoFit/>
          </a:bodyPr>
          <a:lstStyle/>
          <a:p>
            <a:pPr algn="l">
              <a:defRPr sz="1600" b="0">
                <a:solidFill>
                  <a:srgbClr val="2CB67D"/>
                </a:solidFill>
                <a:latin typeface="Calibri"/>
              </a:defRPr>
            </a:pPr>
            <a:r>
              <a:t>✅ Plagiarism if submitted as your own</a:t>
            </a:r>
          </a:p>
        </p:txBody>
      </p:sp>
      <p:sp>
        <p:nvSpPr>
          <p:cNvPr id="7" name="TextBox 6"/>
          <p:cNvSpPr txBox="1"/>
          <p:nvPr/>
        </p:nvSpPr>
        <p:spPr>
          <a:xfrm>
            <a:off x="1463040" y="1837944"/>
            <a:ext cx="9601200" cy="274320"/>
          </a:xfrm>
          <a:prstGeom prst="rect">
            <a:avLst/>
          </a:prstGeom>
          <a:noFill/>
        </p:spPr>
        <p:txBody>
          <a:bodyPr wrap="square">
            <a:spAutoFit/>
          </a:bodyPr>
          <a:lstStyle/>
          <a:p>
            <a:pPr algn="l">
              <a:defRPr sz="1600" b="0">
                <a:solidFill>
                  <a:srgbClr val="A7A9BE"/>
                </a:solidFill>
                <a:latin typeface="Calibri"/>
              </a:defRPr>
            </a:pPr>
            <a:r>
              <a:t>○ Always accurate</a:t>
            </a:r>
          </a:p>
        </p:txBody>
      </p:sp>
      <p:sp>
        <p:nvSpPr>
          <p:cNvPr id="8" name="TextBox 7"/>
          <p:cNvSpPr txBox="1"/>
          <p:nvPr/>
        </p:nvSpPr>
        <p:spPr>
          <a:xfrm>
            <a:off x="1463040" y="2093976"/>
            <a:ext cx="9601200" cy="274320"/>
          </a:xfrm>
          <a:prstGeom prst="rect">
            <a:avLst/>
          </a:prstGeom>
          <a:noFill/>
        </p:spPr>
        <p:txBody>
          <a:bodyPr wrap="square">
            <a:spAutoFit/>
          </a:bodyPr>
          <a:lstStyle/>
          <a:p>
            <a:pPr algn="l">
              <a:defRPr sz="1600" b="0">
                <a:solidFill>
                  <a:srgbClr val="A7A9BE"/>
                </a:solidFill>
                <a:latin typeface="Calibri"/>
              </a:defRPr>
            </a:pPr>
            <a:r>
              <a:t>○ Approved by teachers</a:t>
            </a:r>
          </a:p>
        </p:txBody>
      </p:sp>
      <p:sp>
        <p:nvSpPr>
          <p:cNvPr id="9" name="TextBox 8"/>
          <p:cNvSpPr txBox="1"/>
          <p:nvPr/>
        </p:nvSpPr>
        <p:spPr>
          <a:xfrm>
            <a:off x="1097280" y="2487168"/>
            <a:ext cx="9966960" cy="457200"/>
          </a:xfrm>
          <a:prstGeom prst="rect">
            <a:avLst/>
          </a:prstGeom>
          <a:noFill/>
        </p:spPr>
        <p:txBody>
          <a:bodyPr wrap="square">
            <a:spAutoFit/>
          </a:bodyPr>
          <a:lstStyle/>
          <a:p>
            <a:pPr algn="l">
              <a:defRPr sz="2600" b="1">
                <a:solidFill>
                  <a:srgbClr val="FFFFFF"/>
                </a:solidFill>
                <a:latin typeface="Calibri"/>
              </a:defRPr>
            </a:pPr>
            <a:r>
              <a:t>'Disappearing' messages on Snapchat:</a:t>
            </a:r>
          </a:p>
        </p:txBody>
      </p:sp>
      <p:sp>
        <p:nvSpPr>
          <p:cNvPr id="10" name="TextBox 9"/>
          <p:cNvSpPr txBox="1"/>
          <p:nvPr/>
        </p:nvSpPr>
        <p:spPr>
          <a:xfrm>
            <a:off x="1463040" y="2898648"/>
            <a:ext cx="9601200" cy="274320"/>
          </a:xfrm>
          <a:prstGeom prst="rect">
            <a:avLst/>
          </a:prstGeom>
          <a:noFill/>
        </p:spPr>
        <p:txBody>
          <a:bodyPr wrap="square">
            <a:spAutoFit/>
          </a:bodyPr>
          <a:lstStyle/>
          <a:p>
            <a:pPr algn="l">
              <a:defRPr sz="1600" b="0">
                <a:solidFill>
                  <a:srgbClr val="A7A9BE"/>
                </a:solidFill>
                <a:latin typeface="Calibri"/>
              </a:defRPr>
            </a:pPr>
            <a:r>
              <a:t>○ Are truly gone forever</a:t>
            </a:r>
          </a:p>
        </p:txBody>
      </p:sp>
      <p:sp>
        <p:nvSpPr>
          <p:cNvPr id="11" name="TextBox 10"/>
          <p:cNvSpPr txBox="1"/>
          <p:nvPr/>
        </p:nvSpPr>
        <p:spPr>
          <a:xfrm>
            <a:off x="1463040" y="3154680"/>
            <a:ext cx="9601200" cy="274320"/>
          </a:xfrm>
          <a:prstGeom prst="rect">
            <a:avLst/>
          </a:prstGeom>
          <a:noFill/>
        </p:spPr>
        <p:txBody>
          <a:bodyPr wrap="square">
            <a:spAutoFit/>
          </a:bodyPr>
          <a:lstStyle/>
          <a:p>
            <a:pPr algn="l">
              <a:defRPr sz="1600" b="0">
                <a:solidFill>
                  <a:srgbClr val="2CB67D"/>
                </a:solidFill>
                <a:latin typeface="Calibri"/>
              </a:defRPr>
            </a:pPr>
            <a:r>
              <a:t>✅ Can still be screenshotted and shared</a:t>
            </a:r>
          </a:p>
        </p:txBody>
      </p:sp>
      <p:sp>
        <p:nvSpPr>
          <p:cNvPr id="12" name="TextBox 11"/>
          <p:cNvSpPr txBox="1"/>
          <p:nvPr/>
        </p:nvSpPr>
        <p:spPr>
          <a:xfrm>
            <a:off x="1463040" y="3410712"/>
            <a:ext cx="9601200" cy="274320"/>
          </a:xfrm>
          <a:prstGeom prst="rect">
            <a:avLst/>
          </a:prstGeom>
          <a:noFill/>
        </p:spPr>
        <p:txBody>
          <a:bodyPr wrap="square">
            <a:spAutoFit/>
          </a:bodyPr>
          <a:lstStyle/>
          <a:p>
            <a:pPr algn="l">
              <a:defRPr sz="1600" b="0">
                <a:solidFill>
                  <a:srgbClr val="A7A9BE"/>
                </a:solidFill>
                <a:latin typeface="Calibri"/>
              </a:defRPr>
            </a:pPr>
            <a:r>
              <a:t>○ Are encrypted and safe</a:t>
            </a:r>
          </a:p>
        </p:txBody>
      </p:sp>
      <p:sp>
        <p:nvSpPr>
          <p:cNvPr id="13" name="TextBox 12"/>
          <p:cNvSpPr txBox="1"/>
          <p:nvPr/>
        </p:nvSpPr>
        <p:spPr>
          <a:xfrm>
            <a:off x="1463040" y="3666744"/>
            <a:ext cx="9601200" cy="274320"/>
          </a:xfrm>
          <a:prstGeom prst="rect">
            <a:avLst/>
          </a:prstGeom>
          <a:noFill/>
        </p:spPr>
        <p:txBody>
          <a:bodyPr wrap="square">
            <a:spAutoFit/>
          </a:bodyPr>
          <a:lstStyle/>
          <a:p>
            <a:pPr algn="l">
              <a:defRPr sz="1600" b="0">
                <a:solidFill>
                  <a:srgbClr val="A7A9BE"/>
                </a:solidFill>
                <a:latin typeface="Calibri"/>
              </a:defRPr>
            </a:pPr>
            <a:r>
              <a:t>○ Delete from all devices</a:t>
            </a:r>
          </a:p>
        </p:txBody>
      </p:sp>
      <p:sp>
        <p:nvSpPr>
          <p:cNvPr id="14" name="TextBox 13"/>
          <p:cNvSpPr txBox="1"/>
          <p:nvPr/>
        </p:nvSpPr>
        <p:spPr>
          <a:xfrm>
            <a:off x="1097280" y="4059936"/>
            <a:ext cx="9966960" cy="457200"/>
          </a:xfrm>
          <a:prstGeom prst="rect">
            <a:avLst/>
          </a:prstGeom>
          <a:noFill/>
        </p:spPr>
        <p:txBody>
          <a:bodyPr wrap="square">
            <a:spAutoFit/>
          </a:bodyPr>
          <a:lstStyle/>
          <a:p>
            <a:pPr algn="l">
              <a:defRPr sz="2600" b="1">
                <a:solidFill>
                  <a:srgbClr val="FFFFFF"/>
                </a:solidFill>
                <a:latin typeface="Calibri"/>
              </a:defRPr>
            </a:pPr>
            <a:r>
              <a:t>Why are apps like Character.ai dangerous?</a:t>
            </a:r>
          </a:p>
        </p:txBody>
      </p:sp>
      <p:sp>
        <p:nvSpPr>
          <p:cNvPr id="15" name="TextBox 14"/>
          <p:cNvSpPr txBox="1"/>
          <p:nvPr/>
        </p:nvSpPr>
        <p:spPr>
          <a:xfrm>
            <a:off x="1463040" y="4471416"/>
            <a:ext cx="9601200" cy="274320"/>
          </a:xfrm>
          <a:prstGeom prst="rect">
            <a:avLst/>
          </a:prstGeom>
          <a:noFill/>
        </p:spPr>
        <p:txBody>
          <a:bodyPr wrap="square">
            <a:spAutoFit/>
          </a:bodyPr>
          <a:lstStyle/>
          <a:p>
            <a:pPr algn="l">
              <a:defRPr sz="1600" b="0">
                <a:solidFill>
                  <a:srgbClr val="A7A9BE"/>
                </a:solidFill>
                <a:latin typeface="Calibri"/>
              </a:defRPr>
            </a:pPr>
            <a:r>
              <a:t>○ Cost too much</a:t>
            </a:r>
          </a:p>
        </p:txBody>
      </p:sp>
      <p:sp>
        <p:nvSpPr>
          <p:cNvPr id="16" name="TextBox 15"/>
          <p:cNvSpPr txBox="1"/>
          <p:nvPr/>
        </p:nvSpPr>
        <p:spPr>
          <a:xfrm>
            <a:off x="1463040" y="4727448"/>
            <a:ext cx="9601200" cy="274320"/>
          </a:xfrm>
          <a:prstGeom prst="rect">
            <a:avLst/>
          </a:prstGeom>
          <a:noFill/>
        </p:spPr>
        <p:txBody>
          <a:bodyPr wrap="square">
            <a:spAutoFit/>
          </a:bodyPr>
          <a:lstStyle/>
          <a:p>
            <a:pPr algn="l">
              <a:defRPr sz="1600" b="0">
                <a:solidFill>
                  <a:srgbClr val="2CB67D"/>
                </a:solidFill>
                <a:latin typeface="Calibri"/>
              </a:defRPr>
            </a:pPr>
            <a:r>
              <a:t>✅ Characters discuss inappropriate topics &amp; normalize unhealthy conversations</a:t>
            </a:r>
          </a:p>
        </p:txBody>
      </p:sp>
      <p:sp>
        <p:nvSpPr>
          <p:cNvPr id="17" name="TextBox 16"/>
          <p:cNvSpPr txBox="1"/>
          <p:nvPr/>
        </p:nvSpPr>
        <p:spPr>
          <a:xfrm>
            <a:off x="1463040" y="4983480"/>
            <a:ext cx="9601200" cy="274320"/>
          </a:xfrm>
          <a:prstGeom prst="rect">
            <a:avLst/>
          </a:prstGeom>
          <a:noFill/>
        </p:spPr>
        <p:txBody>
          <a:bodyPr wrap="square">
            <a:spAutoFit/>
          </a:bodyPr>
          <a:lstStyle/>
          <a:p>
            <a:pPr algn="l">
              <a:defRPr sz="1600" b="0">
                <a:solidFill>
                  <a:srgbClr val="A7A9BE"/>
                </a:solidFill>
                <a:latin typeface="Calibri"/>
              </a:defRPr>
            </a:pPr>
            <a:r>
              <a:t>○ Use too much battery</a:t>
            </a:r>
          </a:p>
        </p:txBody>
      </p:sp>
      <p:sp>
        <p:nvSpPr>
          <p:cNvPr id="18" name="TextBox 17"/>
          <p:cNvSpPr txBox="1"/>
          <p:nvPr/>
        </p:nvSpPr>
        <p:spPr>
          <a:xfrm>
            <a:off x="1463040" y="5239512"/>
            <a:ext cx="9601200" cy="274320"/>
          </a:xfrm>
          <a:prstGeom prst="rect">
            <a:avLst/>
          </a:prstGeom>
          <a:noFill/>
        </p:spPr>
        <p:txBody>
          <a:bodyPr wrap="square">
            <a:spAutoFit/>
          </a:bodyPr>
          <a:lstStyle/>
          <a:p>
            <a:pPr algn="l">
              <a:defRPr sz="1600" b="0">
                <a:solidFill>
                  <a:srgbClr val="A7A9BE"/>
                </a:solidFill>
                <a:latin typeface="Calibri"/>
              </a:defRPr>
            </a:pPr>
            <a:r>
              <a:t>○ They're boring</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87</a:t>
            </a:r>
          </a:p>
        </p:txBody>
      </p:sp>
      <p:sp>
        <p:nvSpPr>
          <p:cNvPr id="3" name="TextBox 2"/>
          <p:cNvSpPr txBox="1"/>
          <p:nvPr/>
        </p:nvSpPr>
        <p:spPr>
          <a:xfrm>
            <a:off x="731520" y="274320"/>
            <a:ext cx="10728655" cy="548640"/>
          </a:xfrm>
          <a:prstGeom prst="rect">
            <a:avLst/>
          </a:prstGeom>
          <a:noFill/>
        </p:spPr>
        <p:txBody>
          <a:bodyPr wrap="square">
            <a:spAutoFit/>
          </a:bodyPr>
          <a:lstStyle/>
          <a:p>
            <a:pPr algn="ctr">
              <a:defRPr sz="3400" b="1">
                <a:solidFill>
                  <a:srgbClr val="A855F7"/>
                </a:solidFill>
                <a:latin typeface="Calibri"/>
              </a:defRPr>
            </a:pPr>
            <a:r>
              <a:t>📝 Quiz — Part 4</a:t>
            </a:r>
          </a:p>
        </p:txBody>
      </p:sp>
      <p:sp>
        <p:nvSpPr>
          <p:cNvPr id="4" name="TextBox 3"/>
          <p:cNvSpPr txBox="1"/>
          <p:nvPr/>
        </p:nvSpPr>
        <p:spPr>
          <a:xfrm>
            <a:off x="1097280" y="914400"/>
            <a:ext cx="9966960" cy="457200"/>
          </a:xfrm>
          <a:prstGeom prst="rect">
            <a:avLst/>
          </a:prstGeom>
          <a:noFill/>
        </p:spPr>
        <p:txBody>
          <a:bodyPr wrap="square">
            <a:spAutoFit/>
          </a:bodyPr>
          <a:lstStyle/>
          <a:p>
            <a:pPr algn="l">
              <a:defRPr sz="2600" b="1">
                <a:solidFill>
                  <a:srgbClr val="FFFFFF"/>
                </a:solidFill>
                <a:latin typeface="Calibri"/>
              </a:defRPr>
            </a:pPr>
            <a:r>
              <a:t>You accidentally see explicit content online. What do you do?</a:t>
            </a:r>
          </a:p>
        </p:txBody>
      </p:sp>
      <p:sp>
        <p:nvSpPr>
          <p:cNvPr id="5" name="TextBox 4"/>
          <p:cNvSpPr txBox="1"/>
          <p:nvPr/>
        </p:nvSpPr>
        <p:spPr>
          <a:xfrm>
            <a:off x="1463040" y="1325880"/>
            <a:ext cx="9601200" cy="274320"/>
          </a:xfrm>
          <a:prstGeom prst="rect">
            <a:avLst/>
          </a:prstGeom>
          <a:noFill/>
        </p:spPr>
        <p:txBody>
          <a:bodyPr wrap="square">
            <a:spAutoFit/>
          </a:bodyPr>
          <a:lstStyle/>
          <a:p>
            <a:pPr algn="l">
              <a:defRPr sz="1600" b="0">
                <a:solidFill>
                  <a:srgbClr val="A7A9BE"/>
                </a:solidFill>
                <a:latin typeface="Calibri"/>
              </a:defRPr>
            </a:pPr>
            <a:r>
              <a:t>○ Keep looking</a:t>
            </a:r>
          </a:p>
        </p:txBody>
      </p:sp>
      <p:sp>
        <p:nvSpPr>
          <p:cNvPr id="6" name="TextBox 5"/>
          <p:cNvSpPr txBox="1"/>
          <p:nvPr/>
        </p:nvSpPr>
        <p:spPr>
          <a:xfrm>
            <a:off x="1463040" y="1581912"/>
            <a:ext cx="9601200" cy="274320"/>
          </a:xfrm>
          <a:prstGeom prst="rect">
            <a:avLst/>
          </a:prstGeom>
          <a:noFill/>
        </p:spPr>
        <p:txBody>
          <a:bodyPr wrap="square">
            <a:spAutoFit/>
          </a:bodyPr>
          <a:lstStyle/>
          <a:p>
            <a:pPr algn="l">
              <a:defRPr sz="1600" b="0">
                <a:solidFill>
                  <a:srgbClr val="A7A9BE"/>
                </a:solidFill>
                <a:latin typeface="Calibri"/>
              </a:defRPr>
            </a:pPr>
            <a:r>
              <a:t>○ Share with friends</a:t>
            </a:r>
          </a:p>
        </p:txBody>
      </p:sp>
      <p:sp>
        <p:nvSpPr>
          <p:cNvPr id="7" name="TextBox 6"/>
          <p:cNvSpPr txBox="1"/>
          <p:nvPr/>
        </p:nvSpPr>
        <p:spPr>
          <a:xfrm>
            <a:off x="1463040" y="1837944"/>
            <a:ext cx="9601200" cy="274320"/>
          </a:xfrm>
          <a:prstGeom prst="rect">
            <a:avLst/>
          </a:prstGeom>
          <a:noFill/>
        </p:spPr>
        <p:txBody>
          <a:bodyPr wrap="square">
            <a:spAutoFit/>
          </a:bodyPr>
          <a:lstStyle/>
          <a:p>
            <a:pPr algn="l">
              <a:defRPr sz="1600" b="0">
                <a:solidFill>
                  <a:srgbClr val="2CB67D"/>
                </a:solidFill>
                <a:latin typeface="Calibri"/>
              </a:defRPr>
            </a:pPr>
            <a:r>
              <a:t>✅ Close it immediately and tell a parent — no shame</a:t>
            </a:r>
          </a:p>
        </p:txBody>
      </p:sp>
      <p:sp>
        <p:nvSpPr>
          <p:cNvPr id="8" name="TextBox 7"/>
          <p:cNvSpPr txBox="1"/>
          <p:nvPr/>
        </p:nvSpPr>
        <p:spPr>
          <a:xfrm>
            <a:off x="1463040" y="2093976"/>
            <a:ext cx="9601200" cy="274320"/>
          </a:xfrm>
          <a:prstGeom prst="rect">
            <a:avLst/>
          </a:prstGeom>
          <a:noFill/>
        </p:spPr>
        <p:txBody>
          <a:bodyPr wrap="square">
            <a:spAutoFit/>
          </a:bodyPr>
          <a:lstStyle/>
          <a:p>
            <a:pPr algn="l">
              <a:defRPr sz="1600" b="0">
                <a:solidFill>
                  <a:srgbClr val="A7A9BE"/>
                </a:solidFill>
                <a:latin typeface="Calibri"/>
              </a:defRPr>
            </a:pPr>
            <a:r>
              <a:t>○ Pretend it didn't happen</a:t>
            </a:r>
          </a:p>
        </p:txBody>
      </p:sp>
      <p:sp>
        <p:nvSpPr>
          <p:cNvPr id="9" name="TextBox 8"/>
          <p:cNvSpPr txBox="1"/>
          <p:nvPr/>
        </p:nvSpPr>
        <p:spPr>
          <a:xfrm>
            <a:off x="1097280" y="2487168"/>
            <a:ext cx="9966960" cy="457200"/>
          </a:xfrm>
          <a:prstGeom prst="rect">
            <a:avLst/>
          </a:prstGeom>
          <a:noFill/>
        </p:spPr>
        <p:txBody>
          <a:bodyPr wrap="square">
            <a:spAutoFit/>
          </a:bodyPr>
          <a:lstStyle/>
          <a:p>
            <a:pPr algn="l">
              <a:defRPr sz="2600" b="1">
                <a:solidFill>
                  <a:srgbClr val="FFFFFF"/>
                </a:solidFill>
                <a:latin typeface="Calibri"/>
              </a:defRPr>
            </a:pPr>
            <a:r>
              <a:t>Using ChatGPT for school — what should you NOT do?</a:t>
            </a:r>
          </a:p>
        </p:txBody>
      </p:sp>
      <p:sp>
        <p:nvSpPr>
          <p:cNvPr id="10" name="TextBox 9"/>
          <p:cNvSpPr txBox="1"/>
          <p:nvPr/>
        </p:nvSpPr>
        <p:spPr>
          <a:xfrm>
            <a:off x="1463040" y="2898648"/>
            <a:ext cx="9601200" cy="274320"/>
          </a:xfrm>
          <a:prstGeom prst="rect">
            <a:avLst/>
          </a:prstGeom>
          <a:noFill/>
        </p:spPr>
        <p:txBody>
          <a:bodyPr wrap="square">
            <a:spAutoFit/>
          </a:bodyPr>
          <a:lstStyle/>
          <a:p>
            <a:pPr algn="l">
              <a:defRPr sz="1600" b="0">
                <a:solidFill>
                  <a:srgbClr val="A7A9BE"/>
                </a:solidFill>
                <a:latin typeface="Calibri"/>
              </a:defRPr>
            </a:pPr>
            <a:r>
              <a:t>○ Brainstorm ideas</a:t>
            </a:r>
          </a:p>
        </p:txBody>
      </p:sp>
      <p:sp>
        <p:nvSpPr>
          <p:cNvPr id="11" name="TextBox 10"/>
          <p:cNvSpPr txBox="1"/>
          <p:nvPr/>
        </p:nvSpPr>
        <p:spPr>
          <a:xfrm>
            <a:off x="1463040" y="3154680"/>
            <a:ext cx="9601200" cy="274320"/>
          </a:xfrm>
          <a:prstGeom prst="rect">
            <a:avLst/>
          </a:prstGeom>
          <a:noFill/>
        </p:spPr>
        <p:txBody>
          <a:bodyPr wrap="square">
            <a:spAutoFit/>
          </a:bodyPr>
          <a:lstStyle/>
          <a:p>
            <a:pPr algn="l">
              <a:defRPr sz="1600" b="0">
                <a:solidFill>
                  <a:srgbClr val="A7A9BE"/>
                </a:solidFill>
                <a:latin typeface="Calibri"/>
              </a:defRPr>
            </a:pPr>
            <a:r>
              <a:t>○ Ask it to explain a concept</a:t>
            </a:r>
          </a:p>
        </p:txBody>
      </p:sp>
      <p:sp>
        <p:nvSpPr>
          <p:cNvPr id="12" name="TextBox 11"/>
          <p:cNvSpPr txBox="1"/>
          <p:nvPr/>
        </p:nvSpPr>
        <p:spPr>
          <a:xfrm>
            <a:off x="1463040" y="3410712"/>
            <a:ext cx="9601200" cy="274320"/>
          </a:xfrm>
          <a:prstGeom prst="rect">
            <a:avLst/>
          </a:prstGeom>
          <a:noFill/>
        </p:spPr>
        <p:txBody>
          <a:bodyPr wrap="square">
            <a:spAutoFit/>
          </a:bodyPr>
          <a:lstStyle/>
          <a:p>
            <a:pPr algn="l">
              <a:defRPr sz="1600" b="0">
                <a:solidFill>
                  <a:srgbClr val="2CB67D"/>
                </a:solidFill>
                <a:latin typeface="Calibri"/>
              </a:defRPr>
            </a:pPr>
            <a:r>
              <a:t>✅ Copy its entire output as your own work</a:t>
            </a:r>
          </a:p>
        </p:txBody>
      </p:sp>
      <p:sp>
        <p:nvSpPr>
          <p:cNvPr id="13" name="TextBox 12"/>
          <p:cNvSpPr txBox="1"/>
          <p:nvPr/>
        </p:nvSpPr>
        <p:spPr>
          <a:xfrm>
            <a:off x="1463040" y="3666744"/>
            <a:ext cx="9601200" cy="274320"/>
          </a:xfrm>
          <a:prstGeom prst="rect">
            <a:avLst/>
          </a:prstGeom>
          <a:noFill/>
        </p:spPr>
        <p:txBody>
          <a:bodyPr wrap="square">
            <a:spAutoFit/>
          </a:bodyPr>
          <a:lstStyle/>
          <a:p>
            <a:pPr algn="l">
              <a:defRPr sz="1600" b="0">
                <a:solidFill>
                  <a:srgbClr val="A7A9BE"/>
                </a:solidFill>
                <a:latin typeface="Calibri"/>
              </a:defRPr>
            </a:pPr>
            <a:r>
              <a:t>○ Check your grammar</a:t>
            </a:r>
          </a:p>
        </p:txBody>
      </p:sp>
      <p:sp>
        <p:nvSpPr>
          <p:cNvPr id="14" name="TextBox 13"/>
          <p:cNvSpPr txBox="1"/>
          <p:nvPr/>
        </p:nvSpPr>
        <p:spPr>
          <a:xfrm>
            <a:off x="1097280" y="4059936"/>
            <a:ext cx="9966960" cy="457200"/>
          </a:xfrm>
          <a:prstGeom prst="rect">
            <a:avLst/>
          </a:prstGeom>
          <a:noFill/>
        </p:spPr>
        <p:txBody>
          <a:bodyPr wrap="square">
            <a:spAutoFit/>
          </a:bodyPr>
          <a:lstStyle/>
          <a:p>
            <a:pPr algn="l">
              <a:defRPr sz="2600" b="1">
                <a:solidFill>
                  <a:srgbClr val="FFFFFF"/>
                </a:solidFill>
                <a:latin typeface="Calibri"/>
              </a:defRPr>
            </a:pPr>
            <a:r>
              <a:t>The #1 rule if anything online makes you uncomfortable:</a:t>
            </a:r>
          </a:p>
        </p:txBody>
      </p:sp>
      <p:sp>
        <p:nvSpPr>
          <p:cNvPr id="15" name="TextBox 14"/>
          <p:cNvSpPr txBox="1"/>
          <p:nvPr/>
        </p:nvSpPr>
        <p:spPr>
          <a:xfrm>
            <a:off x="1463040" y="4471416"/>
            <a:ext cx="9601200" cy="274320"/>
          </a:xfrm>
          <a:prstGeom prst="rect">
            <a:avLst/>
          </a:prstGeom>
          <a:noFill/>
        </p:spPr>
        <p:txBody>
          <a:bodyPr wrap="square">
            <a:spAutoFit/>
          </a:bodyPr>
          <a:lstStyle/>
          <a:p>
            <a:pPr algn="l">
              <a:defRPr sz="1600" b="0">
                <a:solidFill>
                  <a:srgbClr val="A7A9BE"/>
                </a:solidFill>
                <a:latin typeface="Calibri"/>
              </a:defRPr>
            </a:pPr>
            <a:r>
              <a:t>○ Handle it yourself</a:t>
            </a:r>
          </a:p>
        </p:txBody>
      </p:sp>
      <p:sp>
        <p:nvSpPr>
          <p:cNvPr id="16" name="TextBox 15"/>
          <p:cNvSpPr txBox="1"/>
          <p:nvPr/>
        </p:nvSpPr>
        <p:spPr>
          <a:xfrm>
            <a:off x="1463040" y="4727448"/>
            <a:ext cx="9601200" cy="274320"/>
          </a:xfrm>
          <a:prstGeom prst="rect">
            <a:avLst/>
          </a:prstGeom>
          <a:noFill/>
        </p:spPr>
        <p:txBody>
          <a:bodyPr wrap="square">
            <a:spAutoFit/>
          </a:bodyPr>
          <a:lstStyle/>
          <a:p>
            <a:pPr algn="l">
              <a:defRPr sz="1600" b="0">
                <a:solidFill>
                  <a:srgbClr val="2CB67D"/>
                </a:solidFill>
                <a:latin typeface="Calibri"/>
              </a:defRPr>
            </a:pPr>
            <a:r>
              <a:t>✅ Tell a parent — you will NOT be in trouble</a:t>
            </a:r>
          </a:p>
        </p:txBody>
      </p:sp>
      <p:sp>
        <p:nvSpPr>
          <p:cNvPr id="17" name="TextBox 16"/>
          <p:cNvSpPr txBox="1"/>
          <p:nvPr/>
        </p:nvSpPr>
        <p:spPr>
          <a:xfrm>
            <a:off x="1463040" y="4983480"/>
            <a:ext cx="9601200" cy="274320"/>
          </a:xfrm>
          <a:prstGeom prst="rect">
            <a:avLst/>
          </a:prstGeom>
          <a:noFill/>
        </p:spPr>
        <p:txBody>
          <a:bodyPr wrap="square">
            <a:spAutoFit/>
          </a:bodyPr>
          <a:lstStyle/>
          <a:p>
            <a:pPr algn="l">
              <a:defRPr sz="1600" b="0">
                <a:solidFill>
                  <a:srgbClr val="A7A9BE"/>
                </a:solidFill>
                <a:latin typeface="Calibri"/>
              </a:defRPr>
            </a:pPr>
            <a:r>
              <a:t>○ Tell your best friend</a:t>
            </a:r>
          </a:p>
        </p:txBody>
      </p:sp>
      <p:sp>
        <p:nvSpPr>
          <p:cNvPr id="18" name="TextBox 17"/>
          <p:cNvSpPr txBox="1"/>
          <p:nvPr/>
        </p:nvSpPr>
        <p:spPr>
          <a:xfrm>
            <a:off x="1463040" y="5239512"/>
            <a:ext cx="9601200" cy="274320"/>
          </a:xfrm>
          <a:prstGeom prst="rect">
            <a:avLst/>
          </a:prstGeom>
          <a:noFill/>
        </p:spPr>
        <p:txBody>
          <a:bodyPr wrap="square">
            <a:spAutoFit/>
          </a:bodyPr>
          <a:lstStyle/>
          <a:p>
            <a:pPr algn="l">
              <a:defRPr sz="1600" b="0">
                <a:solidFill>
                  <a:srgbClr val="A7A9BE"/>
                </a:solidFill>
                <a:latin typeface="Calibri"/>
              </a:defRPr>
            </a:pPr>
            <a:r>
              <a:t>○ Post about it</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88</a:t>
            </a:r>
          </a:p>
        </p:txBody>
      </p:sp>
      <p:sp>
        <p:nvSpPr>
          <p:cNvPr id="3" name="TextBox 2"/>
          <p:cNvSpPr txBox="1"/>
          <p:nvPr/>
        </p:nvSpPr>
        <p:spPr>
          <a:xfrm>
            <a:off x="731520" y="182880"/>
            <a:ext cx="10728655" cy="548640"/>
          </a:xfrm>
          <a:prstGeom prst="rect">
            <a:avLst/>
          </a:prstGeom>
          <a:noFill/>
        </p:spPr>
        <p:txBody>
          <a:bodyPr wrap="square">
            <a:spAutoFit/>
          </a:bodyPr>
          <a:lstStyle/>
          <a:p>
            <a:pPr algn="ctr">
              <a:defRPr sz="3400" b="1">
                <a:solidFill>
                  <a:srgbClr val="A855F7"/>
                </a:solidFill>
                <a:latin typeface="Calibri"/>
              </a:defRPr>
            </a:pPr>
            <a:r>
              <a:t>📋 Our Family Phone Agreement</a:t>
            </a:r>
          </a:p>
        </p:txBody>
      </p:sp>
      <p:sp>
        <p:nvSpPr>
          <p:cNvPr id="4" name="TextBox 3"/>
          <p:cNvSpPr txBox="1"/>
          <p:nvPr/>
        </p:nvSpPr>
        <p:spPr>
          <a:xfrm>
            <a:off x="914400" y="731520"/>
            <a:ext cx="10362895" cy="365760"/>
          </a:xfrm>
          <a:prstGeom prst="rect">
            <a:avLst/>
          </a:prstGeom>
          <a:noFill/>
        </p:spPr>
        <p:txBody>
          <a:bodyPr wrap="square">
            <a:spAutoFit/>
          </a:bodyPr>
          <a:lstStyle/>
          <a:p>
            <a:pPr algn="ctr">
              <a:defRPr sz="1800" b="0">
                <a:solidFill>
                  <a:srgbClr val="A7A9BE"/>
                </a:solidFill>
                <a:latin typeface="Calibri"/>
              </a:defRPr>
            </a:pPr>
            <a:r>
              <a:t>Elli, let's discuss each item together:</a:t>
            </a:r>
          </a:p>
        </p:txBody>
      </p:sp>
      <p:sp>
        <p:nvSpPr>
          <p:cNvPr id="5" name="TextBox 4"/>
          <p:cNvSpPr txBox="1"/>
          <p:nvPr/>
        </p:nvSpPr>
        <p:spPr>
          <a:xfrm>
            <a:off x="1097280" y="1188720"/>
            <a:ext cx="9966960" cy="5029200"/>
          </a:xfrm>
          <a:prstGeom prst="rect">
            <a:avLst/>
          </a:prstGeom>
          <a:noFill/>
        </p:spPr>
        <p:txBody>
          <a:bodyPr wrap="square">
            <a:spAutoFit/>
          </a:bodyPr>
          <a:lstStyle/>
          <a:p>
            <a:pPr>
              <a:spcBef>
                <a:spcPts val="200"/>
              </a:spcBef>
              <a:spcAft>
                <a:spcPts val="600"/>
              </a:spcAft>
              <a:defRPr sz="1500">
                <a:solidFill>
                  <a:srgbClr val="FFFFFF"/>
                </a:solidFill>
                <a:latin typeface="Calibri"/>
              </a:defRPr>
            </a:pPr>
            <a:r>
              <a:t>☐  I will keep my phone out of my bedroom at night and charge it in ___________</a:t>
            </a:r>
          </a:p>
          <a:p>
            <a:pPr>
              <a:spcBef>
                <a:spcPts val="200"/>
              </a:spcBef>
              <a:spcAft>
                <a:spcPts val="600"/>
              </a:spcAft>
              <a:defRPr sz="1500">
                <a:solidFill>
                  <a:srgbClr val="FFFFFF"/>
                </a:solidFill>
                <a:latin typeface="Calibri"/>
              </a:defRPr>
            </a:pPr>
            <a:r>
              <a:t>☐  My social media accounts will always be set to private</a:t>
            </a:r>
          </a:p>
          <a:p>
            <a:pPr>
              <a:spcBef>
                <a:spcPts val="200"/>
              </a:spcBef>
              <a:spcAft>
                <a:spcPts val="600"/>
              </a:spcAft>
              <a:defRPr sz="1500">
                <a:solidFill>
                  <a:srgbClr val="FFFFFF"/>
                </a:solidFill>
                <a:latin typeface="Calibri"/>
              </a:defRPr>
            </a:pPr>
            <a:r>
              <a:t>☐  I will never share personal information with strangers online</a:t>
            </a:r>
          </a:p>
          <a:p>
            <a:pPr>
              <a:spcBef>
                <a:spcPts val="200"/>
              </a:spcBef>
              <a:spcAft>
                <a:spcPts val="600"/>
              </a:spcAft>
              <a:defRPr sz="1500">
                <a:solidFill>
                  <a:srgbClr val="FFFFFF"/>
                </a:solidFill>
                <a:latin typeface="Calibri"/>
              </a:defRPr>
            </a:pPr>
            <a:r>
              <a:t>☐  If anything makes me uncomfortable, I will tell Mom or Dad immediately — including explicit content</a:t>
            </a:r>
          </a:p>
          <a:p>
            <a:pPr>
              <a:spcBef>
                <a:spcPts val="200"/>
              </a:spcBef>
              <a:spcAft>
                <a:spcPts val="600"/>
              </a:spcAft>
              <a:defRPr sz="1500">
                <a:solidFill>
                  <a:srgbClr val="FFFFFF"/>
                </a:solidFill>
                <a:latin typeface="Calibri"/>
              </a:defRPr>
            </a:pPr>
            <a:r>
              <a:t>☐  I understand my parents may check my phone — this is about safety, not distrust</a:t>
            </a:r>
          </a:p>
          <a:p>
            <a:pPr>
              <a:spcBef>
                <a:spcPts val="200"/>
              </a:spcBef>
              <a:spcAft>
                <a:spcPts val="600"/>
              </a:spcAft>
              <a:defRPr sz="1500">
                <a:solidFill>
                  <a:srgbClr val="FFFFFF"/>
                </a:solidFill>
                <a:latin typeface="Calibri"/>
              </a:defRPr>
            </a:pPr>
            <a:r>
              <a:t>☐  I will follow our phone-free zones: meals, homework time, and ___________</a:t>
            </a:r>
          </a:p>
          <a:p>
            <a:pPr>
              <a:spcBef>
                <a:spcPts val="200"/>
              </a:spcBef>
              <a:spcAft>
                <a:spcPts val="600"/>
              </a:spcAft>
              <a:defRPr sz="1500">
                <a:solidFill>
                  <a:srgbClr val="FFFFFF"/>
                </a:solidFill>
                <a:latin typeface="Calibri"/>
              </a:defRPr>
            </a:pPr>
            <a:r>
              <a:t>☐  I will not download apps without permission (especially AI chatbot apps)</a:t>
            </a:r>
          </a:p>
          <a:p>
            <a:pPr>
              <a:spcBef>
                <a:spcPts val="200"/>
              </a:spcBef>
              <a:spcAft>
                <a:spcPts val="600"/>
              </a:spcAft>
              <a:defRPr sz="1500">
                <a:solidFill>
                  <a:srgbClr val="FFFFFF"/>
                </a:solidFill>
                <a:latin typeface="Calibri"/>
              </a:defRPr>
            </a:pPr>
            <a:r>
              <a:t>☐  I will use strong, unique passwords and never share them with friends</a:t>
            </a:r>
          </a:p>
          <a:p>
            <a:pPr>
              <a:spcBef>
                <a:spcPts val="200"/>
              </a:spcBef>
              <a:spcAft>
                <a:spcPts val="600"/>
              </a:spcAft>
              <a:defRPr sz="1500">
                <a:solidFill>
                  <a:srgbClr val="FFFFFF"/>
                </a:solidFill>
                <a:latin typeface="Calibri"/>
              </a:defRPr>
            </a:pPr>
            <a:r>
              <a:t>☐  I will not share personal details in CapCut videos or any public content</a:t>
            </a:r>
          </a:p>
          <a:p>
            <a:pPr>
              <a:spcBef>
                <a:spcPts val="200"/>
              </a:spcBef>
              <a:spcAft>
                <a:spcPts val="600"/>
              </a:spcAft>
              <a:defRPr sz="1500">
                <a:solidFill>
                  <a:srgbClr val="FFFFFF"/>
                </a:solidFill>
                <a:latin typeface="Calibri"/>
              </a:defRPr>
            </a:pPr>
            <a:r>
              <a:t>☐  Screen time limit: _____ hours per day on school days, _____ on weekends</a:t>
            </a:r>
          </a:p>
          <a:p>
            <a:pPr>
              <a:spcBef>
                <a:spcPts val="200"/>
              </a:spcBef>
              <a:spcAft>
                <a:spcPts val="600"/>
              </a:spcAft>
              <a:defRPr sz="1500">
                <a:solidFill>
                  <a:srgbClr val="FFFFFF"/>
                </a:solidFill>
                <a:latin typeface="Calibri"/>
              </a:defRPr>
            </a:pPr>
            <a:r>
              <a:t>☐  I understand this agreement can be revisited as I show responsibility</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11247120" y="6400800"/>
            <a:ext cx="731520" cy="365760"/>
          </a:xfrm>
          <a:prstGeom prst="rect">
            <a:avLst/>
          </a:prstGeom>
          <a:noFill/>
        </p:spPr>
        <p:txBody>
          <a:bodyPr wrap="none">
            <a:spAutoFit/>
          </a:bodyPr>
          <a:lstStyle/>
          <a:p>
            <a:pPr algn="r">
              <a:defRPr sz="1000">
                <a:solidFill>
                  <a:srgbClr val="A7A9BE"/>
                </a:solidFill>
                <a:latin typeface="Calibri"/>
              </a:defRPr>
            </a:pPr>
            <a:r>
              <a:t>89</a:t>
            </a:r>
          </a:p>
        </p:txBody>
      </p:sp>
      <p:sp>
        <p:nvSpPr>
          <p:cNvPr id="3" name="TextBox 2"/>
          <p:cNvSpPr txBox="1"/>
          <p:nvPr/>
        </p:nvSpPr>
        <p:spPr>
          <a:xfrm>
            <a:off x="914400" y="731520"/>
            <a:ext cx="10362895" cy="914400"/>
          </a:xfrm>
          <a:prstGeom prst="rect">
            <a:avLst/>
          </a:prstGeom>
          <a:noFill/>
        </p:spPr>
        <p:txBody>
          <a:bodyPr wrap="square">
            <a:spAutoFit/>
          </a:bodyPr>
          <a:lstStyle/>
          <a:p>
            <a:pPr algn="ctr">
              <a:defRPr sz="7200" b="0">
                <a:solidFill>
                  <a:srgbClr val="FFFFFF"/>
                </a:solidFill>
                <a:latin typeface="Calibri"/>
              </a:defRPr>
            </a:pPr>
            <a:r>
              <a:t>🎉</a:t>
            </a:r>
          </a:p>
        </p:txBody>
      </p:sp>
      <p:sp>
        <p:nvSpPr>
          <p:cNvPr id="4" name="TextBox 3"/>
          <p:cNvSpPr txBox="1"/>
          <p:nvPr/>
        </p:nvSpPr>
        <p:spPr>
          <a:xfrm>
            <a:off x="914400" y="1645920"/>
            <a:ext cx="10362895" cy="914400"/>
          </a:xfrm>
          <a:prstGeom prst="rect">
            <a:avLst/>
          </a:prstGeom>
          <a:noFill/>
        </p:spPr>
        <p:txBody>
          <a:bodyPr wrap="square">
            <a:spAutoFit/>
          </a:bodyPr>
          <a:lstStyle/>
          <a:p>
            <a:pPr algn="ctr">
              <a:defRPr sz="5200" b="1">
                <a:solidFill>
                  <a:srgbClr val="A855F7"/>
                </a:solidFill>
                <a:latin typeface="Calibri"/>
              </a:defRPr>
            </a:pPr>
            <a:r>
              <a:t>You Did It, Elli!</a:t>
            </a:r>
          </a:p>
        </p:txBody>
      </p:sp>
      <p:sp>
        <p:nvSpPr>
          <p:cNvPr id="5" name="TextBox 4"/>
          <p:cNvSpPr txBox="1"/>
          <p:nvPr/>
        </p:nvSpPr>
        <p:spPr>
          <a:xfrm>
            <a:off x="1828800" y="2743200"/>
            <a:ext cx="8534095" cy="914400"/>
          </a:xfrm>
          <a:prstGeom prst="rect">
            <a:avLst/>
          </a:prstGeom>
          <a:noFill/>
        </p:spPr>
        <p:txBody>
          <a:bodyPr wrap="square">
            <a:spAutoFit/>
          </a:bodyPr>
          <a:lstStyle/>
          <a:p>
            <a:pPr algn="ctr">
              <a:defRPr sz="3000" b="0">
                <a:solidFill>
                  <a:srgbClr val="FFFFFF"/>
                </a:solidFill>
                <a:latin typeface="Calibri"/>
              </a:defRPr>
            </a:pPr>
            <a:r>
              <a:t>You're officially ready for your phone.</a:t>
            </a:r>
          </a:p>
        </p:txBody>
      </p:sp>
      <p:sp>
        <p:nvSpPr>
          <p:cNvPr id="6" name="TextBox 5"/>
          <p:cNvSpPr txBox="1"/>
          <p:nvPr/>
        </p:nvSpPr>
        <p:spPr>
          <a:xfrm>
            <a:off x="1828800" y="3474720"/>
            <a:ext cx="8534095" cy="1371600"/>
          </a:xfrm>
          <a:prstGeom prst="rect">
            <a:avLst/>
          </a:prstGeom>
          <a:noFill/>
        </p:spPr>
        <p:txBody>
          <a:bodyPr wrap="square">
            <a:spAutoFit/>
          </a:bodyPr>
          <a:lstStyle/>
          <a:p>
            <a:pPr algn="ctr">
              <a:defRPr sz="2800" b="0">
                <a:solidFill>
                  <a:srgbClr val="A7A9BE"/>
                </a:solidFill>
                <a:latin typeface="Calibri"/>
              </a:defRPr>
            </a:pPr>
            <a:r>
              <a:t>Remember: your parents are always on your team. Having a phone is a privilege that grows with trust. You've got this! 💪📱</a:t>
            </a:r>
            <a:br/>
            <a:br/>
            <a:r>
              <a:t>We're so proud of the smart, responsible person you're becoming.</a:t>
            </a:r>
          </a:p>
        </p:txBody>
      </p:sp>
      <p:sp>
        <p:nvSpPr>
          <p:cNvPr id="7" name="TextBox 6"/>
          <p:cNvSpPr txBox="1"/>
          <p:nvPr/>
        </p:nvSpPr>
        <p:spPr>
          <a:xfrm>
            <a:off x="1828800" y="5029200"/>
            <a:ext cx="8534095" cy="914400"/>
          </a:xfrm>
          <a:prstGeom prst="rect">
            <a:avLst/>
          </a:prstGeom>
          <a:noFill/>
        </p:spPr>
        <p:txBody>
          <a:bodyPr wrap="square">
            <a:spAutoFit/>
          </a:bodyPr>
          <a:lstStyle/>
          <a:p>
            <a:pPr algn="ctr">
              <a:defRPr sz="2800" b="1">
                <a:solidFill>
                  <a:srgbClr val="FFFFFF"/>
                </a:solidFill>
                <a:latin typeface="Calibri"/>
              </a:defRPr>
            </a:pPr>
            <a:r>
              <a:t>With all our love,</a:t>
            </a:r>
            <a:br/>
            <a:r>
              <a:t>Mom &amp; Dad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